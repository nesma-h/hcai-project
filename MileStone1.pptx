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Heading Now 71-78" charset="1" panose="00000000000000000000"/>
      <p:regular r:id="rId13"/>
    </p:embeddedFont>
    <p:embeddedFont>
      <p:font typeface="TT Firs Neue" charset="1" panose="02000503030000020004"/>
      <p:regular r:id="rId14"/>
    </p:embeddedFont>
    <p:embeddedFont>
      <p:font typeface="TT Firs Neue Bold" charset="1" panose="02000803030000020004"/>
      <p:regular r:id="rId15"/>
    </p:embeddedFont>
    <p:embeddedFont>
      <p:font typeface="Catamaran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4.png" Type="http://schemas.openxmlformats.org/officeDocument/2006/relationships/image"/><Relationship Id="rId14" Target="../media/image5.svg" Type="http://schemas.openxmlformats.org/officeDocument/2006/relationships/image"/><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9.png" Type="http://schemas.openxmlformats.org/officeDocument/2006/relationships/image"/><Relationship Id="rId12" Target="../media/image20.svg" Type="http://schemas.openxmlformats.org/officeDocument/2006/relationships/image"/><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15" Target="../media/image8.png" Type="http://schemas.openxmlformats.org/officeDocument/2006/relationships/image"/><Relationship Id="rId16" Target="../media/image9.svg" Type="http://schemas.openxmlformats.org/officeDocument/2006/relationships/image"/><Relationship Id="rId17" Target="../media/image12.png" Type="http://schemas.openxmlformats.org/officeDocument/2006/relationships/image"/><Relationship Id="rId18" Target="../media/image13.svg" Type="http://schemas.openxmlformats.org/officeDocument/2006/relationships/image"/><Relationship Id="rId19" Target="../media/image29.png" Type="http://schemas.openxmlformats.org/officeDocument/2006/relationships/image"/><Relationship Id="rId2" Target="../media/image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5700332" y="870270"/>
            <a:ext cx="10360299" cy="11200324"/>
          </a:xfrm>
          <a:custGeom>
            <a:avLst/>
            <a:gdLst/>
            <a:ahLst/>
            <a:cxnLst/>
            <a:rect r="r" b="b" t="t" l="l"/>
            <a:pathLst>
              <a:path h="11200324" w="10360299">
                <a:moveTo>
                  <a:pt x="0" y="0"/>
                </a:moveTo>
                <a:lnTo>
                  <a:pt x="10360299" y="0"/>
                </a:lnTo>
                <a:lnTo>
                  <a:pt x="10360299" y="11200323"/>
                </a:lnTo>
                <a:lnTo>
                  <a:pt x="0" y="11200323"/>
                </a:lnTo>
                <a:lnTo>
                  <a:pt x="0" y="0"/>
                </a:lnTo>
                <a:close/>
              </a:path>
            </a:pathLst>
          </a:custGeom>
          <a:blipFill>
            <a:blip r:embed="rId3">
              <a:alphaModFix amt="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547804" y="483155"/>
            <a:ext cx="4004533" cy="513300"/>
            <a:chOff x="0" y="0"/>
            <a:chExt cx="1054692" cy="135190"/>
          </a:xfrm>
        </p:grpSpPr>
        <p:sp>
          <p:nvSpPr>
            <p:cNvPr name="Freeform 5" id="5"/>
            <p:cNvSpPr/>
            <p:nvPr/>
          </p:nvSpPr>
          <p:spPr>
            <a:xfrm flipH="false" flipV="false" rot="0">
              <a:off x="0" y="0"/>
              <a:ext cx="1054692" cy="135190"/>
            </a:xfrm>
            <a:custGeom>
              <a:avLst/>
              <a:gdLst/>
              <a:ahLst/>
              <a:cxnLst/>
              <a:rect r="r" b="b" t="t" l="l"/>
              <a:pathLst>
                <a:path h="135190" w="1054692">
                  <a:moveTo>
                    <a:pt x="67595" y="0"/>
                  </a:moveTo>
                  <a:lnTo>
                    <a:pt x="987097" y="0"/>
                  </a:lnTo>
                  <a:cubicBezTo>
                    <a:pt x="1024428" y="0"/>
                    <a:pt x="1054692" y="30263"/>
                    <a:pt x="1054692" y="67595"/>
                  </a:cubicBezTo>
                  <a:lnTo>
                    <a:pt x="1054692" y="67595"/>
                  </a:lnTo>
                  <a:cubicBezTo>
                    <a:pt x="1054692" y="104927"/>
                    <a:pt x="1024428" y="135190"/>
                    <a:pt x="987097" y="135190"/>
                  </a:cubicBezTo>
                  <a:lnTo>
                    <a:pt x="67595" y="135190"/>
                  </a:lnTo>
                  <a:cubicBezTo>
                    <a:pt x="30263" y="135190"/>
                    <a:pt x="0" y="104927"/>
                    <a:pt x="0" y="67595"/>
                  </a:cubicBezTo>
                  <a:lnTo>
                    <a:pt x="0" y="67595"/>
                  </a:lnTo>
                  <a:cubicBezTo>
                    <a:pt x="0" y="30263"/>
                    <a:pt x="30263" y="0"/>
                    <a:pt x="67595" y="0"/>
                  </a:cubicBezTo>
                  <a:close/>
                </a:path>
              </a:pathLst>
            </a:custGeom>
            <a:solidFill>
              <a:srgbClr val="0007AB"/>
            </a:solidFill>
          </p:spPr>
        </p:sp>
        <p:sp>
          <p:nvSpPr>
            <p:cNvPr name="TextBox 6" id="6"/>
            <p:cNvSpPr txBox="true"/>
            <p:nvPr/>
          </p:nvSpPr>
          <p:spPr>
            <a:xfrm>
              <a:off x="0" y="-47625"/>
              <a:ext cx="1054692" cy="182815"/>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8991974" y="2731487"/>
            <a:ext cx="1173130" cy="1173130"/>
          </a:xfrm>
          <a:custGeom>
            <a:avLst/>
            <a:gdLst/>
            <a:ahLst/>
            <a:cxnLst/>
            <a:rect r="r" b="b" t="t" l="l"/>
            <a:pathLst>
              <a:path h="1173130" w="1173130">
                <a:moveTo>
                  <a:pt x="0" y="0"/>
                </a:moveTo>
                <a:lnTo>
                  <a:pt x="1173130" y="0"/>
                </a:lnTo>
                <a:lnTo>
                  <a:pt x="1173130" y="1173130"/>
                </a:lnTo>
                <a:lnTo>
                  <a:pt x="0" y="11731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547804" y="3866517"/>
            <a:ext cx="7803697" cy="1925320"/>
          </a:xfrm>
          <a:prstGeom prst="rect">
            <a:avLst/>
          </a:prstGeom>
        </p:spPr>
        <p:txBody>
          <a:bodyPr anchor="t" rtlCol="false" tIns="0" lIns="0" bIns="0" rIns="0">
            <a:spAutoFit/>
          </a:bodyPr>
          <a:lstStyle/>
          <a:p>
            <a:pPr algn="l">
              <a:lnSpc>
                <a:spcPts val="6800"/>
              </a:lnSpc>
            </a:pPr>
            <a:r>
              <a:rPr lang="en-US" sz="6800" spc="-374">
                <a:solidFill>
                  <a:srgbClr val="0007AB"/>
                </a:solidFill>
                <a:latin typeface="Heading Now 71-78"/>
                <a:ea typeface="Heading Now 71-78"/>
                <a:cs typeface="Heading Now 71-78"/>
                <a:sym typeface="Heading Now 71-78"/>
              </a:rPr>
              <a:t>In</a:t>
            </a:r>
            <a:r>
              <a:rPr lang="en-US" sz="6800" spc="-374">
                <a:solidFill>
                  <a:srgbClr val="0007AB"/>
                </a:solidFill>
                <a:latin typeface="Heading Now 71-78"/>
                <a:ea typeface="Heading Now 71-78"/>
                <a:cs typeface="Heading Now 71-78"/>
                <a:sym typeface="Heading Now 71-78"/>
              </a:rPr>
              <a:t>clusive Reading Assistant</a:t>
            </a:r>
          </a:p>
        </p:txBody>
      </p:sp>
      <p:sp>
        <p:nvSpPr>
          <p:cNvPr name="Freeform 9" id="9"/>
          <p:cNvSpPr/>
          <p:nvPr/>
        </p:nvSpPr>
        <p:spPr>
          <a:xfrm flipH="false" flipV="false" rot="0">
            <a:off x="8218693" y="5329184"/>
            <a:ext cx="925307" cy="925307"/>
          </a:xfrm>
          <a:custGeom>
            <a:avLst/>
            <a:gdLst/>
            <a:ahLst/>
            <a:cxnLst/>
            <a:rect r="r" b="b" t="t" l="l"/>
            <a:pathLst>
              <a:path h="925307" w="925307">
                <a:moveTo>
                  <a:pt x="0" y="0"/>
                </a:moveTo>
                <a:lnTo>
                  <a:pt x="925307" y="0"/>
                </a:lnTo>
                <a:lnTo>
                  <a:pt x="925307" y="925307"/>
                </a:lnTo>
                <a:lnTo>
                  <a:pt x="0" y="9253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7377117" y="110678"/>
            <a:ext cx="784435" cy="956628"/>
          </a:xfrm>
          <a:custGeom>
            <a:avLst/>
            <a:gdLst/>
            <a:ahLst/>
            <a:cxnLst/>
            <a:rect r="r" b="b" t="t" l="l"/>
            <a:pathLst>
              <a:path h="956628" w="784435">
                <a:moveTo>
                  <a:pt x="0" y="0"/>
                </a:moveTo>
                <a:lnTo>
                  <a:pt x="784435" y="0"/>
                </a:lnTo>
                <a:lnTo>
                  <a:pt x="784435" y="956628"/>
                </a:lnTo>
                <a:lnTo>
                  <a:pt x="0" y="956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1827051">
            <a:off x="7170648" y="8106490"/>
            <a:ext cx="741433" cy="1186293"/>
          </a:xfrm>
          <a:custGeom>
            <a:avLst/>
            <a:gdLst/>
            <a:ahLst/>
            <a:cxnLst/>
            <a:rect r="r" b="b" t="t" l="l"/>
            <a:pathLst>
              <a:path h="1186293" w="741433">
                <a:moveTo>
                  <a:pt x="0" y="0"/>
                </a:moveTo>
                <a:lnTo>
                  <a:pt x="741433" y="0"/>
                </a:lnTo>
                <a:lnTo>
                  <a:pt x="741433" y="1186293"/>
                </a:lnTo>
                <a:lnTo>
                  <a:pt x="0" y="118629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5400000">
            <a:off x="-1050410" y="7457859"/>
            <a:ext cx="2330669" cy="1270214"/>
          </a:xfrm>
          <a:custGeom>
            <a:avLst/>
            <a:gdLst/>
            <a:ahLst/>
            <a:cxnLst/>
            <a:rect r="r" b="b" t="t" l="l"/>
            <a:pathLst>
              <a:path h="1270214" w="2330669">
                <a:moveTo>
                  <a:pt x="0" y="0"/>
                </a:moveTo>
                <a:lnTo>
                  <a:pt x="2330669" y="0"/>
                </a:lnTo>
                <a:lnTo>
                  <a:pt x="2330669" y="1270214"/>
                </a:lnTo>
                <a:lnTo>
                  <a:pt x="0" y="127021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510037" y="1940883"/>
            <a:ext cx="1538737" cy="1377169"/>
          </a:xfrm>
          <a:custGeom>
            <a:avLst/>
            <a:gdLst/>
            <a:ahLst/>
            <a:cxnLst/>
            <a:rect r="r" b="b" t="t" l="l"/>
            <a:pathLst>
              <a:path h="1377169" w="1538737">
                <a:moveTo>
                  <a:pt x="0" y="0"/>
                </a:moveTo>
                <a:lnTo>
                  <a:pt x="1538737" y="0"/>
                </a:lnTo>
                <a:lnTo>
                  <a:pt x="1538737" y="1377169"/>
                </a:lnTo>
                <a:lnTo>
                  <a:pt x="0" y="137716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4" id="14"/>
          <p:cNvGrpSpPr/>
          <p:nvPr/>
        </p:nvGrpSpPr>
        <p:grpSpPr>
          <a:xfrm rot="0">
            <a:off x="1719035" y="8850813"/>
            <a:ext cx="3803150" cy="493350"/>
            <a:chOff x="0" y="0"/>
            <a:chExt cx="1001653" cy="129936"/>
          </a:xfrm>
        </p:grpSpPr>
        <p:sp>
          <p:nvSpPr>
            <p:cNvPr name="Freeform 15" id="15"/>
            <p:cNvSpPr/>
            <p:nvPr/>
          </p:nvSpPr>
          <p:spPr>
            <a:xfrm flipH="false" flipV="false" rot="0">
              <a:off x="0" y="0"/>
              <a:ext cx="1001653" cy="129936"/>
            </a:xfrm>
            <a:custGeom>
              <a:avLst/>
              <a:gdLst/>
              <a:ahLst/>
              <a:cxnLst/>
              <a:rect r="r" b="b" t="t" l="l"/>
              <a:pathLst>
                <a:path h="129936" w="1001653">
                  <a:moveTo>
                    <a:pt x="64968" y="0"/>
                  </a:moveTo>
                  <a:lnTo>
                    <a:pt x="936685" y="0"/>
                  </a:lnTo>
                  <a:cubicBezTo>
                    <a:pt x="972566" y="0"/>
                    <a:pt x="1001653" y="29087"/>
                    <a:pt x="1001653" y="64968"/>
                  </a:cubicBezTo>
                  <a:lnTo>
                    <a:pt x="1001653" y="64968"/>
                  </a:lnTo>
                  <a:cubicBezTo>
                    <a:pt x="1001653" y="100849"/>
                    <a:pt x="972566" y="129936"/>
                    <a:pt x="936685" y="129936"/>
                  </a:cubicBezTo>
                  <a:lnTo>
                    <a:pt x="64968" y="129936"/>
                  </a:lnTo>
                  <a:cubicBezTo>
                    <a:pt x="29087" y="129936"/>
                    <a:pt x="0" y="100849"/>
                    <a:pt x="0" y="64968"/>
                  </a:cubicBezTo>
                  <a:lnTo>
                    <a:pt x="0" y="64968"/>
                  </a:lnTo>
                  <a:cubicBezTo>
                    <a:pt x="0" y="29087"/>
                    <a:pt x="29087" y="0"/>
                    <a:pt x="64968" y="0"/>
                  </a:cubicBezTo>
                  <a:close/>
                </a:path>
              </a:pathLst>
            </a:custGeom>
            <a:solidFill>
              <a:srgbClr val="E1B076"/>
            </a:solidFill>
          </p:spPr>
        </p:sp>
        <p:sp>
          <p:nvSpPr>
            <p:cNvPr name="TextBox 16" id="16"/>
            <p:cNvSpPr txBox="true"/>
            <p:nvPr/>
          </p:nvSpPr>
          <p:spPr>
            <a:xfrm>
              <a:off x="0" y="-47625"/>
              <a:ext cx="1001653" cy="177561"/>
            </a:xfrm>
            <a:prstGeom prst="rect">
              <a:avLst/>
            </a:prstGeom>
          </p:spPr>
          <p:txBody>
            <a:bodyPr anchor="ctr" rtlCol="false" tIns="50800" lIns="50800" bIns="50800" rIns="50800"/>
            <a:lstStyle/>
            <a:p>
              <a:pPr algn="ctr">
                <a:lnSpc>
                  <a:spcPts val="3359"/>
                </a:lnSpc>
              </a:pPr>
            </a:p>
          </p:txBody>
        </p:sp>
      </p:grpSp>
      <p:sp>
        <p:nvSpPr>
          <p:cNvPr name="TextBox 17" id="17"/>
          <p:cNvSpPr txBox="true"/>
          <p:nvPr/>
        </p:nvSpPr>
        <p:spPr>
          <a:xfrm rot="0">
            <a:off x="1939517" y="8909000"/>
            <a:ext cx="2195335" cy="349250"/>
          </a:xfrm>
          <a:prstGeom prst="rect">
            <a:avLst/>
          </a:prstGeom>
        </p:spPr>
        <p:txBody>
          <a:bodyPr anchor="t" rtlCol="false" tIns="0" lIns="0" bIns="0" rIns="0">
            <a:spAutoFit/>
          </a:bodyPr>
          <a:lstStyle/>
          <a:p>
            <a:pPr algn="l">
              <a:lnSpc>
                <a:spcPts val="2800"/>
              </a:lnSpc>
            </a:pPr>
            <a:r>
              <a:rPr lang="en-US" sz="2000">
                <a:solidFill>
                  <a:srgbClr val="FFFFFF"/>
                </a:solidFill>
                <a:latin typeface="TT Firs Neue"/>
                <a:ea typeface="TT Firs Neue"/>
                <a:cs typeface="TT Firs Neue"/>
                <a:sym typeface="TT Firs Neue"/>
              </a:rPr>
              <a:t>Mentored By</a:t>
            </a:r>
          </a:p>
        </p:txBody>
      </p:sp>
      <p:grpSp>
        <p:nvGrpSpPr>
          <p:cNvPr name="Group 18" id="18"/>
          <p:cNvGrpSpPr/>
          <p:nvPr/>
        </p:nvGrpSpPr>
        <p:grpSpPr>
          <a:xfrm rot="0">
            <a:off x="3549723" y="8830863"/>
            <a:ext cx="3222273" cy="513300"/>
            <a:chOff x="0" y="0"/>
            <a:chExt cx="848664" cy="135190"/>
          </a:xfrm>
        </p:grpSpPr>
        <p:sp>
          <p:nvSpPr>
            <p:cNvPr name="Freeform 19" id="19"/>
            <p:cNvSpPr/>
            <p:nvPr/>
          </p:nvSpPr>
          <p:spPr>
            <a:xfrm flipH="false" flipV="false" rot="0">
              <a:off x="0" y="0"/>
              <a:ext cx="848664" cy="135190"/>
            </a:xfrm>
            <a:custGeom>
              <a:avLst/>
              <a:gdLst/>
              <a:ahLst/>
              <a:cxnLst/>
              <a:rect r="r" b="b" t="t" l="l"/>
              <a:pathLst>
                <a:path h="135190" w="848664">
                  <a:moveTo>
                    <a:pt x="67595" y="0"/>
                  </a:moveTo>
                  <a:lnTo>
                    <a:pt x="781069" y="0"/>
                  </a:lnTo>
                  <a:cubicBezTo>
                    <a:pt x="818401" y="0"/>
                    <a:pt x="848664" y="30263"/>
                    <a:pt x="848664" y="67595"/>
                  </a:cubicBezTo>
                  <a:lnTo>
                    <a:pt x="848664" y="67595"/>
                  </a:lnTo>
                  <a:cubicBezTo>
                    <a:pt x="848664" y="104927"/>
                    <a:pt x="818401" y="135190"/>
                    <a:pt x="781069" y="135190"/>
                  </a:cubicBezTo>
                  <a:lnTo>
                    <a:pt x="67595" y="135190"/>
                  </a:lnTo>
                  <a:cubicBezTo>
                    <a:pt x="30263" y="135190"/>
                    <a:pt x="0" y="104927"/>
                    <a:pt x="0" y="67595"/>
                  </a:cubicBezTo>
                  <a:lnTo>
                    <a:pt x="0" y="67595"/>
                  </a:lnTo>
                  <a:cubicBezTo>
                    <a:pt x="0" y="30263"/>
                    <a:pt x="30263" y="0"/>
                    <a:pt x="67595" y="0"/>
                  </a:cubicBezTo>
                  <a:close/>
                </a:path>
              </a:pathLst>
            </a:custGeom>
            <a:solidFill>
              <a:srgbClr val="0007AB"/>
            </a:solidFill>
          </p:spPr>
        </p:sp>
        <p:sp>
          <p:nvSpPr>
            <p:cNvPr name="TextBox 20" id="20"/>
            <p:cNvSpPr txBox="true"/>
            <p:nvPr/>
          </p:nvSpPr>
          <p:spPr>
            <a:xfrm>
              <a:off x="0" y="-47625"/>
              <a:ext cx="848664" cy="182815"/>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0">
            <a:off x="10799300" y="3904617"/>
            <a:ext cx="8409387" cy="6736552"/>
          </a:xfrm>
          <a:custGeom>
            <a:avLst/>
            <a:gdLst/>
            <a:ahLst/>
            <a:cxnLst/>
            <a:rect r="r" b="b" t="t" l="l"/>
            <a:pathLst>
              <a:path h="6736552" w="8409387">
                <a:moveTo>
                  <a:pt x="0" y="0"/>
                </a:moveTo>
                <a:lnTo>
                  <a:pt x="8409387" y="0"/>
                </a:lnTo>
                <a:lnTo>
                  <a:pt x="8409387" y="6736552"/>
                </a:lnTo>
                <a:lnTo>
                  <a:pt x="0" y="6736552"/>
                </a:lnTo>
                <a:lnTo>
                  <a:pt x="0" y="0"/>
                </a:lnTo>
                <a:close/>
              </a:path>
            </a:pathLst>
          </a:custGeom>
          <a:blipFill>
            <a:blip r:embed="rId17"/>
            <a:stretch>
              <a:fillRect l="0" t="0" r="0" b="0"/>
            </a:stretch>
          </a:blipFill>
        </p:spPr>
      </p:sp>
      <p:sp>
        <p:nvSpPr>
          <p:cNvPr name="TextBox 22" id="22"/>
          <p:cNvSpPr txBox="true"/>
          <p:nvPr/>
        </p:nvSpPr>
        <p:spPr>
          <a:xfrm rot="0">
            <a:off x="1719035" y="6027796"/>
            <a:ext cx="4535405" cy="405765"/>
          </a:xfrm>
          <a:prstGeom prst="rect">
            <a:avLst/>
          </a:prstGeom>
        </p:spPr>
        <p:txBody>
          <a:bodyPr anchor="t" rtlCol="false" tIns="0" lIns="0" bIns="0" rIns="0">
            <a:spAutoFit/>
          </a:bodyPr>
          <a:lstStyle/>
          <a:p>
            <a:pPr algn="l">
              <a:lnSpc>
                <a:spcPts val="3359"/>
              </a:lnSpc>
            </a:pPr>
            <a:r>
              <a:rPr lang="en-US" sz="2400" b="true">
                <a:solidFill>
                  <a:srgbClr val="000000"/>
                </a:solidFill>
                <a:latin typeface="TT Firs Neue Bold"/>
                <a:ea typeface="TT Firs Neue Bold"/>
                <a:cs typeface="TT Firs Neue Bold"/>
                <a:sym typeface="TT Firs Neue Bold"/>
              </a:rPr>
              <a:t>U</a:t>
            </a:r>
            <a:r>
              <a:rPr lang="en-US" sz="2400" b="true">
                <a:solidFill>
                  <a:srgbClr val="000000"/>
                </a:solidFill>
                <a:latin typeface="TT Firs Neue Bold"/>
                <a:ea typeface="TT Firs Neue Bold"/>
                <a:cs typeface="TT Firs Neue Bold"/>
                <a:sym typeface="TT Firs Neue Bold"/>
              </a:rPr>
              <a:t>se</a:t>
            </a:r>
            <a:r>
              <a:rPr lang="en-US" sz="2400" b="true">
                <a:solidFill>
                  <a:srgbClr val="000000"/>
                </a:solidFill>
                <a:latin typeface="TT Firs Neue Bold"/>
                <a:ea typeface="TT Firs Neue Bold"/>
                <a:cs typeface="TT Firs Neue Bold"/>
                <a:sym typeface="TT Firs Neue Bold"/>
              </a:rPr>
              <a:t>r Control and Agency</a:t>
            </a:r>
          </a:p>
        </p:txBody>
      </p:sp>
      <p:sp>
        <p:nvSpPr>
          <p:cNvPr name="TextBox 23" id="23"/>
          <p:cNvSpPr txBox="true"/>
          <p:nvPr/>
        </p:nvSpPr>
        <p:spPr>
          <a:xfrm rot="0">
            <a:off x="1810159" y="541367"/>
            <a:ext cx="4361213" cy="405765"/>
          </a:xfrm>
          <a:prstGeom prst="rect">
            <a:avLst/>
          </a:prstGeom>
        </p:spPr>
        <p:txBody>
          <a:bodyPr anchor="t" rtlCol="false" tIns="0" lIns="0" bIns="0" rIns="0">
            <a:spAutoFit/>
          </a:bodyPr>
          <a:lstStyle/>
          <a:p>
            <a:pPr algn="l">
              <a:lnSpc>
                <a:spcPts val="3359"/>
              </a:lnSpc>
            </a:pPr>
            <a:r>
              <a:rPr lang="en-US" sz="2400" b="true">
                <a:solidFill>
                  <a:srgbClr val="FFFFFF"/>
                </a:solidFill>
                <a:latin typeface="TT Firs Neue Bold"/>
                <a:ea typeface="TT Firs Neue Bold"/>
                <a:cs typeface="TT Firs Neue Bold"/>
                <a:sym typeface="TT Firs Neue Bold"/>
              </a:rPr>
              <a:t>Benha University</a:t>
            </a:r>
          </a:p>
        </p:txBody>
      </p:sp>
      <p:sp>
        <p:nvSpPr>
          <p:cNvPr name="TextBox 24" id="24"/>
          <p:cNvSpPr txBox="true"/>
          <p:nvPr/>
        </p:nvSpPr>
        <p:spPr>
          <a:xfrm rot="0">
            <a:off x="12942962" y="541367"/>
            <a:ext cx="5130336" cy="349250"/>
          </a:xfrm>
          <a:prstGeom prst="rect">
            <a:avLst/>
          </a:prstGeom>
        </p:spPr>
        <p:txBody>
          <a:bodyPr anchor="t" rtlCol="false" tIns="0" lIns="0" bIns="0" rIns="0">
            <a:spAutoFit/>
          </a:bodyPr>
          <a:lstStyle/>
          <a:p>
            <a:pPr algn="l">
              <a:lnSpc>
                <a:spcPts val="2800"/>
              </a:lnSpc>
            </a:pPr>
            <a:r>
              <a:rPr lang="en-US" sz="2000">
                <a:solidFill>
                  <a:srgbClr val="000000"/>
                </a:solidFill>
                <a:latin typeface="TT Firs Neue"/>
                <a:ea typeface="TT Firs Neue"/>
                <a:cs typeface="TT Firs Neue"/>
                <a:sym typeface="TT Firs Neue"/>
              </a:rPr>
              <a:t>faculty of computers,Artificial Intelligence.</a:t>
            </a:r>
          </a:p>
        </p:txBody>
      </p:sp>
      <p:sp>
        <p:nvSpPr>
          <p:cNvPr name="TextBox 25" id="25"/>
          <p:cNvSpPr txBox="true"/>
          <p:nvPr/>
        </p:nvSpPr>
        <p:spPr>
          <a:xfrm rot="0">
            <a:off x="3807293" y="8882091"/>
            <a:ext cx="2964703" cy="372745"/>
          </a:xfrm>
          <a:prstGeom prst="rect">
            <a:avLst/>
          </a:prstGeom>
        </p:spPr>
        <p:txBody>
          <a:bodyPr anchor="t" rtlCol="false" tIns="0" lIns="0" bIns="0" rIns="0">
            <a:spAutoFit/>
          </a:bodyPr>
          <a:lstStyle/>
          <a:p>
            <a:pPr algn="l">
              <a:lnSpc>
                <a:spcPts val="3079"/>
              </a:lnSpc>
            </a:pPr>
            <a:r>
              <a:rPr lang="en-US" sz="2199">
                <a:solidFill>
                  <a:srgbClr val="FFFFFF"/>
                </a:solidFill>
                <a:latin typeface="TT Firs Neue"/>
                <a:ea typeface="TT Firs Neue"/>
                <a:cs typeface="TT Firs Neue"/>
                <a:sym typeface="TT Firs Neue"/>
              </a:rPr>
              <a:t>Mariam Mahmoud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972717" y="5696586"/>
            <a:ext cx="3790301" cy="4622319"/>
          </a:xfrm>
          <a:custGeom>
            <a:avLst/>
            <a:gdLst/>
            <a:ahLst/>
            <a:cxnLst/>
            <a:rect r="r" b="b" t="t" l="l"/>
            <a:pathLst>
              <a:path h="4622319" w="3790301">
                <a:moveTo>
                  <a:pt x="0" y="0"/>
                </a:moveTo>
                <a:lnTo>
                  <a:pt x="3790301" y="0"/>
                </a:lnTo>
                <a:lnTo>
                  <a:pt x="3790301" y="4622319"/>
                </a:lnTo>
                <a:lnTo>
                  <a:pt x="0" y="4622319"/>
                </a:lnTo>
                <a:lnTo>
                  <a:pt x="0" y="0"/>
                </a:lnTo>
                <a:close/>
              </a:path>
            </a:pathLst>
          </a:custGeom>
          <a:blipFill>
            <a:blip r:embed="rId3">
              <a:alphaModFix amt="5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70294" y="5781675"/>
            <a:ext cx="7622316" cy="784225"/>
          </a:xfrm>
          <a:prstGeom prst="rect">
            <a:avLst/>
          </a:prstGeom>
        </p:spPr>
        <p:txBody>
          <a:bodyPr anchor="t" rtlCol="false" tIns="0" lIns="0" bIns="0" rIns="0">
            <a:spAutoFit/>
          </a:bodyPr>
          <a:lstStyle/>
          <a:p>
            <a:pPr algn="l">
              <a:lnSpc>
                <a:spcPts val="5000"/>
              </a:lnSpc>
            </a:pPr>
            <a:r>
              <a:rPr lang="en-US" sz="5000" spc="-275">
                <a:solidFill>
                  <a:srgbClr val="0007AB"/>
                </a:solidFill>
                <a:latin typeface="Heading Now 71-78"/>
                <a:ea typeface="Heading Now 71-78"/>
                <a:cs typeface="Heading Now 71-78"/>
                <a:sym typeface="Heading Now 71-78"/>
              </a:rPr>
              <a:t>Team Members :</a:t>
            </a:r>
          </a:p>
        </p:txBody>
      </p:sp>
      <p:sp>
        <p:nvSpPr>
          <p:cNvPr name="TextBox 5" id="5"/>
          <p:cNvSpPr txBox="true"/>
          <p:nvPr/>
        </p:nvSpPr>
        <p:spPr>
          <a:xfrm rot="0">
            <a:off x="701037" y="1131762"/>
            <a:ext cx="15782426" cy="3885386"/>
          </a:xfrm>
          <a:prstGeom prst="rect">
            <a:avLst/>
          </a:prstGeom>
        </p:spPr>
        <p:txBody>
          <a:bodyPr anchor="t" rtlCol="false" tIns="0" lIns="0" bIns="0" rIns="0">
            <a:spAutoFit/>
          </a:bodyPr>
          <a:lstStyle/>
          <a:p>
            <a:pPr algn="l">
              <a:lnSpc>
                <a:spcPts val="4496"/>
              </a:lnSpc>
            </a:pPr>
            <a:r>
              <a:rPr lang="en-US" sz="2741">
                <a:solidFill>
                  <a:srgbClr val="231F20"/>
                </a:solidFill>
                <a:latin typeface="TT Firs Neue"/>
                <a:ea typeface="TT Firs Neue"/>
                <a:cs typeface="TT Firs Neue"/>
                <a:sym typeface="TT Firs Neue"/>
              </a:rPr>
              <a:t>People who have difficu</a:t>
            </a:r>
            <a:r>
              <a:rPr lang="en-US" sz="2741">
                <a:solidFill>
                  <a:srgbClr val="231F20"/>
                </a:solidFill>
                <a:latin typeface="TT Firs Neue"/>
                <a:ea typeface="TT Firs Neue"/>
                <a:cs typeface="TT Firs Neue"/>
                <a:sym typeface="TT Firs Neue"/>
              </a:rPr>
              <a:t>lty reading or understanding complex content often struggle to access information independently. Long texts, difficult vocabulary, and complicated explanations can make it challenging for them to understand and use information in their daily lives or studies. Our Inclusive Reading Assistant aims to make reading more accessible by allowing users to simplify text, summarize content, explain difficult words and concepts, translate text, or listen to it using text-to-speech. The assistant gives users control over how they want the content to be presented, allowing each person to choose the type of support that best fits their needs</a:t>
            </a:r>
          </a:p>
        </p:txBody>
      </p:sp>
      <p:sp>
        <p:nvSpPr>
          <p:cNvPr name="Freeform 6" id="6"/>
          <p:cNvSpPr/>
          <p:nvPr/>
        </p:nvSpPr>
        <p:spPr>
          <a:xfrm flipH="false" flipV="false" rot="0">
            <a:off x="6178106" y="5347597"/>
            <a:ext cx="925307" cy="925307"/>
          </a:xfrm>
          <a:custGeom>
            <a:avLst/>
            <a:gdLst/>
            <a:ahLst/>
            <a:cxnLst/>
            <a:rect r="r" b="b" t="t" l="l"/>
            <a:pathLst>
              <a:path h="925307" w="925307">
                <a:moveTo>
                  <a:pt x="0" y="0"/>
                </a:moveTo>
                <a:lnTo>
                  <a:pt x="925307" y="0"/>
                </a:lnTo>
                <a:lnTo>
                  <a:pt x="925307" y="925306"/>
                </a:lnTo>
                <a:lnTo>
                  <a:pt x="0" y="9253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837700" y="1969182"/>
            <a:ext cx="1538737" cy="1377169"/>
          </a:xfrm>
          <a:custGeom>
            <a:avLst/>
            <a:gdLst/>
            <a:ahLst/>
            <a:cxnLst/>
            <a:rect r="r" b="b" t="t" l="l"/>
            <a:pathLst>
              <a:path h="1377169" w="1538737">
                <a:moveTo>
                  <a:pt x="0" y="0"/>
                </a:moveTo>
                <a:lnTo>
                  <a:pt x="1538737" y="0"/>
                </a:lnTo>
                <a:lnTo>
                  <a:pt x="1538737" y="1377169"/>
                </a:lnTo>
                <a:lnTo>
                  <a:pt x="0" y="13771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1862406">
            <a:off x="657983" y="7893025"/>
            <a:ext cx="741433" cy="1186293"/>
          </a:xfrm>
          <a:custGeom>
            <a:avLst/>
            <a:gdLst/>
            <a:ahLst/>
            <a:cxnLst/>
            <a:rect r="r" b="b" t="t" l="l"/>
            <a:pathLst>
              <a:path h="1186293" w="741433">
                <a:moveTo>
                  <a:pt x="741434" y="0"/>
                </a:moveTo>
                <a:lnTo>
                  <a:pt x="0" y="0"/>
                </a:lnTo>
                <a:lnTo>
                  <a:pt x="0" y="1186294"/>
                </a:lnTo>
                <a:lnTo>
                  <a:pt x="741434" y="1186294"/>
                </a:lnTo>
                <a:lnTo>
                  <a:pt x="74143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0800000">
            <a:off x="10007569" y="-362960"/>
            <a:ext cx="2330669" cy="1270214"/>
          </a:xfrm>
          <a:custGeom>
            <a:avLst/>
            <a:gdLst/>
            <a:ahLst/>
            <a:cxnLst/>
            <a:rect r="r" b="b" t="t" l="l"/>
            <a:pathLst>
              <a:path h="1270214" w="2330669">
                <a:moveTo>
                  <a:pt x="0" y="0"/>
                </a:moveTo>
                <a:lnTo>
                  <a:pt x="2330668" y="0"/>
                </a:lnTo>
                <a:lnTo>
                  <a:pt x="2330668" y="1270214"/>
                </a:lnTo>
                <a:lnTo>
                  <a:pt x="0" y="12702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0438289" y="63407"/>
            <a:ext cx="1173130" cy="1173130"/>
          </a:xfrm>
          <a:custGeom>
            <a:avLst/>
            <a:gdLst/>
            <a:ahLst/>
            <a:cxnLst/>
            <a:rect r="r" b="b" t="t" l="l"/>
            <a:pathLst>
              <a:path h="1173130" w="1173130">
                <a:moveTo>
                  <a:pt x="0" y="0"/>
                </a:moveTo>
                <a:lnTo>
                  <a:pt x="1173130" y="0"/>
                </a:lnTo>
                <a:lnTo>
                  <a:pt x="1173130" y="1173130"/>
                </a:lnTo>
                <a:lnTo>
                  <a:pt x="0" y="117313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1" id="11"/>
          <p:cNvSpPr txBox="true"/>
          <p:nvPr/>
        </p:nvSpPr>
        <p:spPr>
          <a:xfrm rot="0">
            <a:off x="884293" y="6744970"/>
            <a:ext cx="10288610" cy="1638719"/>
          </a:xfrm>
          <a:prstGeom prst="rect">
            <a:avLst/>
          </a:prstGeom>
        </p:spPr>
        <p:txBody>
          <a:bodyPr anchor="t" rtlCol="false" tIns="0" lIns="0" bIns="0" rIns="0">
            <a:spAutoFit/>
          </a:bodyPr>
          <a:lstStyle/>
          <a:p>
            <a:pPr algn="l" marL="548116" indent="-274058" lvl="1">
              <a:lnSpc>
                <a:spcPts val="4468"/>
              </a:lnSpc>
              <a:buFont typeface="Arial"/>
              <a:buChar char="•"/>
            </a:pPr>
            <a:r>
              <a:rPr lang="en-US" b="true" sz="2538">
                <a:solidFill>
                  <a:srgbClr val="231F20"/>
                </a:solidFill>
                <a:latin typeface="TT Firs Neue Bold"/>
                <a:ea typeface="TT Firs Neue Bold"/>
                <a:cs typeface="TT Firs Neue Bold"/>
                <a:sym typeface="TT Firs Neue Bold"/>
              </a:rPr>
              <a:t>Nesma Hesham  – </a:t>
            </a:r>
            <a:r>
              <a:rPr lang="en-US" sz="2538">
                <a:solidFill>
                  <a:srgbClr val="231F20"/>
                </a:solidFill>
                <a:latin typeface="TT Firs Neue"/>
                <a:ea typeface="TT Firs Neue"/>
                <a:cs typeface="TT Firs Neue"/>
                <a:sym typeface="TT Firs Neue"/>
              </a:rPr>
              <a:t>Frontend Developer </a:t>
            </a:r>
          </a:p>
          <a:p>
            <a:pPr algn="l" marL="548116" indent="-274058" lvl="1">
              <a:lnSpc>
                <a:spcPts val="4468"/>
              </a:lnSpc>
              <a:buFont typeface="Arial"/>
              <a:buChar char="•"/>
            </a:pPr>
            <a:r>
              <a:rPr lang="en-US" b="true" sz="2538">
                <a:solidFill>
                  <a:srgbClr val="231F20"/>
                </a:solidFill>
                <a:latin typeface="TT Firs Neue Bold"/>
                <a:ea typeface="TT Firs Neue Bold"/>
                <a:cs typeface="TT Firs Neue Bold"/>
                <a:sym typeface="TT Firs Neue Bold"/>
              </a:rPr>
              <a:t>Menna Haitham  – </a:t>
            </a:r>
            <a:r>
              <a:rPr lang="en-US" sz="2538">
                <a:solidFill>
                  <a:srgbClr val="231F20"/>
                </a:solidFill>
                <a:latin typeface="TT Firs Neue"/>
                <a:ea typeface="TT Firs Neue"/>
                <a:cs typeface="TT Firs Neue"/>
                <a:sym typeface="TT Firs Neue"/>
              </a:rPr>
              <a:t>AI &amp; Prompt Engineering</a:t>
            </a:r>
          </a:p>
          <a:p>
            <a:pPr algn="l" marL="548116" indent="-274058" lvl="1">
              <a:lnSpc>
                <a:spcPts val="4468"/>
              </a:lnSpc>
              <a:buFont typeface="Arial"/>
              <a:buChar char="•"/>
            </a:pPr>
            <a:r>
              <a:rPr lang="en-US" b="true" sz="2538">
                <a:solidFill>
                  <a:srgbClr val="231F20"/>
                </a:solidFill>
                <a:latin typeface="TT Firs Neue Bold"/>
                <a:ea typeface="TT Firs Neue Bold"/>
                <a:cs typeface="TT Firs Neue Bold"/>
                <a:sym typeface="TT Firs Neue Bold"/>
              </a:rPr>
              <a:t>Malak Ahmed      –</a:t>
            </a:r>
            <a:r>
              <a:rPr lang="en-US" sz="2538">
                <a:solidFill>
                  <a:srgbClr val="231F20"/>
                </a:solidFill>
                <a:latin typeface="TT Firs Neue"/>
                <a:ea typeface="TT Firs Neue"/>
                <a:cs typeface="TT Firs Neue"/>
                <a:sym typeface="TT Firs Neue"/>
              </a:rPr>
              <a:t> NLP Engineer </a:t>
            </a:r>
          </a:p>
        </p:txBody>
      </p:sp>
      <p:sp>
        <p:nvSpPr>
          <p:cNvPr name="TextBox 12" id="12"/>
          <p:cNvSpPr txBox="true"/>
          <p:nvPr/>
        </p:nvSpPr>
        <p:spPr>
          <a:xfrm rot="0">
            <a:off x="701037" y="243572"/>
            <a:ext cx="8791795" cy="784225"/>
          </a:xfrm>
          <a:prstGeom prst="rect">
            <a:avLst/>
          </a:prstGeom>
        </p:spPr>
        <p:txBody>
          <a:bodyPr anchor="t" rtlCol="false" tIns="0" lIns="0" bIns="0" rIns="0">
            <a:spAutoFit/>
          </a:bodyPr>
          <a:lstStyle/>
          <a:p>
            <a:pPr algn="l">
              <a:lnSpc>
                <a:spcPts val="5000"/>
              </a:lnSpc>
            </a:pPr>
            <a:r>
              <a:rPr lang="en-US" sz="5000" spc="-275">
                <a:solidFill>
                  <a:srgbClr val="0007AB"/>
                </a:solidFill>
                <a:latin typeface="Heading Now 71-78"/>
                <a:ea typeface="Heading Now 71-78"/>
                <a:cs typeface="Heading Now 71-78"/>
                <a:sym typeface="Heading Now 71-78"/>
              </a:rPr>
              <a:t>Problem Statement :</a:t>
            </a:r>
          </a:p>
        </p:txBody>
      </p:sp>
      <p:grpSp>
        <p:nvGrpSpPr>
          <p:cNvPr name="Group 13" id="13"/>
          <p:cNvGrpSpPr/>
          <p:nvPr/>
        </p:nvGrpSpPr>
        <p:grpSpPr>
          <a:xfrm rot="0">
            <a:off x="267479" y="9720967"/>
            <a:ext cx="5128433" cy="493350"/>
            <a:chOff x="0" y="0"/>
            <a:chExt cx="1350698" cy="129936"/>
          </a:xfrm>
        </p:grpSpPr>
        <p:sp>
          <p:nvSpPr>
            <p:cNvPr name="Freeform 14" id="14"/>
            <p:cNvSpPr/>
            <p:nvPr/>
          </p:nvSpPr>
          <p:spPr>
            <a:xfrm flipH="false" flipV="false" rot="0">
              <a:off x="0" y="0"/>
              <a:ext cx="1350698" cy="129936"/>
            </a:xfrm>
            <a:custGeom>
              <a:avLst/>
              <a:gdLst/>
              <a:ahLst/>
              <a:cxnLst/>
              <a:rect r="r" b="b" t="t" l="l"/>
              <a:pathLst>
                <a:path h="129936" w="1350698">
                  <a:moveTo>
                    <a:pt x="64968" y="0"/>
                  </a:moveTo>
                  <a:lnTo>
                    <a:pt x="1285730" y="0"/>
                  </a:lnTo>
                  <a:cubicBezTo>
                    <a:pt x="1321611" y="0"/>
                    <a:pt x="1350698" y="29087"/>
                    <a:pt x="1350698" y="64968"/>
                  </a:cubicBezTo>
                  <a:lnTo>
                    <a:pt x="1350698" y="64968"/>
                  </a:lnTo>
                  <a:cubicBezTo>
                    <a:pt x="1350698" y="100849"/>
                    <a:pt x="1321611" y="129936"/>
                    <a:pt x="1285730" y="129936"/>
                  </a:cubicBezTo>
                  <a:lnTo>
                    <a:pt x="64968" y="129936"/>
                  </a:lnTo>
                  <a:cubicBezTo>
                    <a:pt x="29087" y="129936"/>
                    <a:pt x="0" y="100849"/>
                    <a:pt x="0" y="64968"/>
                  </a:cubicBezTo>
                  <a:lnTo>
                    <a:pt x="0" y="64968"/>
                  </a:lnTo>
                  <a:cubicBezTo>
                    <a:pt x="0" y="29087"/>
                    <a:pt x="29087" y="0"/>
                    <a:pt x="64968" y="0"/>
                  </a:cubicBezTo>
                  <a:close/>
                </a:path>
              </a:pathLst>
            </a:custGeom>
            <a:solidFill>
              <a:srgbClr val="E1B076"/>
            </a:solidFill>
          </p:spPr>
        </p:sp>
        <p:sp>
          <p:nvSpPr>
            <p:cNvPr name="TextBox 15" id="15"/>
            <p:cNvSpPr txBox="true"/>
            <p:nvPr/>
          </p:nvSpPr>
          <p:spPr>
            <a:xfrm>
              <a:off x="0" y="-47625"/>
              <a:ext cx="1350698" cy="177561"/>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543379" y="9779155"/>
            <a:ext cx="2960343" cy="349250"/>
          </a:xfrm>
          <a:prstGeom prst="rect">
            <a:avLst/>
          </a:prstGeom>
        </p:spPr>
        <p:txBody>
          <a:bodyPr anchor="t" rtlCol="false" tIns="0" lIns="0" bIns="0" rIns="0">
            <a:spAutoFit/>
          </a:bodyPr>
          <a:lstStyle/>
          <a:p>
            <a:pPr algn="l">
              <a:lnSpc>
                <a:spcPts val="2800"/>
              </a:lnSpc>
            </a:pPr>
            <a:r>
              <a:rPr lang="en-US" sz="2000">
                <a:solidFill>
                  <a:srgbClr val="FFFFFF"/>
                </a:solidFill>
                <a:latin typeface="TT Firs Neue"/>
                <a:ea typeface="TT Firs Neue"/>
                <a:cs typeface="TT Firs Neue"/>
                <a:sym typeface="TT Firs Neue"/>
              </a:rPr>
              <a:t>Github rebo</a:t>
            </a:r>
          </a:p>
        </p:txBody>
      </p:sp>
      <p:grpSp>
        <p:nvGrpSpPr>
          <p:cNvPr name="Group 17" id="17"/>
          <p:cNvGrpSpPr/>
          <p:nvPr/>
        </p:nvGrpSpPr>
        <p:grpSpPr>
          <a:xfrm rot="0">
            <a:off x="2162629" y="9720967"/>
            <a:ext cx="4649960" cy="513300"/>
            <a:chOff x="0" y="0"/>
            <a:chExt cx="1224681" cy="135190"/>
          </a:xfrm>
        </p:grpSpPr>
        <p:sp>
          <p:nvSpPr>
            <p:cNvPr name="Freeform 18" id="18"/>
            <p:cNvSpPr/>
            <p:nvPr/>
          </p:nvSpPr>
          <p:spPr>
            <a:xfrm flipH="false" flipV="false" rot="0">
              <a:off x="0" y="0"/>
              <a:ext cx="1224681" cy="135190"/>
            </a:xfrm>
            <a:custGeom>
              <a:avLst/>
              <a:gdLst/>
              <a:ahLst/>
              <a:cxnLst/>
              <a:rect r="r" b="b" t="t" l="l"/>
              <a:pathLst>
                <a:path h="135190" w="1224681">
                  <a:moveTo>
                    <a:pt x="67595" y="0"/>
                  </a:moveTo>
                  <a:lnTo>
                    <a:pt x="1157086" y="0"/>
                  </a:lnTo>
                  <a:cubicBezTo>
                    <a:pt x="1194417" y="0"/>
                    <a:pt x="1224681" y="30263"/>
                    <a:pt x="1224681" y="67595"/>
                  </a:cubicBezTo>
                  <a:lnTo>
                    <a:pt x="1224681" y="67595"/>
                  </a:lnTo>
                  <a:cubicBezTo>
                    <a:pt x="1224681" y="104927"/>
                    <a:pt x="1194417" y="135190"/>
                    <a:pt x="1157086" y="135190"/>
                  </a:cubicBezTo>
                  <a:lnTo>
                    <a:pt x="67595" y="135190"/>
                  </a:lnTo>
                  <a:cubicBezTo>
                    <a:pt x="30263" y="135190"/>
                    <a:pt x="0" y="104927"/>
                    <a:pt x="0" y="67595"/>
                  </a:cubicBezTo>
                  <a:lnTo>
                    <a:pt x="0" y="67595"/>
                  </a:lnTo>
                  <a:cubicBezTo>
                    <a:pt x="0" y="30263"/>
                    <a:pt x="30263" y="0"/>
                    <a:pt x="67595" y="0"/>
                  </a:cubicBezTo>
                  <a:close/>
                </a:path>
              </a:pathLst>
            </a:custGeom>
            <a:solidFill>
              <a:srgbClr val="0007AB"/>
            </a:solidFill>
          </p:spPr>
        </p:sp>
        <p:sp>
          <p:nvSpPr>
            <p:cNvPr name="TextBox 19" id="19"/>
            <p:cNvSpPr txBox="true"/>
            <p:nvPr/>
          </p:nvSpPr>
          <p:spPr>
            <a:xfrm>
              <a:off x="0" y="-47625"/>
              <a:ext cx="1224681" cy="182815"/>
            </a:xfrm>
            <a:prstGeom prst="rect">
              <a:avLst/>
            </a:prstGeom>
          </p:spPr>
          <p:txBody>
            <a:bodyPr anchor="ctr" rtlCol="false" tIns="50800" lIns="50800" bIns="50800" rIns="50800"/>
            <a:lstStyle/>
            <a:p>
              <a:pPr algn="ctr">
                <a:lnSpc>
                  <a:spcPts val="3359"/>
                </a:lnSpc>
              </a:pPr>
            </a:p>
          </p:txBody>
        </p:sp>
      </p:grpSp>
      <p:sp>
        <p:nvSpPr>
          <p:cNvPr name="TextBox 20" id="20"/>
          <p:cNvSpPr txBox="true"/>
          <p:nvPr/>
        </p:nvSpPr>
        <p:spPr>
          <a:xfrm rot="0">
            <a:off x="2254081" y="9823091"/>
            <a:ext cx="5367030" cy="280427"/>
          </a:xfrm>
          <a:prstGeom prst="rect">
            <a:avLst/>
          </a:prstGeom>
        </p:spPr>
        <p:txBody>
          <a:bodyPr anchor="t" rtlCol="false" tIns="0" lIns="0" bIns="0" rIns="0">
            <a:spAutoFit/>
          </a:bodyPr>
          <a:lstStyle/>
          <a:p>
            <a:pPr algn="l">
              <a:lnSpc>
                <a:spcPts val="2393"/>
              </a:lnSpc>
            </a:pPr>
            <a:r>
              <a:rPr lang="en-US" sz="1709">
                <a:solidFill>
                  <a:srgbClr val="FFFFFF"/>
                </a:solidFill>
                <a:latin typeface="TT Firs Neue"/>
                <a:ea typeface="TT Firs Neue"/>
                <a:cs typeface="TT Firs Neue"/>
                <a:sym typeface="TT Firs Neue"/>
              </a:rPr>
              <a:t>https://github.com/Nesma-h/HCAI-Project</a:t>
            </a:r>
          </a:p>
        </p:txBody>
      </p:sp>
      <p:sp>
        <p:nvSpPr>
          <p:cNvPr name="TextBox 21" id="21"/>
          <p:cNvSpPr txBox="true"/>
          <p:nvPr/>
        </p:nvSpPr>
        <p:spPr>
          <a:xfrm rot="0">
            <a:off x="9299603" y="6735445"/>
            <a:ext cx="11268348" cy="1183375"/>
          </a:xfrm>
          <a:prstGeom prst="rect">
            <a:avLst/>
          </a:prstGeom>
        </p:spPr>
        <p:txBody>
          <a:bodyPr anchor="t" rtlCol="false" tIns="0" lIns="0" bIns="0" rIns="0">
            <a:spAutoFit/>
          </a:bodyPr>
          <a:lstStyle/>
          <a:p>
            <a:pPr algn="l" marL="600311" indent="-300156" lvl="1">
              <a:lnSpc>
                <a:spcPts val="4893"/>
              </a:lnSpc>
              <a:buFont typeface="Arial"/>
              <a:buChar char="•"/>
            </a:pPr>
            <a:r>
              <a:rPr lang="en-US" b="true" sz="2780">
                <a:solidFill>
                  <a:srgbClr val="231F20"/>
                </a:solidFill>
                <a:latin typeface="TT Firs Neue Bold"/>
                <a:ea typeface="TT Firs Neue Bold"/>
                <a:cs typeface="TT Firs Neue Bold"/>
                <a:sym typeface="TT Firs Neue Bold"/>
              </a:rPr>
              <a:t>Jiovany Erwen – </a:t>
            </a:r>
            <a:r>
              <a:rPr lang="en-US" sz="2780">
                <a:solidFill>
                  <a:srgbClr val="231F20"/>
                </a:solidFill>
                <a:latin typeface="TT Firs Neue"/>
                <a:ea typeface="TT Firs Neue"/>
                <a:cs typeface="TT Firs Neue"/>
                <a:sym typeface="TT Firs Neue"/>
              </a:rPr>
              <a:t>Document processing</a:t>
            </a:r>
          </a:p>
          <a:p>
            <a:pPr algn="l" marL="600311" indent="-300156" lvl="1">
              <a:lnSpc>
                <a:spcPts val="4893"/>
              </a:lnSpc>
              <a:buFont typeface="Arial"/>
              <a:buChar char="•"/>
            </a:pPr>
            <a:r>
              <a:rPr lang="en-US" b="true" sz="2780">
                <a:solidFill>
                  <a:srgbClr val="231F20"/>
                </a:solidFill>
                <a:latin typeface="TT Firs Neue Bold"/>
                <a:ea typeface="TT Firs Neue Bold"/>
                <a:cs typeface="TT Firs Neue Bold"/>
                <a:sym typeface="TT Firs Neue Bold"/>
              </a:rPr>
              <a:t>Mina Saber – </a:t>
            </a:r>
            <a:r>
              <a:rPr lang="en-US" sz="2780">
                <a:solidFill>
                  <a:srgbClr val="231F20"/>
                </a:solidFill>
                <a:latin typeface="TT Firs Neue"/>
                <a:ea typeface="TT Firs Neue"/>
                <a:cs typeface="TT Firs Neue"/>
                <a:sym typeface="TT Firs Neue"/>
              </a:rPr>
              <a:t>Backend Developer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3989559" y="1452814"/>
            <a:ext cx="2684962" cy="625936"/>
            <a:chOff x="0" y="0"/>
            <a:chExt cx="1103541" cy="257265"/>
          </a:xfrm>
        </p:grpSpPr>
        <p:sp>
          <p:nvSpPr>
            <p:cNvPr name="Freeform 4" id="4"/>
            <p:cNvSpPr/>
            <p:nvPr/>
          </p:nvSpPr>
          <p:spPr>
            <a:xfrm flipH="false" flipV="false" rot="0">
              <a:off x="0" y="0"/>
              <a:ext cx="1103541" cy="257265"/>
            </a:xfrm>
            <a:custGeom>
              <a:avLst/>
              <a:gdLst/>
              <a:ahLst/>
              <a:cxnLst/>
              <a:rect r="r" b="b" t="t" l="l"/>
              <a:pathLst>
                <a:path h="257265" w="1103541">
                  <a:moveTo>
                    <a:pt x="43252" y="0"/>
                  </a:moveTo>
                  <a:lnTo>
                    <a:pt x="1060290" y="0"/>
                  </a:lnTo>
                  <a:cubicBezTo>
                    <a:pt x="1084177" y="0"/>
                    <a:pt x="1103541" y="19364"/>
                    <a:pt x="1103541" y="43252"/>
                  </a:cubicBezTo>
                  <a:lnTo>
                    <a:pt x="1103541" y="214013"/>
                  </a:lnTo>
                  <a:cubicBezTo>
                    <a:pt x="1103541" y="237900"/>
                    <a:pt x="1084177" y="257265"/>
                    <a:pt x="1060290" y="257265"/>
                  </a:cubicBezTo>
                  <a:lnTo>
                    <a:pt x="43252" y="257265"/>
                  </a:lnTo>
                  <a:cubicBezTo>
                    <a:pt x="19364" y="257265"/>
                    <a:pt x="0" y="237900"/>
                    <a:pt x="0" y="214013"/>
                  </a:cubicBezTo>
                  <a:lnTo>
                    <a:pt x="0" y="43252"/>
                  </a:lnTo>
                  <a:cubicBezTo>
                    <a:pt x="0" y="19364"/>
                    <a:pt x="19364" y="0"/>
                    <a:pt x="43252" y="0"/>
                  </a:cubicBezTo>
                  <a:close/>
                </a:path>
              </a:pathLst>
            </a:custGeom>
            <a:solidFill>
              <a:srgbClr val="0007AB"/>
            </a:solidFill>
          </p:spPr>
        </p:sp>
        <p:sp>
          <p:nvSpPr>
            <p:cNvPr name="TextBox 5" id="5"/>
            <p:cNvSpPr txBox="true"/>
            <p:nvPr/>
          </p:nvSpPr>
          <p:spPr>
            <a:xfrm>
              <a:off x="0" y="0"/>
              <a:ext cx="1103541" cy="257265"/>
            </a:xfrm>
            <a:prstGeom prst="rect">
              <a:avLst/>
            </a:prstGeom>
          </p:spPr>
          <p:txBody>
            <a:bodyPr anchor="ctr" rtlCol="false" tIns="38100" lIns="38100" bIns="38100" rIns="38100"/>
            <a:lstStyle/>
            <a:p>
              <a:pPr algn="ctr">
                <a:lnSpc>
                  <a:spcPts val="2303"/>
                </a:lnSpc>
              </a:pPr>
            </a:p>
          </p:txBody>
        </p:sp>
      </p:grpSp>
      <p:grpSp>
        <p:nvGrpSpPr>
          <p:cNvPr name="Group 6" id="6"/>
          <p:cNvGrpSpPr/>
          <p:nvPr/>
        </p:nvGrpSpPr>
        <p:grpSpPr>
          <a:xfrm rot="0">
            <a:off x="376754" y="2259726"/>
            <a:ext cx="2905912" cy="1056370"/>
            <a:chOff x="0" y="0"/>
            <a:chExt cx="1194353" cy="434176"/>
          </a:xfrm>
        </p:grpSpPr>
        <p:sp>
          <p:nvSpPr>
            <p:cNvPr name="Freeform 7" id="7"/>
            <p:cNvSpPr/>
            <p:nvPr/>
          </p:nvSpPr>
          <p:spPr>
            <a:xfrm flipH="false" flipV="false" rot="0">
              <a:off x="0" y="0"/>
              <a:ext cx="1194353" cy="434176"/>
            </a:xfrm>
            <a:custGeom>
              <a:avLst/>
              <a:gdLst/>
              <a:ahLst/>
              <a:cxnLst/>
              <a:rect r="r" b="b" t="t" l="l"/>
              <a:pathLst>
                <a:path h="434176" w="1194353">
                  <a:moveTo>
                    <a:pt x="39963" y="0"/>
                  </a:moveTo>
                  <a:lnTo>
                    <a:pt x="1154390" y="0"/>
                  </a:lnTo>
                  <a:cubicBezTo>
                    <a:pt x="1176461" y="0"/>
                    <a:pt x="1194353" y="17892"/>
                    <a:pt x="1194353" y="39963"/>
                  </a:cubicBezTo>
                  <a:lnTo>
                    <a:pt x="1194353" y="394213"/>
                  </a:lnTo>
                  <a:cubicBezTo>
                    <a:pt x="1194353" y="416284"/>
                    <a:pt x="1176461" y="434176"/>
                    <a:pt x="1154390" y="434176"/>
                  </a:cubicBezTo>
                  <a:lnTo>
                    <a:pt x="39963" y="434176"/>
                  </a:lnTo>
                  <a:cubicBezTo>
                    <a:pt x="17892" y="434176"/>
                    <a:pt x="0" y="416284"/>
                    <a:pt x="0" y="394213"/>
                  </a:cubicBezTo>
                  <a:lnTo>
                    <a:pt x="0" y="39963"/>
                  </a:lnTo>
                  <a:cubicBezTo>
                    <a:pt x="0" y="17892"/>
                    <a:pt x="17892" y="0"/>
                    <a:pt x="39963" y="0"/>
                  </a:cubicBezTo>
                  <a:close/>
                </a:path>
              </a:pathLst>
            </a:custGeom>
            <a:solidFill>
              <a:srgbClr val="DCDDE3"/>
            </a:solidFill>
          </p:spPr>
        </p:sp>
        <p:sp>
          <p:nvSpPr>
            <p:cNvPr name="TextBox 8" id="8"/>
            <p:cNvSpPr txBox="true"/>
            <p:nvPr/>
          </p:nvSpPr>
          <p:spPr>
            <a:xfrm>
              <a:off x="0" y="0"/>
              <a:ext cx="1194353" cy="434176"/>
            </a:xfrm>
            <a:prstGeom prst="rect">
              <a:avLst/>
            </a:prstGeom>
          </p:spPr>
          <p:txBody>
            <a:bodyPr anchor="ctr" rtlCol="false" tIns="38100" lIns="38100" bIns="38100" rIns="38100"/>
            <a:lstStyle/>
            <a:p>
              <a:pPr algn="ctr">
                <a:lnSpc>
                  <a:spcPts val="2303"/>
                </a:lnSpc>
              </a:pPr>
            </a:p>
          </p:txBody>
        </p:sp>
      </p:grpSp>
      <p:grpSp>
        <p:nvGrpSpPr>
          <p:cNvPr name="Group 9" id="9"/>
          <p:cNvGrpSpPr/>
          <p:nvPr/>
        </p:nvGrpSpPr>
        <p:grpSpPr>
          <a:xfrm rot="0">
            <a:off x="376754" y="6160399"/>
            <a:ext cx="2901917" cy="1056370"/>
            <a:chOff x="0" y="0"/>
            <a:chExt cx="1192711" cy="434176"/>
          </a:xfrm>
        </p:grpSpPr>
        <p:sp>
          <p:nvSpPr>
            <p:cNvPr name="Freeform 10" id="10"/>
            <p:cNvSpPr/>
            <p:nvPr/>
          </p:nvSpPr>
          <p:spPr>
            <a:xfrm flipH="false" flipV="false" rot="0">
              <a:off x="0" y="0"/>
              <a:ext cx="1192711" cy="434176"/>
            </a:xfrm>
            <a:custGeom>
              <a:avLst/>
              <a:gdLst/>
              <a:ahLst/>
              <a:cxnLst/>
              <a:rect r="r" b="b" t="t" l="l"/>
              <a:pathLst>
                <a:path h="434176" w="1192711">
                  <a:moveTo>
                    <a:pt x="53357" y="0"/>
                  </a:moveTo>
                  <a:lnTo>
                    <a:pt x="1139354" y="0"/>
                  </a:lnTo>
                  <a:cubicBezTo>
                    <a:pt x="1168822" y="0"/>
                    <a:pt x="1192711" y="23889"/>
                    <a:pt x="1192711" y="53357"/>
                  </a:cubicBezTo>
                  <a:lnTo>
                    <a:pt x="1192711" y="380819"/>
                  </a:lnTo>
                  <a:cubicBezTo>
                    <a:pt x="1192711" y="394970"/>
                    <a:pt x="1187090" y="408542"/>
                    <a:pt x="1177083" y="418548"/>
                  </a:cubicBezTo>
                  <a:cubicBezTo>
                    <a:pt x="1167077" y="428555"/>
                    <a:pt x="1153505" y="434176"/>
                    <a:pt x="1139354" y="434176"/>
                  </a:cubicBezTo>
                  <a:lnTo>
                    <a:pt x="53357" y="434176"/>
                  </a:lnTo>
                  <a:cubicBezTo>
                    <a:pt x="23889" y="434176"/>
                    <a:pt x="0" y="410288"/>
                    <a:pt x="0" y="380819"/>
                  </a:cubicBezTo>
                  <a:lnTo>
                    <a:pt x="0" y="53357"/>
                  </a:lnTo>
                  <a:cubicBezTo>
                    <a:pt x="0" y="23889"/>
                    <a:pt x="23889" y="0"/>
                    <a:pt x="53357" y="0"/>
                  </a:cubicBezTo>
                  <a:close/>
                </a:path>
              </a:pathLst>
            </a:custGeom>
            <a:solidFill>
              <a:srgbClr val="DCDDE3"/>
            </a:solidFill>
          </p:spPr>
        </p:sp>
        <p:sp>
          <p:nvSpPr>
            <p:cNvPr name="TextBox 11" id="11"/>
            <p:cNvSpPr txBox="true"/>
            <p:nvPr/>
          </p:nvSpPr>
          <p:spPr>
            <a:xfrm>
              <a:off x="0" y="0"/>
              <a:ext cx="1192711" cy="434176"/>
            </a:xfrm>
            <a:prstGeom prst="rect">
              <a:avLst/>
            </a:prstGeom>
          </p:spPr>
          <p:txBody>
            <a:bodyPr anchor="ctr" rtlCol="false" tIns="38100" lIns="38100" bIns="38100" rIns="38100"/>
            <a:lstStyle/>
            <a:p>
              <a:pPr algn="ctr">
                <a:lnSpc>
                  <a:spcPts val="2303"/>
                </a:lnSpc>
              </a:pPr>
            </a:p>
          </p:txBody>
        </p:sp>
      </p:grpSp>
      <p:grpSp>
        <p:nvGrpSpPr>
          <p:cNvPr name="Group 12" id="12"/>
          <p:cNvGrpSpPr/>
          <p:nvPr/>
        </p:nvGrpSpPr>
        <p:grpSpPr>
          <a:xfrm rot="0">
            <a:off x="3989559" y="2259726"/>
            <a:ext cx="6698289" cy="1056370"/>
            <a:chOff x="0" y="0"/>
            <a:chExt cx="2753050" cy="434176"/>
          </a:xfrm>
        </p:grpSpPr>
        <p:sp>
          <p:nvSpPr>
            <p:cNvPr name="Freeform 13" id="13"/>
            <p:cNvSpPr/>
            <p:nvPr/>
          </p:nvSpPr>
          <p:spPr>
            <a:xfrm flipH="false" flipV="false" rot="0">
              <a:off x="0" y="0"/>
              <a:ext cx="2753050" cy="434176"/>
            </a:xfrm>
            <a:custGeom>
              <a:avLst/>
              <a:gdLst/>
              <a:ahLst/>
              <a:cxnLst/>
              <a:rect r="r" b="b" t="t" l="l"/>
              <a:pathLst>
                <a:path h="434176" w="2753050">
                  <a:moveTo>
                    <a:pt x="17337" y="0"/>
                  </a:moveTo>
                  <a:lnTo>
                    <a:pt x="2735713" y="0"/>
                  </a:lnTo>
                  <a:cubicBezTo>
                    <a:pt x="2740311" y="0"/>
                    <a:pt x="2744721" y="1827"/>
                    <a:pt x="2747972" y="5078"/>
                  </a:cubicBezTo>
                  <a:cubicBezTo>
                    <a:pt x="2751224" y="8329"/>
                    <a:pt x="2753050" y="12739"/>
                    <a:pt x="2753050" y="17337"/>
                  </a:cubicBezTo>
                  <a:lnTo>
                    <a:pt x="2753050" y="416839"/>
                  </a:lnTo>
                  <a:cubicBezTo>
                    <a:pt x="2753050" y="421437"/>
                    <a:pt x="2751224" y="425847"/>
                    <a:pt x="2747972" y="429098"/>
                  </a:cubicBezTo>
                  <a:cubicBezTo>
                    <a:pt x="2744721" y="432350"/>
                    <a:pt x="2740311" y="434176"/>
                    <a:pt x="2735713" y="434176"/>
                  </a:cubicBezTo>
                  <a:lnTo>
                    <a:pt x="17337" y="434176"/>
                  </a:lnTo>
                  <a:cubicBezTo>
                    <a:pt x="12739" y="434176"/>
                    <a:pt x="8329" y="432350"/>
                    <a:pt x="5078" y="429098"/>
                  </a:cubicBezTo>
                  <a:cubicBezTo>
                    <a:pt x="1827" y="425847"/>
                    <a:pt x="0" y="421437"/>
                    <a:pt x="0" y="416839"/>
                  </a:cubicBezTo>
                  <a:lnTo>
                    <a:pt x="0" y="17337"/>
                  </a:lnTo>
                  <a:cubicBezTo>
                    <a:pt x="0" y="12739"/>
                    <a:pt x="1827" y="8329"/>
                    <a:pt x="5078" y="5078"/>
                  </a:cubicBezTo>
                  <a:cubicBezTo>
                    <a:pt x="8329" y="1827"/>
                    <a:pt x="12739" y="0"/>
                    <a:pt x="17337" y="0"/>
                  </a:cubicBezTo>
                  <a:close/>
                </a:path>
              </a:pathLst>
            </a:custGeom>
            <a:solidFill>
              <a:srgbClr val="FEFEFE"/>
            </a:solidFill>
            <a:ln w="28575" cap="sq">
              <a:solidFill>
                <a:srgbClr val="E1B076"/>
              </a:solidFill>
              <a:prstDash val="solid"/>
              <a:miter/>
            </a:ln>
          </p:spPr>
        </p:sp>
        <p:sp>
          <p:nvSpPr>
            <p:cNvPr name="TextBox 14" id="14"/>
            <p:cNvSpPr txBox="true"/>
            <p:nvPr/>
          </p:nvSpPr>
          <p:spPr>
            <a:xfrm>
              <a:off x="0" y="0"/>
              <a:ext cx="2753050" cy="434176"/>
            </a:xfrm>
            <a:prstGeom prst="rect">
              <a:avLst/>
            </a:prstGeom>
          </p:spPr>
          <p:txBody>
            <a:bodyPr anchor="ctr" rtlCol="false" tIns="38100" lIns="38100" bIns="38100" rIns="38100"/>
            <a:lstStyle/>
            <a:p>
              <a:pPr algn="ctr">
                <a:lnSpc>
                  <a:spcPts val="2303"/>
                </a:lnSpc>
              </a:pPr>
            </a:p>
          </p:txBody>
        </p:sp>
      </p:grpSp>
      <p:grpSp>
        <p:nvGrpSpPr>
          <p:cNvPr name="Group 15" id="15"/>
          <p:cNvGrpSpPr/>
          <p:nvPr/>
        </p:nvGrpSpPr>
        <p:grpSpPr>
          <a:xfrm rot="0">
            <a:off x="3171610" y="2515427"/>
            <a:ext cx="611393" cy="567792"/>
            <a:chOff x="0" y="0"/>
            <a:chExt cx="476043" cy="442094"/>
          </a:xfrm>
        </p:grpSpPr>
        <p:sp>
          <p:nvSpPr>
            <p:cNvPr name="Freeform 16" id="16"/>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17" id="17"/>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TextBox 18" id="18"/>
          <p:cNvSpPr txBox="true"/>
          <p:nvPr/>
        </p:nvSpPr>
        <p:spPr>
          <a:xfrm rot="0">
            <a:off x="4165200" y="1620739"/>
            <a:ext cx="2509321" cy="322867"/>
          </a:xfrm>
          <a:prstGeom prst="rect">
            <a:avLst/>
          </a:prstGeom>
        </p:spPr>
        <p:txBody>
          <a:bodyPr anchor="t" rtlCol="false" tIns="0" lIns="0" bIns="0" rIns="0">
            <a:spAutoFit/>
          </a:bodyPr>
          <a:lstStyle/>
          <a:p>
            <a:pPr algn="l" marL="0" indent="0" lvl="0">
              <a:lnSpc>
                <a:spcPts val="2623"/>
              </a:lnSpc>
            </a:pPr>
            <a:r>
              <a:rPr lang="en-US" b="true" sz="2242" spc="73">
                <a:solidFill>
                  <a:srgbClr val="F8F6FF"/>
                </a:solidFill>
                <a:latin typeface="Catamaran Bold"/>
                <a:ea typeface="Catamaran Bold"/>
                <a:cs typeface="Catamaran Bold"/>
                <a:sym typeface="Catamaran Bold"/>
              </a:rPr>
              <a:t>Draft 1: ChatGPT</a:t>
            </a:r>
          </a:p>
        </p:txBody>
      </p:sp>
      <p:sp>
        <p:nvSpPr>
          <p:cNvPr name="TextBox 19" id="19"/>
          <p:cNvSpPr txBox="true"/>
          <p:nvPr/>
        </p:nvSpPr>
        <p:spPr>
          <a:xfrm rot="0">
            <a:off x="479820" y="2653093"/>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Principle</a:t>
            </a:r>
          </a:p>
        </p:txBody>
      </p:sp>
      <p:sp>
        <p:nvSpPr>
          <p:cNvPr name="TextBox 20" id="20"/>
          <p:cNvSpPr txBox="true"/>
          <p:nvPr/>
        </p:nvSpPr>
        <p:spPr>
          <a:xfrm rot="0">
            <a:off x="483815" y="6546651"/>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Flow (7</a:t>
            </a:r>
            <a:r>
              <a:rPr lang="en-US" b="true" sz="2005" spc="66">
                <a:solidFill>
                  <a:srgbClr val="191337"/>
                </a:solidFill>
                <a:latin typeface="Catamaran Bold"/>
                <a:ea typeface="Catamaran Bold"/>
                <a:cs typeface="Catamaran Bold"/>
                <a:sym typeface="Catamaran Bold"/>
              </a:rPr>
              <a:t> steps)</a:t>
            </a:r>
          </a:p>
        </p:txBody>
      </p:sp>
      <p:grpSp>
        <p:nvGrpSpPr>
          <p:cNvPr name="Group 21" id="21"/>
          <p:cNvGrpSpPr/>
          <p:nvPr/>
        </p:nvGrpSpPr>
        <p:grpSpPr>
          <a:xfrm rot="0">
            <a:off x="3171610" y="6404688"/>
            <a:ext cx="611393" cy="567792"/>
            <a:chOff x="0" y="0"/>
            <a:chExt cx="476043" cy="442094"/>
          </a:xfrm>
        </p:grpSpPr>
        <p:sp>
          <p:nvSpPr>
            <p:cNvPr name="Freeform 22" id="22"/>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23" id="23"/>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AutoShape 24" id="24"/>
          <p:cNvSpPr/>
          <p:nvPr/>
        </p:nvSpPr>
        <p:spPr>
          <a:xfrm>
            <a:off x="-2600915" y="238125"/>
            <a:ext cx="22007130" cy="0"/>
          </a:xfrm>
          <a:prstGeom prst="line">
            <a:avLst/>
          </a:prstGeom>
          <a:ln cap="flat" w="19050">
            <a:solidFill>
              <a:srgbClr val="ECEBE9"/>
            </a:solidFill>
            <a:prstDash val="solid"/>
            <a:headEnd type="none" len="sm" w="sm"/>
            <a:tailEnd type="none" len="sm" w="sm"/>
          </a:ln>
        </p:spPr>
      </p:sp>
      <p:grpSp>
        <p:nvGrpSpPr>
          <p:cNvPr name="Group 25" id="25"/>
          <p:cNvGrpSpPr/>
          <p:nvPr/>
        </p:nvGrpSpPr>
        <p:grpSpPr>
          <a:xfrm rot="0">
            <a:off x="3989559" y="3487286"/>
            <a:ext cx="6698289" cy="6402596"/>
            <a:chOff x="0" y="0"/>
            <a:chExt cx="2753050" cy="2631518"/>
          </a:xfrm>
        </p:grpSpPr>
        <p:sp>
          <p:nvSpPr>
            <p:cNvPr name="Freeform 26" id="26"/>
            <p:cNvSpPr/>
            <p:nvPr/>
          </p:nvSpPr>
          <p:spPr>
            <a:xfrm flipH="false" flipV="false" rot="0">
              <a:off x="0" y="0"/>
              <a:ext cx="2753050" cy="2631518"/>
            </a:xfrm>
            <a:custGeom>
              <a:avLst/>
              <a:gdLst/>
              <a:ahLst/>
              <a:cxnLst/>
              <a:rect r="r" b="b" t="t" l="l"/>
              <a:pathLst>
                <a:path h="2631518" w="2753050">
                  <a:moveTo>
                    <a:pt x="17337" y="0"/>
                  </a:moveTo>
                  <a:lnTo>
                    <a:pt x="2735713" y="0"/>
                  </a:lnTo>
                  <a:cubicBezTo>
                    <a:pt x="2740311" y="0"/>
                    <a:pt x="2744721" y="1827"/>
                    <a:pt x="2747972" y="5078"/>
                  </a:cubicBezTo>
                  <a:cubicBezTo>
                    <a:pt x="2751224" y="8329"/>
                    <a:pt x="2753050" y="12739"/>
                    <a:pt x="2753050" y="17337"/>
                  </a:cubicBezTo>
                  <a:lnTo>
                    <a:pt x="2753050" y="2614181"/>
                  </a:lnTo>
                  <a:cubicBezTo>
                    <a:pt x="2753050" y="2618779"/>
                    <a:pt x="2751224" y="2623189"/>
                    <a:pt x="2747972" y="2626440"/>
                  </a:cubicBezTo>
                  <a:cubicBezTo>
                    <a:pt x="2744721" y="2629692"/>
                    <a:pt x="2740311" y="2631518"/>
                    <a:pt x="2735713" y="2631518"/>
                  </a:cubicBezTo>
                  <a:lnTo>
                    <a:pt x="17337" y="2631518"/>
                  </a:lnTo>
                  <a:cubicBezTo>
                    <a:pt x="12739" y="2631518"/>
                    <a:pt x="8329" y="2629692"/>
                    <a:pt x="5078" y="2626440"/>
                  </a:cubicBezTo>
                  <a:cubicBezTo>
                    <a:pt x="1827" y="2623189"/>
                    <a:pt x="0" y="2618779"/>
                    <a:pt x="0" y="2614181"/>
                  </a:cubicBezTo>
                  <a:lnTo>
                    <a:pt x="0" y="17337"/>
                  </a:lnTo>
                  <a:cubicBezTo>
                    <a:pt x="0" y="12739"/>
                    <a:pt x="1827" y="8329"/>
                    <a:pt x="5078" y="5078"/>
                  </a:cubicBezTo>
                  <a:cubicBezTo>
                    <a:pt x="8329" y="1827"/>
                    <a:pt x="12739" y="0"/>
                    <a:pt x="17337" y="0"/>
                  </a:cubicBezTo>
                  <a:close/>
                </a:path>
              </a:pathLst>
            </a:custGeom>
            <a:solidFill>
              <a:srgbClr val="FEFEFE"/>
            </a:solidFill>
            <a:ln w="28575" cap="sq">
              <a:solidFill>
                <a:srgbClr val="E1B076"/>
              </a:solidFill>
              <a:prstDash val="solid"/>
              <a:miter/>
            </a:ln>
          </p:spPr>
        </p:sp>
        <p:sp>
          <p:nvSpPr>
            <p:cNvPr name="TextBox 27" id="27"/>
            <p:cNvSpPr txBox="true"/>
            <p:nvPr/>
          </p:nvSpPr>
          <p:spPr>
            <a:xfrm>
              <a:off x="0" y="-28575"/>
              <a:ext cx="2753050" cy="2660093"/>
            </a:xfrm>
            <a:prstGeom prst="rect">
              <a:avLst/>
            </a:prstGeom>
          </p:spPr>
          <p:txBody>
            <a:bodyPr anchor="ctr" rtlCol="false" tIns="38100" lIns="38100" bIns="38100" rIns="38100"/>
            <a:lstStyle/>
            <a:p>
              <a:pPr algn="l">
                <a:lnSpc>
                  <a:spcPts val="2677"/>
                </a:lnSpc>
              </a:pPr>
            </a:p>
          </p:txBody>
        </p:sp>
      </p:grpSp>
      <p:sp>
        <p:nvSpPr>
          <p:cNvPr name="TextBox 28" id="28"/>
          <p:cNvSpPr txBox="true"/>
          <p:nvPr/>
        </p:nvSpPr>
        <p:spPr>
          <a:xfrm rot="0">
            <a:off x="4176451" y="2368284"/>
            <a:ext cx="6324504" cy="776352"/>
          </a:xfrm>
          <a:prstGeom prst="rect">
            <a:avLst/>
          </a:prstGeom>
        </p:spPr>
        <p:txBody>
          <a:bodyPr anchor="t" rtlCol="false" tIns="0" lIns="0" bIns="0" rIns="0">
            <a:spAutoFit/>
          </a:bodyPr>
          <a:lstStyle/>
          <a:p>
            <a:pPr algn="l">
              <a:lnSpc>
                <a:spcPts val="3212"/>
              </a:lnSpc>
              <a:spcBef>
                <a:spcPct val="0"/>
              </a:spcBef>
            </a:pPr>
            <a:r>
              <a:rPr lang="en-US" sz="1959" strike="noStrike" u="none">
                <a:solidFill>
                  <a:srgbClr val="231F20"/>
                </a:solidFill>
                <a:latin typeface="TT Firs Neue"/>
                <a:ea typeface="TT Firs Neue"/>
                <a:cs typeface="TT Firs Neue"/>
                <a:sym typeface="TT Firs Neue"/>
              </a:rPr>
              <a:t>The user is always in control. The chatbot suggests; the user chooses level, format, and term handling.</a:t>
            </a:r>
          </a:p>
        </p:txBody>
      </p:sp>
      <p:sp>
        <p:nvSpPr>
          <p:cNvPr name="TextBox 29" id="29"/>
          <p:cNvSpPr txBox="true"/>
          <p:nvPr/>
        </p:nvSpPr>
        <p:spPr>
          <a:xfrm rot="0">
            <a:off x="3989559" y="3617132"/>
            <a:ext cx="6698289" cy="6071860"/>
          </a:xfrm>
          <a:prstGeom prst="rect">
            <a:avLst/>
          </a:prstGeom>
        </p:spPr>
        <p:txBody>
          <a:bodyPr anchor="t" rtlCol="false" tIns="0" lIns="0" bIns="0" rIns="0">
            <a:spAutoFit/>
          </a:bodyPr>
          <a:lstStyle/>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Onboarding: Customize font, size, spacing, and terms, or skip.</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Text Input: Paste/upload text; preview, edit, clear, or cancel.</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Reading Level: Choose Easy, Medium, or Advanced; change anytime and preserve terms.</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Text Display: Original read-only, simplified editable; side-by-side or single-column, with copy/export options.</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Readability Scores: Compare Flesch scores before/after; scores are guides, not ability measures.</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Adjustments: Simpler, Explain/Keep Term, Undo; accept/reject changes and manage explanations.</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Error Handling: Clear empty/long-text messages, explain limits, and always preserve the original.</a:t>
            </a:r>
          </a:p>
        </p:txBody>
      </p:sp>
      <p:grpSp>
        <p:nvGrpSpPr>
          <p:cNvPr name="Group 30" id="30"/>
          <p:cNvGrpSpPr/>
          <p:nvPr/>
        </p:nvGrpSpPr>
        <p:grpSpPr>
          <a:xfrm rot="0">
            <a:off x="11068847" y="1452814"/>
            <a:ext cx="2684962" cy="625936"/>
            <a:chOff x="0" y="0"/>
            <a:chExt cx="1103541" cy="257265"/>
          </a:xfrm>
        </p:grpSpPr>
        <p:sp>
          <p:nvSpPr>
            <p:cNvPr name="Freeform 31" id="31"/>
            <p:cNvSpPr/>
            <p:nvPr/>
          </p:nvSpPr>
          <p:spPr>
            <a:xfrm flipH="false" flipV="false" rot="0">
              <a:off x="0" y="0"/>
              <a:ext cx="1103541" cy="257265"/>
            </a:xfrm>
            <a:custGeom>
              <a:avLst/>
              <a:gdLst/>
              <a:ahLst/>
              <a:cxnLst/>
              <a:rect r="r" b="b" t="t" l="l"/>
              <a:pathLst>
                <a:path h="257265" w="1103541">
                  <a:moveTo>
                    <a:pt x="43252" y="0"/>
                  </a:moveTo>
                  <a:lnTo>
                    <a:pt x="1060290" y="0"/>
                  </a:lnTo>
                  <a:cubicBezTo>
                    <a:pt x="1084177" y="0"/>
                    <a:pt x="1103541" y="19364"/>
                    <a:pt x="1103541" y="43252"/>
                  </a:cubicBezTo>
                  <a:lnTo>
                    <a:pt x="1103541" y="214013"/>
                  </a:lnTo>
                  <a:cubicBezTo>
                    <a:pt x="1103541" y="237900"/>
                    <a:pt x="1084177" y="257265"/>
                    <a:pt x="1060290" y="257265"/>
                  </a:cubicBezTo>
                  <a:lnTo>
                    <a:pt x="43252" y="257265"/>
                  </a:lnTo>
                  <a:cubicBezTo>
                    <a:pt x="19364" y="257265"/>
                    <a:pt x="0" y="237900"/>
                    <a:pt x="0" y="214013"/>
                  </a:cubicBezTo>
                  <a:lnTo>
                    <a:pt x="0" y="43252"/>
                  </a:lnTo>
                  <a:cubicBezTo>
                    <a:pt x="0" y="19364"/>
                    <a:pt x="19364" y="0"/>
                    <a:pt x="43252" y="0"/>
                  </a:cubicBezTo>
                  <a:close/>
                </a:path>
              </a:pathLst>
            </a:custGeom>
            <a:solidFill>
              <a:srgbClr val="0007AB"/>
            </a:solidFill>
          </p:spPr>
        </p:sp>
        <p:sp>
          <p:nvSpPr>
            <p:cNvPr name="TextBox 32" id="32"/>
            <p:cNvSpPr txBox="true"/>
            <p:nvPr/>
          </p:nvSpPr>
          <p:spPr>
            <a:xfrm>
              <a:off x="0" y="0"/>
              <a:ext cx="1103541" cy="257265"/>
            </a:xfrm>
            <a:prstGeom prst="rect">
              <a:avLst/>
            </a:prstGeom>
          </p:spPr>
          <p:txBody>
            <a:bodyPr anchor="ctr" rtlCol="false" tIns="38100" lIns="38100" bIns="38100" rIns="38100"/>
            <a:lstStyle/>
            <a:p>
              <a:pPr algn="ctr">
                <a:lnSpc>
                  <a:spcPts val="2303"/>
                </a:lnSpc>
              </a:pPr>
            </a:p>
          </p:txBody>
        </p:sp>
      </p:grpSp>
      <p:grpSp>
        <p:nvGrpSpPr>
          <p:cNvPr name="Group 33" id="33"/>
          <p:cNvGrpSpPr/>
          <p:nvPr/>
        </p:nvGrpSpPr>
        <p:grpSpPr>
          <a:xfrm rot="0">
            <a:off x="11068847" y="2259726"/>
            <a:ext cx="6871664" cy="1056370"/>
            <a:chOff x="0" y="0"/>
            <a:chExt cx="2824309" cy="434176"/>
          </a:xfrm>
        </p:grpSpPr>
        <p:sp>
          <p:nvSpPr>
            <p:cNvPr name="Freeform 34" id="34"/>
            <p:cNvSpPr/>
            <p:nvPr/>
          </p:nvSpPr>
          <p:spPr>
            <a:xfrm flipH="false" flipV="false" rot="0">
              <a:off x="0" y="0"/>
              <a:ext cx="2824309" cy="434176"/>
            </a:xfrm>
            <a:custGeom>
              <a:avLst/>
              <a:gdLst/>
              <a:ahLst/>
              <a:cxnLst/>
              <a:rect r="r" b="b" t="t" l="l"/>
              <a:pathLst>
                <a:path h="434176" w="2824309">
                  <a:moveTo>
                    <a:pt x="16900" y="0"/>
                  </a:moveTo>
                  <a:lnTo>
                    <a:pt x="2807409" y="0"/>
                  </a:lnTo>
                  <a:cubicBezTo>
                    <a:pt x="2816743" y="0"/>
                    <a:pt x="2824309" y="7566"/>
                    <a:pt x="2824309" y="16900"/>
                  </a:cubicBezTo>
                  <a:lnTo>
                    <a:pt x="2824309" y="417277"/>
                  </a:lnTo>
                  <a:cubicBezTo>
                    <a:pt x="2824309" y="421759"/>
                    <a:pt x="2822528" y="426057"/>
                    <a:pt x="2819359" y="429227"/>
                  </a:cubicBezTo>
                  <a:cubicBezTo>
                    <a:pt x="2816190" y="432396"/>
                    <a:pt x="2811891" y="434176"/>
                    <a:pt x="2807409" y="434176"/>
                  </a:cubicBezTo>
                  <a:lnTo>
                    <a:pt x="16900" y="434176"/>
                  </a:lnTo>
                  <a:cubicBezTo>
                    <a:pt x="12418" y="434176"/>
                    <a:pt x="8119" y="432396"/>
                    <a:pt x="4950" y="429227"/>
                  </a:cubicBezTo>
                  <a:cubicBezTo>
                    <a:pt x="1780" y="426057"/>
                    <a:pt x="0" y="421759"/>
                    <a:pt x="0" y="417277"/>
                  </a:cubicBezTo>
                  <a:lnTo>
                    <a:pt x="0" y="16900"/>
                  </a:lnTo>
                  <a:cubicBezTo>
                    <a:pt x="0" y="12418"/>
                    <a:pt x="1780" y="8119"/>
                    <a:pt x="4950" y="4950"/>
                  </a:cubicBezTo>
                  <a:cubicBezTo>
                    <a:pt x="8119" y="1780"/>
                    <a:pt x="12418" y="0"/>
                    <a:pt x="16900" y="0"/>
                  </a:cubicBezTo>
                  <a:close/>
                </a:path>
              </a:pathLst>
            </a:custGeom>
            <a:solidFill>
              <a:srgbClr val="FEFEFE"/>
            </a:solidFill>
            <a:ln w="28575" cap="sq">
              <a:solidFill>
                <a:srgbClr val="E1B076"/>
              </a:solidFill>
              <a:prstDash val="solid"/>
              <a:miter/>
            </a:ln>
          </p:spPr>
        </p:sp>
        <p:sp>
          <p:nvSpPr>
            <p:cNvPr name="TextBox 35" id="35"/>
            <p:cNvSpPr txBox="true"/>
            <p:nvPr/>
          </p:nvSpPr>
          <p:spPr>
            <a:xfrm>
              <a:off x="0" y="0"/>
              <a:ext cx="2824309" cy="434176"/>
            </a:xfrm>
            <a:prstGeom prst="rect">
              <a:avLst/>
            </a:prstGeom>
          </p:spPr>
          <p:txBody>
            <a:bodyPr anchor="ctr" rtlCol="false" tIns="38100" lIns="38100" bIns="38100" rIns="38100"/>
            <a:lstStyle/>
            <a:p>
              <a:pPr algn="ctr">
                <a:lnSpc>
                  <a:spcPts val="2303"/>
                </a:lnSpc>
              </a:pPr>
            </a:p>
          </p:txBody>
        </p:sp>
      </p:grpSp>
      <p:sp>
        <p:nvSpPr>
          <p:cNvPr name="TextBox 36" id="36"/>
          <p:cNvSpPr txBox="true"/>
          <p:nvPr/>
        </p:nvSpPr>
        <p:spPr>
          <a:xfrm rot="0">
            <a:off x="11244489" y="1620739"/>
            <a:ext cx="2509321" cy="322867"/>
          </a:xfrm>
          <a:prstGeom prst="rect">
            <a:avLst/>
          </a:prstGeom>
        </p:spPr>
        <p:txBody>
          <a:bodyPr anchor="t" rtlCol="false" tIns="0" lIns="0" bIns="0" rIns="0">
            <a:spAutoFit/>
          </a:bodyPr>
          <a:lstStyle/>
          <a:p>
            <a:pPr algn="l" marL="0" indent="0" lvl="0">
              <a:lnSpc>
                <a:spcPts val="2623"/>
              </a:lnSpc>
            </a:pPr>
            <a:r>
              <a:rPr lang="en-US" b="true" sz="2242" spc="73">
                <a:solidFill>
                  <a:srgbClr val="F8F6FF"/>
                </a:solidFill>
                <a:latin typeface="Catamaran Bold"/>
                <a:ea typeface="Catamaran Bold"/>
                <a:cs typeface="Catamaran Bold"/>
                <a:sym typeface="Catamaran Bold"/>
              </a:rPr>
              <a:t>Draft 2: Claude</a:t>
            </a:r>
          </a:p>
        </p:txBody>
      </p:sp>
      <p:grpSp>
        <p:nvGrpSpPr>
          <p:cNvPr name="Group 37" id="37"/>
          <p:cNvGrpSpPr/>
          <p:nvPr/>
        </p:nvGrpSpPr>
        <p:grpSpPr>
          <a:xfrm rot="0">
            <a:off x="11068847" y="3499670"/>
            <a:ext cx="6871664" cy="6402596"/>
            <a:chOff x="0" y="0"/>
            <a:chExt cx="2824309" cy="2631518"/>
          </a:xfrm>
        </p:grpSpPr>
        <p:sp>
          <p:nvSpPr>
            <p:cNvPr name="Freeform 38" id="38"/>
            <p:cNvSpPr/>
            <p:nvPr/>
          </p:nvSpPr>
          <p:spPr>
            <a:xfrm flipH="false" flipV="false" rot="0">
              <a:off x="0" y="0"/>
              <a:ext cx="2824309" cy="2631518"/>
            </a:xfrm>
            <a:custGeom>
              <a:avLst/>
              <a:gdLst/>
              <a:ahLst/>
              <a:cxnLst/>
              <a:rect r="r" b="b" t="t" l="l"/>
              <a:pathLst>
                <a:path h="2631518" w="2824309">
                  <a:moveTo>
                    <a:pt x="16900" y="0"/>
                  </a:moveTo>
                  <a:lnTo>
                    <a:pt x="2807409" y="0"/>
                  </a:lnTo>
                  <a:cubicBezTo>
                    <a:pt x="2816743" y="0"/>
                    <a:pt x="2824309" y="7566"/>
                    <a:pt x="2824309" y="16900"/>
                  </a:cubicBezTo>
                  <a:lnTo>
                    <a:pt x="2824309" y="2614619"/>
                  </a:lnTo>
                  <a:cubicBezTo>
                    <a:pt x="2824309" y="2619101"/>
                    <a:pt x="2822528" y="2623399"/>
                    <a:pt x="2819359" y="2626569"/>
                  </a:cubicBezTo>
                  <a:cubicBezTo>
                    <a:pt x="2816190" y="2629738"/>
                    <a:pt x="2811891" y="2631518"/>
                    <a:pt x="2807409" y="2631518"/>
                  </a:cubicBezTo>
                  <a:lnTo>
                    <a:pt x="16900" y="2631518"/>
                  </a:lnTo>
                  <a:cubicBezTo>
                    <a:pt x="12418" y="2631518"/>
                    <a:pt x="8119" y="2629738"/>
                    <a:pt x="4950" y="2626569"/>
                  </a:cubicBezTo>
                  <a:cubicBezTo>
                    <a:pt x="1780" y="2623399"/>
                    <a:pt x="0" y="2619101"/>
                    <a:pt x="0" y="2614619"/>
                  </a:cubicBezTo>
                  <a:lnTo>
                    <a:pt x="0" y="16900"/>
                  </a:lnTo>
                  <a:cubicBezTo>
                    <a:pt x="0" y="12418"/>
                    <a:pt x="1780" y="8119"/>
                    <a:pt x="4950" y="4950"/>
                  </a:cubicBezTo>
                  <a:cubicBezTo>
                    <a:pt x="8119" y="1780"/>
                    <a:pt x="12418" y="0"/>
                    <a:pt x="16900" y="0"/>
                  </a:cubicBezTo>
                  <a:close/>
                </a:path>
              </a:pathLst>
            </a:custGeom>
            <a:solidFill>
              <a:srgbClr val="FEFEFE"/>
            </a:solidFill>
            <a:ln w="28575" cap="sq">
              <a:solidFill>
                <a:srgbClr val="E1B076"/>
              </a:solidFill>
              <a:prstDash val="solid"/>
              <a:miter/>
            </a:ln>
          </p:spPr>
        </p:sp>
        <p:sp>
          <p:nvSpPr>
            <p:cNvPr name="TextBox 39" id="39"/>
            <p:cNvSpPr txBox="true"/>
            <p:nvPr/>
          </p:nvSpPr>
          <p:spPr>
            <a:xfrm>
              <a:off x="0" y="-28575"/>
              <a:ext cx="2824309" cy="2660093"/>
            </a:xfrm>
            <a:prstGeom prst="rect">
              <a:avLst/>
            </a:prstGeom>
          </p:spPr>
          <p:txBody>
            <a:bodyPr anchor="ctr" rtlCol="false" tIns="38100" lIns="38100" bIns="38100" rIns="38100"/>
            <a:lstStyle/>
            <a:p>
              <a:pPr algn="l">
                <a:lnSpc>
                  <a:spcPts val="2677"/>
                </a:lnSpc>
              </a:pPr>
            </a:p>
          </p:txBody>
        </p:sp>
      </p:grpSp>
      <p:sp>
        <p:nvSpPr>
          <p:cNvPr name="TextBox 40" id="40"/>
          <p:cNvSpPr txBox="true"/>
          <p:nvPr/>
        </p:nvSpPr>
        <p:spPr>
          <a:xfrm rot="0">
            <a:off x="11244489" y="2368284"/>
            <a:ext cx="6190453" cy="776352"/>
          </a:xfrm>
          <a:prstGeom prst="rect">
            <a:avLst/>
          </a:prstGeom>
        </p:spPr>
        <p:txBody>
          <a:bodyPr anchor="t" rtlCol="false" tIns="0" lIns="0" bIns="0" rIns="0">
            <a:spAutoFit/>
          </a:bodyPr>
          <a:lstStyle/>
          <a:p>
            <a:pPr algn="l">
              <a:lnSpc>
                <a:spcPts val="3212"/>
              </a:lnSpc>
              <a:spcBef>
                <a:spcPct val="0"/>
              </a:spcBef>
            </a:pPr>
            <a:r>
              <a:rPr lang="en-US" sz="1959" strike="noStrike" u="none">
                <a:solidFill>
                  <a:srgbClr val="231F20"/>
                </a:solidFill>
                <a:latin typeface="TT Firs Neue"/>
                <a:ea typeface="TT Firs Neue"/>
                <a:cs typeface="TT Firs Neue"/>
                <a:sym typeface="TT Firs Neue"/>
              </a:rPr>
              <a:t>The user </a:t>
            </a:r>
            <a:r>
              <a:rPr lang="en-US" sz="1959" strike="noStrike" u="none">
                <a:solidFill>
                  <a:srgbClr val="231F20"/>
                </a:solidFill>
                <a:latin typeface="TT Firs Neue"/>
                <a:ea typeface="TT Firs Neue"/>
                <a:cs typeface="TT Firs Neue"/>
                <a:sym typeface="TT Firs Neue"/>
              </a:rPr>
              <a:t>dec</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de</a:t>
            </a:r>
            <a:r>
              <a:rPr lang="en-US" sz="1959" strike="noStrike" u="none">
                <a:solidFill>
                  <a:srgbClr val="231F20"/>
                </a:solidFill>
                <a:latin typeface="TT Firs Neue"/>
                <a:ea typeface="TT Firs Neue"/>
                <a:cs typeface="TT Firs Neue"/>
                <a:sym typeface="TT Firs Neue"/>
              </a:rPr>
              <a:t>s. The chatbot suggests</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v</a:t>
            </a:r>
            <a:r>
              <a:rPr lang="en-US" sz="1959" strike="noStrike" u="none">
                <a:solidFill>
                  <a:srgbClr val="231F20"/>
                </a:solidFill>
                <a:latin typeface="TT Firs Neue"/>
                <a:ea typeface="TT Firs Neue"/>
                <a:cs typeface="TT Firs Neue"/>
                <a:sym typeface="TT Firs Neue"/>
              </a:rPr>
              <a:t>er </a:t>
            </a:r>
            <a:r>
              <a:rPr lang="en-US" sz="1959" strike="noStrike" u="none">
                <a:solidFill>
                  <a:srgbClr val="231F20"/>
                </a:solidFill>
                <a:latin typeface="TT Firs Neue"/>
                <a:ea typeface="TT Firs Neue"/>
                <a:cs typeface="TT Firs Neue"/>
                <a:sym typeface="TT Firs Neue"/>
              </a:rPr>
              <a:t>as</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um</a:t>
            </a:r>
            <a:r>
              <a:rPr lang="en-US" sz="1959" strike="noStrike" u="none">
                <a:solidFill>
                  <a:srgbClr val="231F20"/>
                </a:solidFill>
                <a:latin typeface="TT Firs Neue"/>
                <a:ea typeface="TT Firs Neue"/>
                <a:cs typeface="TT Firs Neue"/>
                <a:sym typeface="TT Firs Neue"/>
              </a:rPr>
              <a:t>es</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ve</a:t>
            </a:r>
            <a:r>
              <a:rPr lang="en-US" sz="1959" strike="noStrike" u="none">
                <a:solidFill>
                  <a:srgbClr val="231F20"/>
                </a:solidFill>
                <a:latin typeface="TT Firs Neue"/>
                <a:ea typeface="TT Firs Neue"/>
                <a:cs typeface="TT Firs Neue"/>
                <a:sym typeface="TT Firs Neue"/>
              </a:rPr>
              <a:t>ry</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set</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ing</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c</a:t>
            </a:r>
            <a:r>
              <a:rPr lang="en-US" sz="1959" strike="noStrike" u="none">
                <a:solidFill>
                  <a:srgbClr val="231F20"/>
                </a:solidFill>
                <a:latin typeface="TT Firs Neue"/>
                <a:ea typeface="TT Firs Neue"/>
                <a:cs typeface="TT Firs Neue"/>
                <a:sym typeface="TT Firs Neue"/>
              </a:rPr>
              <a:t>an </a:t>
            </a:r>
            <a:r>
              <a:rPr lang="en-US" sz="1959" strike="noStrike" u="none">
                <a:solidFill>
                  <a:srgbClr val="231F20"/>
                </a:solidFill>
                <a:latin typeface="TT Firs Neue"/>
                <a:ea typeface="TT Firs Neue"/>
                <a:cs typeface="TT Firs Neue"/>
                <a:sym typeface="TT Firs Neue"/>
              </a:rPr>
              <a:t>b</a:t>
            </a:r>
            <a:r>
              <a:rPr lang="en-US" sz="1959" strike="noStrike" u="none">
                <a:solidFill>
                  <a:srgbClr val="231F20"/>
                </a:solidFill>
                <a:latin typeface="TT Firs Neue"/>
                <a:ea typeface="TT Firs Neue"/>
                <a:cs typeface="TT Firs Neue"/>
                <a:sym typeface="TT Firs Neue"/>
              </a:rPr>
              <a:t>e </a:t>
            </a:r>
            <a:r>
              <a:rPr lang="en-US" sz="1959" strike="noStrike" u="none">
                <a:solidFill>
                  <a:srgbClr val="231F20"/>
                </a:solidFill>
                <a:latin typeface="TT Firs Neue"/>
                <a:ea typeface="TT Firs Neue"/>
                <a:cs typeface="TT Firs Neue"/>
                <a:sym typeface="TT Firs Neue"/>
              </a:rPr>
              <a:t>c</a:t>
            </a:r>
            <a:r>
              <a:rPr lang="en-US" sz="1959" strike="noStrike" u="none">
                <a:solidFill>
                  <a:srgbClr val="231F20"/>
                </a:solidFill>
                <a:latin typeface="TT Firs Neue"/>
                <a:ea typeface="TT Firs Neue"/>
                <a:cs typeface="TT Firs Neue"/>
                <a:sym typeface="TT Firs Neue"/>
              </a:rPr>
              <a:t>han</a:t>
            </a:r>
            <a:r>
              <a:rPr lang="en-US" sz="1959" strike="noStrike" u="none">
                <a:solidFill>
                  <a:srgbClr val="231F20"/>
                </a:solidFill>
                <a:latin typeface="TT Firs Neue"/>
                <a:ea typeface="TT Firs Neue"/>
                <a:cs typeface="TT Firs Neue"/>
                <a:sym typeface="TT Firs Neue"/>
              </a:rPr>
              <a:t>ge</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 at a</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y time</a:t>
            </a:r>
            <a:r>
              <a:rPr lang="en-US" sz="1959" strike="noStrike" u="none">
                <a:solidFill>
                  <a:srgbClr val="231F20"/>
                </a:solidFill>
                <a:latin typeface="TT Firs Neue"/>
                <a:ea typeface="TT Firs Neue"/>
                <a:cs typeface="TT Firs Neue"/>
                <a:sym typeface="TT Firs Neue"/>
              </a:rPr>
              <a:t>.</a:t>
            </a:r>
          </a:p>
        </p:txBody>
      </p:sp>
      <p:sp>
        <p:nvSpPr>
          <p:cNvPr name="TextBox 41" id="41"/>
          <p:cNvSpPr txBox="true"/>
          <p:nvPr/>
        </p:nvSpPr>
        <p:spPr>
          <a:xfrm rot="0">
            <a:off x="11070773" y="3617132"/>
            <a:ext cx="6869739" cy="6071860"/>
          </a:xfrm>
          <a:prstGeom prst="rect">
            <a:avLst/>
          </a:prstGeom>
        </p:spPr>
        <p:txBody>
          <a:bodyPr anchor="t" rtlCol="false" tIns="0" lIns="0" bIns="0" rIns="0">
            <a:spAutoFit/>
          </a:bodyPr>
          <a:lstStyle/>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Onboarding: Set up or skip; customize font, size, spacing, background, line length, and read-aloud.</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Text Input: Paste/upload PDF, DOCX, or TXT; try a sample, preview, select sections, and check word</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Reading Level: Choose Easy, Medium, or Advanced with previews; control term explanations.</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Text Display: Linked side-by-side text, sentence matching, bold key terms, explanation controls, focus mode, and Undo All.</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Readability Scores: Optional score card showing reading ease, and sentence length before/after.</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Adjustments: Simpler, Not So Simple, Explain/Keep Term, Shorter, Add Example, and Show Changes.</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Error Handling: Handle empty/long text, unsupported files, scanned PDFs, and failures without blaming user</a:t>
            </a:r>
          </a:p>
        </p:txBody>
      </p:sp>
      <p:sp>
        <p:nvSpPr>
          <p:cNvPr name="TextBox 42" id="42"/>
          <p:cNvSpPr txBox="true"/>
          <p:nvPr/>
        </p:nvSpPr>
        <p:spPr>
          <a:xfrm rot="0">
            <a:off x="640847" y="228075"/>
            <a:ext cx="16618453" cy="601346"/>
          </a:xfrm>
          <a:prstGeom prst="rect">
            <a:avLst/>
          </a:prstGeom>
        </p:spPr>
        <p:txBody>
          <a:bodyPr anchor="t" rtlCol="false" tIns="0" lIns="0" bIns="0" rIns="0">
            <a:spAutoFit/>
          </a:bodyPr>
          <a:lstStyle/>
          <a:p>
            <a:pPr algn="l">
              <a:lnSpc>
                <a:spcPts val="3800"/>
              </a:lnSpc>
            </a:pPr>
            <a:r>
              <a:rPr lang="en-US" sz="3800" spc="-110">
                <a:solidFill>
                  <a:srgbClr val="0B0A0A"/>
                </a:solidFill>
                <a:latin typeface="Heading Now 71-78"/>
                <a:ea typeface="Heading Now 71-78"/>
                <a:cs typeface="Heading Now 71-78"/>
                <a:sym typeface="Heading Now 71-78"/>
              </a:rPr>
              <a:t>Inclusive Reading Assistant: </a:t>
            </a:r>
            <a:r>
              <a:rPr lang="en-US" sz="3800" spc="-110">
                <a:solidFill>
                  <a:srgbClr val="E1B076"/>
                </a:solidFill>
                <a:latin typeface="Heading Now 71-78"/>
                <a:ea typeface="Heading Now 71-78"/>
                <a:cs typeface="Heading Now 71-78"/>
                <a:sym typeface="Heading Now 71-78"/>
              </a:rPr>
              <a:t>Milestone 1 </a:t>
            </a:r>
            <a:r>
              <a:rPr lang="en-US" sz="3800" spc="-110">
                <a:solidFill>
                  <a:srgbClr val="0B0A0A"/>
                </a:solidFill>
                <a:latin typeface="Heading Now 71-78"/>
                <a:ea typeface="Heading Now 71-78"/>
                <a:cs typeface="Heading Now 71-78"/>
                <a:sym typeface="Heading Now 71-78"/>
              </a:rPr>
              <a:t>Concept Drafts</a:t>
            </a:r>
          </a:p>
        </p:txBody>
      </p:sp>
      <p:sp>
        <p:nvSpPr>
          <p:cNvPr name="Freeform 43" id="43"/>
          <p:cNvSpPr/>
          <p:nvPr/>
        </p:nvSpPr>
        <p:spPr>
          <a:xfrm flipH="true" flipV="false" rot="-1862406">
            <a:off x="629518" y="8597367"/>
            <a:ext cx="741433" cy="1186293"/>
          </a:xfrm>
          <a:custGeom>
            <a:avLst/>
            <a:gdLst/>
            <a:ahLst/>
            <a:cxnLst/>
            <a:rect r="r" b="b" t="t" l="l"/>
            <a:pathLst>
              <a:path h="1186293" w="741433">
                <a:moveTo>
                  <a:pt x="741434" y="0"/>
                </a:moveTo>
                <a:lnTo>
                  <a:pt x="0" y="0"/>
                </a:lnTo>
                <a:lnTo>
                  <a:pt x="0" y="1186294"/>
                </a:lnTo>
                <a:lnTo>
                  <a:pt x="741434" y="1186294"/>
                </a:lnTo>
                <a:lnTo>
                  <a:pt x="74143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4" id="44"/>
          <p:cNvSpPr/>
          <p:nvPr/>
        </p:nvSpPr>
        <p:spPr>
          <a:xfrm flipH="false" flipV="false" rot="0">
            <a:off x="17015205" y="366768"/>
            <a:ext cx="925307" cy="925307"/>
          </a:xfrm>
          <a:custGeom>
            <a:avLst/>
            <a:gdLst/>
            <a:ahLst/>
            <a:cxnLst/>
            <a:rect r="r" b="b" t="t" l="l"/>
            <a:pathLst>
              <a:path h="925307" w="925307">
                <a:moveTo>
                  <a:pt x="0" y="0"/>
                </a:moveTo>
                <a:lnTo>
                  <a:pt x="925306" y="0"/>
                </a:lnTo>
                <a:lnTo>
                  <a:pt x="925306" y="925306"/>
                </a:lnTo>
                <a:lnTo>
                  <a:pt x="0" y="9253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5" id="45"/>
          <p:cNvSpPr/>
          <p:nvPr/>
        </p:nvSpPr>
        <p:spPr>
          <a:xfrm flipH="false" flipV="false" rot="0">
            <a:off x="16261812" y="1028700"/>
            <a:ext cx="1173130" cy="1173130"/>
          </a:xfrm>
          <a:custGeom>
            <a:avLst/>
            <a:gdLst/>
            <a:ahLst/>
            <a:cxnLst/>
            <a:rect r="r" b="b" t="t" l="l"/>
            <a:pathLst>
              <a:path h="1173130" w="1173130">
                <a:moveTo>
                  <a:pt x="0" y="0"/>
                </a:moveTo>
                <a:lnTo>
                  <a:pt x="1173129" y="0"/>
                </a:lnTo>
                <a:lnTo>
                  <a:pt x="1173129" y="1173130"/>
                </a:lnTo>
                <a:lnTo>
                  <a:pt x="0" y="11731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113761" y="1129600"/>
            <a:ext cx="2684962" cy="625936"/>
            <a:chOff x="0" y="0"/>
            <a:chExt cx="1103541" cy="257265"/>
          </a:xfrm>
        </p:grpSpPr>
        <p:sp>
          <p:nvSpPr>
            <p:cNvPr name="Freeform 4" id="4"/>
            <p:cNvSpPr/>
            <p:nvPr/>
          </p:nvSpPr>
          <p:spPr>
            <a:xfrm flipH="false" flipV="false" rot="0">
              <a:off x="0" y="0"/>
              <a:ext cx="1103541" cy="257265"/>
            </a:xfrm>
            <a:custGeom>
              <a:avLst/>
              <a:gdLst/>
              <a:ahLst/>
              <a:cxnLst/>
              <a:rect r="r" b="b" t="t" l="l"/>
              <a:pathLst>
                <a:path h="257265" w="1103541">
                  <a:moveTo>
                    <a:pt x="43252" y="0"/>
                  </a:moveTo>
                  <a:lnTo>
                    <a:pt x="1060290" y="0"/>
                  </a:lnTo>
                  <a:cubicBezTo>
                    <a:pt x="1084177" y="0"/>
                    <a:pt x="1103541" y="19364"/>
                    <a:pt x="1103541" y="43252"/>
                  </a:cubicBezTo>
                  <a:lnTo>
                    <a:pt x="1103541" y="214013"/>
                  </a:lnTo>
                  <a:cubicBezTo>
                    <a:pt x="1103541" y="237900"/>
                    <a:pt x="1084177" y="257265"/>
                    <a:pt x="1060290" y="257265"/>
                  </a:cubicBezTo>
                  <a:lnTo>
                    <a:pt x="43252" y="257265"/>
                  </a:lnTo>
                  <a:cubicBezTo>
                    <a:pt x="19364" y="257265"/>
                    <a:pt x="0" y="237900"/>
                    <a:pt x="0" y="214013"/>
                  </a:cubicBezTo>
                  <a:lnTo>
                    <a:pt x="0" y="43252"/>
                  </a:lnTo>
                  <a:cubicBezTo>
                    <a:pt x="0" y="19364"/>
                    <a:pt x="19364" y="0"/>
                    <a:pt x="43252" y="0"/>
                  </a:cubicBezTo>
                  <a:close/>
                </a:path>
              </a:pathLst>
            </a:custGeom>
            <a:solidFill>
              <a:srgbClr val="0007AB"/>
            </a:solidFill>
          </p:spPr>
        </p:sp>
        <p:sp>
          <p:nvSpPr>
            <p:cNvPr name="TextBox 5" id="5"/>
            <p:cNvSpPr txBox="true"/>
            <p:nvPr/>
          </p:nvSpPr>
          <p:spPr>
            <a:xfrm>
              <a:off x="0" y="0"/>
              <a:ext cx="1103541" cy="257265"/>
            </a:xfrm>
            <a:prstGeom prst="rect">
              <a:avLst/>
            </a:prstGeom>
          </p:spPr>
          <p:txBody>
            <a:bodyPr anchor="ctr" rtlCol="false" tIns="38100" lIns="38100" bIns="38100" rIns="38100"/>
            <a:lstStyle/>
            <a:p>
              <a:pPr algn="ctr">
                <a:lnSpc>
                  <a:spcPts val="2303"/>
                </a:lnSpc>
              </a:pPr>
            </a:p>
          </p:txBody>
        </p:sp>
      </p:grpSp>
      <p:grpSp>
        <p:nvGrpSpPr>
          <p:cNvPr name="Group 6" id="6"/>
          <p:cNvGrpSpPr/>
          <p:nvPr/>
        </p:nvGrpSpPr>
        <p:grpSpPr>
          <a:xfrm rot="0">
            <a:off x="437409" y="3870147"/>
            <a:ext cx="2901917" cy="1056370"/>
            <a:chOff x="0" y="0"/>
            <a:chExt cx="1192711" cy="434176"/>
          </a:xfrm>
        </p:grpSpPr>
        <p:sp>
          <p:nvSpPr>
            <p:cNvPr name="Freeform 7" id="7"/>
            <p:cNvSpPr/>
            <p:nvPr/>
          </p:nvSpPr>
          <p:spPr>
            <a:xfrm flipH="false" flipV="false" rot="0">
              <a:off x="0" y="0"/>
              <a:ext cx="1192711" cy="434176"/>
            </a:xfrm>
            <a:custGeom>
              <a:avLst/>
              <a:gdLst/>
              <a:ahLst/>
              <a:cxnLst/>
              <a:rect r="r" b="b" t="t" l="l"/>
              <a:pathLst>
                <a:path h="434176" w="1192711">
                  <a:moveTo>
                    <a:pt x="53357" y="0"/>
                  </a:moveTo>
                  <a:lnTo>
                    <a:pt x="1139354" y="0"/>
                  </a:lnTo>
                  <a:cubicBezTo>
                    <a:pt x="1168822" y="0"/>
                    <a:pt x="1192711" y="23889"/>
                    <a:pt x="1192711" y="53357"/>
                  </a:cubicBezTo>
                  <a:lnTo>
                    <a:pt x="1192711" y="380819"/>
                  </a:lnTo>
                  <a:cubicBezTo>
                    <a:pt x="1192711" y="394970"/>
                    <a:pt x="1187090" y="408542"/>
                    <a:pt x="1177083" y="418548"/>
                  </a:cubicBezTo>
                  <a:cubicBezTo>
                    <a:pt x="1167077" y="428555"/>
                    <a:pt x="1153505" y="434176"/>
                    <a:pt x="1139354" y="434176"/>
                  </a:cubicBezTo>
                  <a:lnTo>
                    <a:pt x="53357" y="434176"/>
                  </a:lnTo>
                  <a:cubicBezTo>
                    <a:pt x="23889" y="434176"/>
                    <a:pt x="0" y="410288"/>
                    <a:pt x="0" y="380819"/>
                  </a:cubicBezTo>
                  <a:lnTo>
                    <a:pt x="0" y="53357"/>
                  </a:lnTo>
                  <a:cubicBezTo>
                    <a:pt x="0" y="23889"/>
                    <a:pt x="23889" y="0"/>
                    <a:pt x="53357" y="0"/>
                  </a:cubicBezTo>
                  <a:close/>
                </a:path>
              </a:pathLst>
            </a:custGeom>
            <a:solidFill>
              <a:srgbClr val="DCDDE3"/>
            </a:solidFill>
          </p:spPr>
        </p:sp>
        <p:sp>
          <p:nvSpPr>
            <p:cNvPr name="TextBox 8" id="8"/>
            <p:cNvSpPr txBox="true"/>
            <p:nvPr/>
          </p:nvSpPr>
          <p:spPr>
            <a:xfrm>
              <a:off x="0" y="0"/>
              <a:ext cx="1192711" cy="434176"/>
            </a:xfrm>
            <a:prstGeom prst="rect">
              <a:avLst/>
            </a:prstGeom>
          </p:spPr>
          <p:txBody>
            <a:bodyPr anchor="ctr" rtlCol="false" tIns="38100" lIns="38100" bIns="38100" rIns="38100"/>
            <a:lstStyle/>
            <a:p>
              <a:pPr algn="ctr">
                <a:lnSpc>
                  <a:spcPts val="2303"/>
                </a:lnSpc>
              </a:pPr>
            </a:p>
          </p:txBody>
        </p:sp>
      </p:grpSp>
      <p:sp>
        <p:nvSpPr>
          <p:cNvPr name="TextBox 9" id="9"/>
          <p:cNvSpPr txBox="true"/>
          <p:nvPr/>
        </p:nvSpPr>
        <p:spPr>
          <a:xfrm rot="0">
            <a:off x="4289402" y="1297525"/>
            <a:ext cx="2509321" cy="322867"/>
          </a:xfrm>
          <a:prstGeom prst="rect">
            <a:avLst/>
          </a:prstGeom>
        </p:spPr>
        <p:txBody>
          <a:bodyPr anchor="t" rtlCol="false" tIns="0" lIns="0" bIns="0" rIns="0">
            <a:spAutoFit/>
          </a:bodyPr>
          <a:lstStyle/>
          <a:p>
            <a:pPr algn="l" marL="0" indent="0" lvl="0">
              <a:lnSpc>
                <a:spcPts val="2623"/>
              </a:lnSpc>
            </a:pPr>
            <a:r>
              <a:rPr lang="en-US" b="true" sz="2242" spc="73">
                <a:solidFill>
                  <a:srgbClr val="F8F6FF"/>
                </a:solidFill>
                <a:latin typeface="Catamaran Bold"/>
                <a:ea typeface="Catamaran Bold"/>
                <a:cs typeface="Catamaran Bold"/>
                <a:sym typeface="Catamaran Bold"/>
              </a:rPr>
              <a:t>Draft 1: ChatGPT</a:t>
            </a:r>
          </a:p>
        </p:txBody>
      </p:sp>
      <p:sp>
        <p:nvSpPr>
          <p:cNvPr name="TextBox 10" id="10"/>
          <p:cNvSpPr txBox="true"/>
          <p:nvPr/>
        </p:nvSpPr>
        <p:spPr>
          <a:xfrm rot="0">
            <a:off x="544470" y="4256399"/>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Sample conver</a:t>
            </a:r>
            <a:r>
              <a:rPr lang="en-US" b="true" sz="2005" spc="66">
                <a:solidFill>
                  <a:srgbClr val="191337"/>
                </a:solidFill>
                <a:latin typeface="Catamaran Bold"/>
                <a:ea typeface="Catamaran Bold"/>
                <a:cs typeface="Catamaran Bold"/>
                <a:sym typeface="Catamaran Bold"/>
              </a:rPr>
              <a:t>sation </a:t>
            </a:r>
          </a:p>
        </p:txBody>
      </p:sp>
      <p:grpSp>
        <p:nvGrpSpPr>
          <p:cNvPr name="Group 11" id="11"/>
          <p:cNvGrpSpPr/>
          <p:nvPr/>
        </p:nvGrpSpPr>
        <p:grpSpPr>
          <a:xfrm rot="0">
            <a:off x="3232265" y="4114435"/>
            <a:ext cx="611393" cy="567792"/>
            <a:chOff x="0" y="0"/>
            <a:chExt cx="476043" cy="442094"/>
          </a:xfrm>
        </p:grpSpPr>
        <p:sp>
          <p:nvSpPr>
            <p:cNvPr name="Freeform 12" id="12"/>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13" id="13"/>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grpSp>
        <p:nvGrpSpPr>
          <p:cNvPr name="Group 14" id="14"/>
          <p:cNvGrpSpPr/>
          <p:nvPr/>
        </p:nvGrpSpPr>
        <p:grpSpPr>
          <a:xfrm rot="0">
            <a:off x="4113761" y="2002441"/>
            <a:ext cx="6698289" cy="4767914"/>
            <a:chOff x="0" y="0"/>
            <a:chExt cx="2753050" cy="1959651"/>
          </a:xfrm>
        </p:grpSpPr>
        <p:sp>
          <p:nvSpPr>
            <p:cNvPr name="Freeform 15" id="15"/>
            <p:cNvSpPr/>
            <p:nvPr/>
          </p:nvSpPr>
          <p:spPr>
            <a:xfrm flipH="false" flipV="false" rot="0">
              <a:off x="0" y="0"/>
              <a:ext cx="2753050" cy="1959651"/>
            </a:xfrm>
            <a:custGeom>
              <a:avLst/>
              <a:gdLst/>
              <a:ahLst/>
              <a:cxnLst/>
              <a:rect r="r" b="b" t="t" l="l"/>
              <a:pathLst>
                <a:path h="1959651" w="2753050">
                  <a:moveTo>
                    <a:pt x="17337" y="0"/>
                  </a:moveTo>
                  <a:lnTo>
                    <a:pt x="2735713" y="0"/>
                  </a:lnTo>
                  <a:cubicBezTo>
                    <a:pt x="2740311" y="0"/>
                    <a:pt x="2744721" y="1827"/>
                    <a:pt x="2747972" y="5078"/>
                  </a:cubicBezTo>
                  <a:cubicBezTo>
                    <a:pt x="2751224" y="8329"/>
                    <a:pt x="2753050" y="12739"/>
                    <a:pt x="2753050" y="17337"/>
                  </a:cubicBezTo>
                  <a:lnTo>
                    <a:pt x="2753050" y="1942314"/>
                  </a:lnTo>
                  <a:cubicBezTo>
                    <a:pt x="2753050" y="1946912"/>
                    <a:pt x="2751224" y="1951322"/>
                    <a:pt x="2747972" y="1954573"/>
                  </a:cubicBezTo>
                  <a:cubicBezTo>
                    <a:pt x="2744721" y="1957824"/>
                    <a:pt x="2740311" y="1959651"/>
                    <a:pt x="2735713" y="1959651"/>
                  </a:cubicBezTo>
                  <a:lnTo>
                    <a:pt x="17337" y="1959651"/>
                  </a:lnTo>
                  <a:cubicBezTo>
                    <a:pt x="12739" y="1959651"/>
                    <a:pt x="8329" y="1957824"/>
                    <a:pt x="5078" y="1954573"/>
                  </a:cubicBezTo>
                  <a:cubicBezTo>
                    <a:pt x="1827" y="1951322"/>
                    <a:pt x="0" y="1946912"/>
                    <a:pt x="0" y="1942314"/>
                  </a:cubicBezTo>
                  <a:lnTo>
                    <a:pt x="0" y="17337"/>
                  </a:lnTo>
                  <a:cubicBezTo>
                    <a:pt x="0" y="12739"/>
                    <a:pt x="1827" y="8329"/>
                    <a:pt x="5078" y="5078"/>
                  </a:cubicBezTo>
                  <a:cubicBezTo>
                    <a:pt x="8329" y="1827"/>
                    <a:pt x="12739" y="0"/>
                    <a:pt x="17337" y="0"/>
                  </a:cubicBezTo>
                  <a:close/>
                </a:path>
              </a:pathLst>
            </a:custGeom>
            <a:solidFill>
              <a:srgbClr val="FEFEFE"/>
            </a:solidFill>
            <a:ln w="28575" cap="sq">
              <a:solidFill>
                <a:srgbClr val="E1B076"/>
              </a:solidFill>
              <a:prstDash val="solid"/>
              <a:miter/>
            </a:ln>
          </p:spPr>
        </p:sp>
        <p:sp>
          <p:nvSpPr>
            <p:cNvPr name="TextBox 16" id="16"/>
            <p:cNvSpPr txBox="true"/>
            <p:nvPr/>
          </p:nvSpPr>
          <p:spPr>
            <a:xfrm>
              <a:off x="0" y="-28575"/>
              <a:ext cx="2753050" cy="1988226"/>
            </a:xfrm>
            <a:prstGeom prst="rect">
              <a:avLst/>
            </a:prstGeom>
          </p:spPr>
          <p:txBody>
            <a:bodyPr anchor="ctr" rtlCol="false" tIns="38100" lIns="38100" bIns="38100" rIns="38100"/>
            <a:lstStyle/>
            <a:p>
              <a:pPr algn="l">
                <a:lnSpc>
                  <a:spcPts val="2677"/>
                </a:lnSpc>
              </a:pPr>
            </a:p>
          </p:txBody>
        </p:sp>
      </p:grpSp>
      <p:sp>
        <p:nvSpPr>
          <p:cNvPr name="TextBox 17" id="17"/>
          <p:cNvSpPr txBox="true"/>
          <p:nvPr/>
        </p:nvSpPr>
        <p:spPr>
          <a:xfrm rot="0">
            <a:off x="4113761" y="2132287"/>
            <a:ext cx="6698289" cy="4446364"/>
          </a:xfrm>
          <a:prstGeom prst="rect">
            <a:avLst/>
          </a:prstGeom>
        </p:spPr>
        <p:txBody>
          <a:bodyPr anchor="t" rtlCol="false" tIns="0" lIns="0" bIns="0" rIns="0">
            <a:spAutoFit/>
          </a:bodyPr>
          <a:lstStyle/>
          <a:p>
            <a:pPr algn="l" marL="422963" indent="-211482" lvl="1">
              <a:lnSpc>
                <a:spcPts val="3212"/>
              </a:lnSpc>
              <a:spcBef>
                <a:spcPct val="0"/>
              </a:spcBef>
              <a:buAutoNum type="arabicPeriod" startAt="1"/>
            </a:pPr>
            <a:r>
              <a:rPr lang="en-US" sz="1959">
                <a:solidFill>
                  <a:srgbClr val="231F20"/>
                </a:solidFill>
                <a:latin typeface="TT Firs Neue"/>
                <a:ea typeface="TT Firs Neue"/>
                <a:cs typeface="TT Firs Neue"/>
                <a:sym typeface="TT Firs Neue"/>
              </a:rPr>
              <a:t>Stu</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Req</a:t>
            </a:r>
            <a:r>
              <a:rPr lang="en-US" sz="1959" strike="noStrike" u="none">
                <a:solidFill>
                  <a:srgbClr val="231F20"/>
                </a:solidFill>
                <a:latin typeface="TT Firs Neue"/>
                <a:ea typeface="TT Firs Neue"/>
                <a:cs typeface="TT Firs Neue"/>
                <a:sym typeface="TT Firs Neue"/>
              </a:rPr>
              <a:t>u</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st</a:t>
            </a:r>
            <a:r>
              <a:rPr lang="en-US" sz="1959" strike="noStrike" u="none">
                <a:solidFill>
                  <a:srgbClr val="231F20"/>
                </a:solidFill>
                <a:latin typeface="TT Firs Neue"/>
                <a:ea typeface="TT Firs Neue"/>
                <a:cs typeface="TT Firs Neue"/>
                <a:sym typeface="TT Firs Neue"/>
              </a:rPr>
              <a:t>s larg</a:t>
            </a:r>
            <a:r>
              <a:rPr lang="en-US" sz="1959" strike="noStrike" u="none">
                <a:solidFill>
                  <a:srgbClr val="231F20"/>
                </a:solidFill>
                <a:latin typeface="TT Firs Neue"/>
                <a:ea typeface="TT Firs Neue"/>
                <a:cs typeface="TT Firs Neue"/>
                <a:sym typeface="TT Firs Neue"/>
              </a:rPr>
              <a:t>e </a:t>
            </a:r>
            <a:r>
              <a:rPr lang="en-US" sz="1959" strike="noStrike" u="none">
                <a:solidFill>
                  <a:srgbClr val="231F20"/>
                </a:solidFill>
                <a:latin typeface="TT Firs Neue"/>
                <a:ea typeface="TT Firs Neue"/>
                <a:cs typeface="TT Firs Neue"/>
                <a:sym typeface="TT Firs Neue"/>
              </a:rPr>
              <a:t>tex</a:t>
            </a:r>
            <a:r>
              <a:rPr lang="en-US" sz="1959" strike="noStrike" u="none">
                <a:solidFill>
                  <a:srgbClr val="231F20"/>
                </a:solidFill>
                <a:latin typeface="TT Firs Neue"/>
                <a:ea typeface="TT Firs Neue"/>
                <a:cs typeface="TT Firs Neue"/>
                <a:sym typeface="TT Firs Neue"/>
              </a:rPr>
              <a:t>t, </a:t>
            </a:r>
            <a:r>
              <a:rPr lang="en-US" sz="1959" strike="noStrike" u="none">
                <a:solidFill>
                  <a:srgbClr val="231F20"/>
                </a:solidFill>
                <a:latin typeface="TT Firs Neue"/>
                <a:ea typeface="TT Firs Neue"/>
                <a:cs typeface="TT Firs Neue"/>
                <a:sym typeface="TT Firs Neue"/>
              </a:rPr>
              <a:t>w</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e spacing, and </a:t>
            </a:r>
            <a:r>
              <a:rPr lang="en-US" sz="1959" strike="noStrike" u="none">
                <a:solidFill>
                  <a:srgbClr val="231F20"/>
                </a:solidFill>
                <a:latin typeface="TT Firs Neue"/>
                <a:ea typeface="TT Firs Neue"/>
                <a:cs typeface="TT Firs Neue"/>
                <a:sym typeface="TT Firs Neue"/>
              </a:rPr>
              <a:t>bi</a:t>
            </a:r>
            <a:r>
              <a:rPr lang="en-US" sz="1959" strike="noStrike" u="none">
                <a:solidFill>
                  <a:srgbClr val="231F20"/>
                </a:solidFill>
                <a:latin typeface="TT Firs Neue"/>
                <a:ea typeface="TT Firs Neue"/>
                <a:cs typeface="TT Firs Neue"/>
                <a:sym typeface="TT Firs Neue"/>
              </a:rPr>
              <a:t>olo</a:t>
            </a:r>
            <a:r>
              <a:rPr lang="en-US" sz="1959" strike="noStrike" u="none">
                <a:solidFill>
                  <a:srgbClr val="231F20"/>
                </a:solidFill>
                <a:latin typeface="TT Firs Neue"/>
                <a:ea typeface="TT Firs Neue"/>
                <a:cs typeface="TT Firs Neue"/>
                <a:sym typeface="TT Firs Neue"/>
              </a:rPr>
              <a:t>gy</a:t>
            </a:r>
            <a:r>
              <a:rPr lang="en-US" sz="1959" strike="noStrike" u="none">
                <a:solidFill>
                  <a:srgbClr val="231F20"/>
                </a:solidFill>
                <a:latin typeface="TT Firs Neue"/>
                <a:ea typeface="TT Firs Neue"/>
                <a:cs typeface="TT Firs Neue"/>
                <a:sym typeface="TT Firs Neue"/>
              </a:rPr>
              <a:t> text </a:t>
            </a:r>
            <a:r>
              <a:rPr lang="en-US" sz="1959" strike="noStrike" u="none">
                <a:solidFill>
                  <a:srgbClr val="231F20"/>
                </a:solidFill>
                <a:latin typeface="TT Firs Neue"/>
                <a:ea typeface="TT Firs Neue"/>
                <a:cs typeface="TT Firs Neue"/>
                <a:sym typeface="TT Firs Neue"/>
              </a:rPr>
              <a:t>sim</a:t>
            </a:r>
            <a:r>
              <a:rPr lang="en-US" sz="1959" strike="noStrike" u="none">
                <a:solidFill>
                  <a:srgbClr val="231F20"/>
                </a:solidFill>
                <a:latin typeface="TT Firs Neue"/>
                <a:ea typeface="TT Firs Neue"/>
                <a:cs typeface="TT Firs Neue"/>
                <a:sym typeface="TT Firs Neue"/>
              </a:rPr>
              <a:t>p</a:t>
            </a:r>
            <a:r>
              <a:rPr lang="en-US" sz="1959" strike="noStrike" u="none">
                <a:solidFill>
                  <a:srgbClr val="231F20"/>
                </a:solidFill>
                <a:latin typeface="TT Firs Neue"/>
                <a:ea typeface="TT Firs Neue"/>
                <a:cs typeface="TT Firs Neue"/>
                <a:sym typeface="TT Firs Neue"/>
              </a:rPr>
              <a:t>l</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f</a:t>
            </a:r>
            <a:r>
              <a:rPr lang="en-US" sz="1959" strike="noStrike" u="none">
                <a:solidFill>
                  <a:srgbClr val="231F20"/>
                </a:solidFill>
                <a:latin typeface="TT Firs Neue"/>
                <a:ea typeface="TT Firs Neue"/>
                <a:cs typeface="TT Firs Neue"/>
                <a:sym typeface="TT Firs Neue"/>
              </a:rPr>
              <a:t>ica</a:t>
            </a:r>
            <a:r>
              <a:rPr lang="en-US" sz="1959" strike="noStrike" u="none">
                <a:solidFill>
                  <a:srgbClr val="231F20"/>
                </a:solidFill>
                <a:latin typeface="TT Firs Neue"/>
                <a:ea typeface="TT Firs Neue"/>
                <a:cs typeface="TT Firs Neue"/>
                <a:sym typeface="TT Firs Neue"/>
              </a:rPr>
              <a:t>ti</a:t>
            </a:r>
            <a:r>
              <a:rPr lang="en-US" sz="1959" strike="noStrike" u="none">
                <a:solidFill>
                  <a:srgbClr val="231F20"/>
                </a:solidFill>
                <a:latin typeface="TT Firs Neue"/>
                <a:ea typeface="TT Firs Neue"/>
                <a:cs typeface="TT Firs Neue"/>
                <a:sym typeface="TT Firs Neue"/>
              </a:rPr>
              <a:t>on.</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Bot</a:t>
            </a:r>
            <a:r>
              <a:rPr lang="en-US" sz="1959" strike="noStrike" u="none">
                <a:solidFill>
                  <a:srgbClr val="231F20"/>
                </a:solidFill>
                <a:latin typeface="TT Firs Neue"/>
                <a:ea typeface="TT Firs Neue"/>
                <a:cs typeface="TT Firs Neue"/>
                <a:sym typeface="TT Firs Neue"/>
              </a:rPr>
              <a:t>: Co</a:t>
            </a:r>
            <a:r>
              <a:rPr lang="en-US" sz="1959" strike="noStrike" u="none">
                <a:solidFill>
                  <a:srgbClr val="231F20"/>
                </a:solidFill>
                <a:latin typeface="TT Firs Neue"/>
                <a:ea typeface="TT Firs Neue"/>
                <a:cs typeface="TT Firs Neue"/>
                <a:sym typeface="TT Firs Neue"/>
              </a:rPr>
              <a:t>nf</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m</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p</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ef</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en</a:t>
            </a:r>
            <a:r>
              <a:rPr lang="en-US" sz="1959" strike="noStrike" u="none">
                <a:solidFill>
                  <a:srgbClr val="231F20"/>
                </a:solidFill>
                <a:latin typeface="TT Firs Neue"/>
                <a:ea typeface="TT Firs Neue"/>
                <a:cs typeface="TT Firs Neue"/>
                <a:sym typeface="TT Firs Neue"/>
              </a:rPr>
              <a:t>c</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 and </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ks about</a:t>
            </a:r>
            <a:r>
              <a:rPr lang="en-US" sz="1959" strike="noStrike" u="none">
                <a:solidFill>
                  <a:srgbClr val="231F20"/>
                </a:solidFill>
                <a:latin typeface="TT Firs Neue"/>
                <a:ea typeface="TT Firs Neue"/>
                <a:cs typeface="TT Firs Neue"/>
                <a:sym typeface="TT Firs Neue"/>
              </a:rPr>
              <a:t> term</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explana</a:t>
            </a:r>
            <a:r>
              <a:rPr lang="en-US" sz="1959" strike="noStrike" u="none">
                <a:solidFill>
                  <a:srgbClr val="231F20"/>
                </a:solidFill>
                <a:latin typeface="TT Firs Neue"/>
                <a:ea typeface="TT Firs Neue"/>
                <a:cs typeface="TT Firs Neue"/>
                <a:sym typeface="TT Firs Neue"/>
              </a:rPr>
              <a:t>ti</a:t>
            </a:r>
            <a:r>
              <a:rPr lang="en-US" sz="1959" strike="noStrike" u="none">
                <a:solidFill>
                  <a:srgbClr val="231F20"/>
                </a:solidFill>
                <a:latin typeface="TT Firs Neue"/>
                <a:ea typeface="TT Firs Neue"/>
                <a:cs typeface="TT Firs Neue"/>
                <a:sym typeface="TT Firs Neue"/>
              </a:rPr>
              <a:t>ons</a:t>
            </a:r>
            <a:r>
              <a:rPr lang="en-US" sz="1959" strike="noStrike" u="none">
                <a:solidFill>
                  <a:srgbClr val="231F20"/>
                </a:solidFill>
                <a:latin typeface="TT Firs Neue"/>
                <a:ea typeface="TT Firs Neue"/>
                <a:cs typeface="TT Firs Neue"/>
                <a:sym typeface="TT Firs Neue"/>
              </a:rPr>
              <a:t>.</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Stu</a:t>
            </a:r>
            <a:r>
              <a:rPr lang="en-US" sz="1959" strike="noStrike" u="none">
                <a:solidFill>
                  <a:srgbClr val="231F20"/>
                </a:solidFill>
                <a:latin typeface="TT Firs Neue"/>
                <a:ea typeface="TT Firs Neue"/>
                <a:cs typeface="TT Firs Neue"/>
                <a:sym typeface="TT Firs Neue"/>
              </a:rPr>
              <a:t>de</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Choo</a:t>
            </a:r>
            <a:r>
              <a:rPr lang="en-US" sz="1959" strike="noStrike" u="none">
                <a:solidFill>
                  <a:srgbClr val="231F20"/>
                </a:solidFill>
                <a:latin typeface="TT Firs Neue"/>
                <a:ea typeface="TT Firs Neue"/>
                <a:cs typeface="TT Firs Neue"/>
                <a:sym typeface="TT Firs Neue"/>
              </a:rPr>
              <a:t>ses</a:t>
            </a:r>
            <a:r>
              <a:rPr lang="en-US" sz="1959" strike="noStrike" u="none">
                <a:solidFill>
                  <a:srgbClr val="231F20"/>
                </a:solidFill>
                <a:latin typeface="TT Firs Neue"/>
                <a:ea typeface="TT Firs Neue"/>
                <a:cs typeface="TT Firs Neue"/>
                <a:sym typeface="TT Firs Neue"/>
              </a:rPr>
              <a:t> h</a:t>
            </a:r>
            <a:r>
              <a:rPr lang="en-US" sz="1959" strike="noStrike" u="none">
                <a:solidFill>
                  <a:srgbClr val="231F20"/>
                </a:solidFill>
                <a:latin typeface="TT Firs Neue"/>
                <a:ea typeface="TT Firs Neue"/>
                <a:cs typeface="TT Firs Neue"/>
                <a:sym typeface="TT Firs Neue"/>
              </a:rPr>
              <a:t>ide</a:t>
            </a:r>
            <a:r>
              <a:rPr lang="en-US" sz="1959" strike="noStrike" u="none">
                <a:solidFill>
                  <a:srgbClr val="231F20"/>
                </a:solidFill>
                <a:latin typeface="TT Firs Neue"/>
                <a:ea typeface="TT Firs Neue"/>
                <a:cs typeface="TT Firs Neue"/>
                <a:sym typeface="TT Firs Neue"/>
              </a:rPr>
              <a:t>ab</a:t>
            </a:r>
            <a:r>
              <a:rPr lang="en-US" sz="1959" strike="noStrike" u="none">
                <a:solidFill>
                  <a:srgbClr val="231F20"/>
                </a:solidFill>
                <a:latin typeface="TT Firs Neue"/>
                <a:ea typeface="TT Firs Neue"/>
                <a:cs typeface="TT Firs Neue"/>
                <a:sym typeface="TT Firs Neue"/>
              </a:rPr>
              <a:t>le exp</a:t>
            </a:r>
            <a:r>
              <a:rPr lang="en-US" sz="1959" strike="noStrike" u="none">
                <a:solidFill>
                  <a:srgbClr val="231F20"/>
                </a:solidFill>
                <a:latin typeface="TT Firs Neue"/>
                <a:ea typeface="TT Firs Neue"/>
                <a:cs typeface="TT Firs Neue"/>
                <a:sym typeface="TT Firs Neue"/>
              </a:rPr>
              <a:t>lana</a:t>
            </a:r>
            <a:r>
              <a:rPr lang="en-US" sz="1959" strike="noStrike" u="none">
                <a:solidFill>
                  <a:srgbClr val="231F20"/>
                </a:solidFill>
                <a:latin typeface="TT Firs Neue"/>
                <a:ea typeface="TT Firs Neue"/>
                <a:cs typeface="TT Firs Neue"/>
                <a:sym typeface="TT Firs Neue"/>
              </a:rPr>
              <a:t>tions</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d pas</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es </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xt.</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Bot: O</a:t>
            </a:r>
            <a:r>
              <a:rPr lang="en-US" sz="1959" strike="noStrike" u="none">
                <a:solidFill>
                  <a:srgbClr val="231F20"/>
                </a:solidFill>
                <a:latin typeface="TT Firs Neue"/>
                <a:ea typeface="TT Firs Neue"/>
                <a:cs typeface="TT Firs Neue"/>
                <a:sym typeface="TT Firs Neue"/>
              </a:rPr>
              <a:t>ffers </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sy, M</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di</a:t>
            </a:r>
            <a:r>
              <a:rPr lang="en-US" sz="1959" strike="noStrike" u="none">
                <a:solidFill>
                  <a:srgbClr val="231F20"/>
                </a:solidFill>
                <a:latin typeface="TT Firs Neue"/>
                <a:ea typeface="TT Firs Neue"/>
                <a:cs typeface="TT Firs Neue"/>
                <a:sym typeface="TT Firs Neue"/>
              </a:rPr>
              <a:t>u</a:t>
            </a:r>
            <a:r>
              <a:rPr lang="en-US" sz="1959" strike="noStrike" u="none">
                <a:solidFill>
                  <a:srgbClr val="231F20"/>
                </a:solidFill>
                <a:latin typeface="TT Firs Neue"/>
                <a:ea typeface="TT Firs Neue"/>
                <a:cs typeface="TT Firs Neue"/>
                <a:sym typeface="TT Firs Neue"/>
              </a:rPr>
              <a:t>m</a:t>
            </a:r>
            <a:r>
              <a:rPr lang="en-US" sz="1959" strike="noStrike" u="none">
                <a:solidFill>
                  <a:srgbClr val="231F20"/>
                </a:solidFill>
                <a:latin typeface="TT Firs Neue"/>
                <a:ea typeface="TT Firs Neue"/>
                <a:cs typeface="TT Firs Neue"/>
                <a:sym typeface="TT Firs Neue"/>
              </a:rPr>
              <a:t>, o</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Adv</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nc</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Stu</a:t>
            </a:r>
            <a:r>
              <a:rPr lang="en-US" sz="1959" strike="noStrike" u="none">
                <a:solidFill>
                  <a:srgbClr val="231F20"/>
                </a:solidFill>
                <a:latin typeface="TT Firs Neue"/>
                <a:ea typeface="TT Firs Neue"/>
                <a:cs typeface="TT Firs Neue"/>
                <a:sym typeface="TT Firs Neue"/>
              </a:rPr>
              <a:t>dent: S</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le</a:t>
            </a:r>
            <a:r>
              <a:rPr lang="en-US" sz="1959" strike="noStrike" u="none">
                <a:solidFill>
                  <a:srgbClr val="231F20"/>
                </a:solidFill>
                <a:latin typeface="TT Firs Neue"/>
                <a:ea typeface="TT Firs Neue"/>
                <a:cs typeface="TT Firs Neue"/>
                <a:sym typeface="TT Firs Neue"/>
              </a:rPr>
              <a:t>cts</a:t>
            </a:r>
            <a:r>
              <a:rPr lang="en-US" sz="1959" strike="noStrike" u="none">
                <a:solidFill>
                  <a:srgbClr val="231F20"/>
                </a:solidFill>
                <a:latin typeface="TT Firs Neue"/>
                <a:ea typeface="TT Firs Neue"/>
                <a:cs typeface="TT Firs Neue"/>
                <a:sym typeface="TT Firs Neue"/>
              </a:rPr>
              <a:t> Ea</a:t>
            </a:r>
            <a:r>
              <a:rPr lang="en-US" sz="1959" strike="noStrike" u="none">
                <a:solidFill>
                  <a:srgbClr val="231F20"/>
                </a:solidFill>
                <a:latin typeface="TT Firs Neue"/>
                <a:ea typeface="TT Firs Neue"/>
                <a:cs typeface="TT Firs Neue"/>
                <a:sym typeface="TT Firs Neue"/>
              </a:rPr>
              <a:t>sy</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nd </a:t>
            </a:r>
            <a:r>
              <a:rPr lang="en-US" sz="1959" strike="noStrike" u="none">
                <a:solidFill>
                  <a:srgbClr val="231F20"/>
                </a:solidFill>
                <a:latin typeface="TT Firs Neue"/>
                <a:ea typeface="TT Firs Neue"/>
                <a:cs typeface="TT Firs Neue"/>
                <a:sym typeface="TT Firs Neue"/>
              </a:rPr>
              <a:t>ke</a:t>
            </a:r>
            <a:r>
              <a:rPr lang="en-US" sz="1959" strike="noStrike" u="none">
                <a:solidFill>
                  <a:srgbClr val="231F20"/>
                </a:solidFill>
                <a:latin typeface="TT Firs Neue"/>
                <a:ea typeface="TT Firs Neue"/>
                <a:cs typeface="TT Firs Neue"/>
                <a:sym typeface="TT Firs Neue"/>
              </a:rPr>
              <a:t>ep</a:t>
            </a:r>
            <a:r>
              <a:rPr lang="en-US" sz="1959" strike="noStrike" u="none">
                <a:solidFill>
                  <a:srgbClr val="231F20"/>
                </a:solidFill>
                <a:latin typeface="TT Firs Neue"/>
                <a:ea typeface="TT Firs Neue"/>
                <a:cs typeface="TT Firs Neue"/>
                <a:sym typeface="TT Firs Neue"/>
              </a:rPr>
              <a:t>s “pho</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osyn</a:t>
            </a:r>
            <a:r>
              <a:rPr lang="en-US" sz="1959" strike="noStrike" u="none">
                <a:solidFill>
                  <a:srgbClr val="231F20"/>
                </a:solidFill>
                <a:latin typeface="TT Firs Neue"/>
                <a:ea typeface="TT Firs Neue"/>
                <a:cs typeface="TT Firs Neue"/>
                <a:sym typeface="TT Firs Neue"/>
              </a:rPr>
              <a:t>thes</a:t>
            </a:r>
            <a:r>
              <a:rPr lang="en-US" sz="1959" strike="noStrike" u="none">
                <a:solidFill>
                  <a:srgbClr val="231F20"/>
                </a:solidFill>
                <a:latin typeface="TT Firs Neue"/>
                <a:ea typeface="TT Firs Neue"/>
                <a:cs typeface="TT Firs Neue"/>
                <a:sym typeface="TT Firs Neue"/>
              </a:rPr>
              <a:t>is”</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with</a:t>
            </a:r>
            <a:r>
              <a:rPr lang="en-US" sz="1959" strike="noStrike" u="none">
                <a:solidFill>
                  <a:srgbClr val="231F20"/>
                </a:solidFill>
                <a:latin typeface="TT Firs Neue"/>
                <a:ea typeface="TT Firs Neue"/>
                <a:cs typeface="TT Firs Neue"/>
                <a:sym typeface="TT Firs Neue"/>
              </a:rPr>
              <a:t> an explanation.</a:t>
            </a:r>
          </a:p>
          <a:p>
            <a:pPr algn="l" marL="422963" indent="-211482"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B</a:t>
            </a:r>
            <a:r>
              <a:rPr lang="en-US" sz="1959" strike="noStrike" u="none">
                <a:solidFill>
                  <a:srgbClr val="231F20"/>
                </a:solidFill>
                <a:latin typeface="TT Firs Neue"/>
                <a:ea typeface="TT Firs Neue"/>
                <a:cs typeface="TT Firs Neue"/>
                <a:sym typeface="TT Firs Neue"/>
              </a:rPr>
              <a:t>o</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sp</a:t>
            </a:r>
            <a:r>
              <a:rPr lang="en-US" sz="1959" strike="noStrike" u="none">
                <a:solidFill>
                  <a:srgbClr val="231F20"/>
                </a:solidFill>
                <a:latin typeface="TT Firs Neue"/>
                <a:ea typeface="TT Firs Neue"/>
                <a:cs typeface="TT Firs Neue"/>
                <a:sym typeface="TT Firs Neue"/>
              </a:rPr>
              <a:t>la</a:t>
            </a:r>
            <a:r>
              <a:rPr lang="en-US" sz="1959" strike="noStrike" u="none">
                <a:solidFill>
                  <a:srgbClr val="231F20"/>
                </a:solidFill>
                <a:latin typeface="TT Firs Neue"/>
                <a:ea typeface="TT Firs Neue"/>
                <a:cs typeface="TT Firs Neue"/>
                <a:sym typeface="TT Firs Neue"/>
              </a:rPr>
              <a:t>ys</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si</a:t>
            </a:r>
            <a:r>
              <a:rPr lang="en-US" sz="1959" strike="noStrike" u="none">
                <a:solidFill>
                  <a:srgbClr val="231F20"/>
                </a:solidFill>
                <a:latin typeface="TT Firs Neue"/>
                <a:ea typeface="TT Firs Neue"/>
                <a:cs typeface="TT Firs Neue"/>
                <a:sym typeface="TT Firs Neue"/>
              </a:rPr>
              <a:t>mpl</a:t>
            </a:r>
            <a:r>
              <a:rPr lang="en-US" sz="1959" strike="noStrike" u="none">
                <a:solidFill>
                  <a:srgbClr val="231F20"/>
                </a:solidFill>
                <a:latin typeface="TT Firs Neue"/>
                <a:ea typeface="TT Firs Neue"/>
                <a:cs typeface="TT Firs Neue"/>
                <a:sym typeface="TT Firs Neue"/>
              </a:rPr>
              <a:t>ified </a:t>
            </a:r>
            <a:r>
              <a:rPr lang="en-US" sz="1959" strike="noStrike" u="none">
                <a:solidFill>
                  <a:srgbClr val="231F20"/>
                </a:solidFill>
                <a:latin typeface="TT Firs Neue"/>
                <a:ea typeface="TT Firs Neue"/>
                <a:cs typeface="TT Firs Neue"/>
                <a:sym typeface="TT Firs Neue"/>
              </a:rPr>
              <a:t>text a</a:t>
            </a:r>
            <a:r>
              <a:rPr lang="en-US" sz="1959" strike="noStrike" u="none">
                <a:solidFill>
                  <a:srgbClr val="231F20"/>
                </a:solidFill>
                <a:latin typeface="TT Firs Neue"/>
                <a:ea typeface="TT Firs Neue"/>
                <a:cs typeface="TT Firs Neue"/>
                <a:sym typeface="TT Firs Neue"/>
              </a:rPr>
              <a:t>nd</a:t>
            </a:r>
            <a:r>
              <a:rPr lang="en-US" sz="1959" strike="noStrike" u="none">
                <a:solidFill>
                  <a:srgbClr val="231F20"/>
                </a:solidFill>
                <a:latin typeface="TT Firs Neue"/>
                <a:ea typeface="TT Firs Neue"/>
                <a:cs typeface="TT Firs Neue"/>
                <a:sym typeface="TT Firs Neue"/>
              </a:rPr>
              <a:t> a t</a:t>
            </a:r>
            <a:r>
              <a:rPr lang="en-US" sz="1959" strike="noStrike" u="none">
                <a:solidFill>
                  <a:srgbClr val="231F20"/>
                </a:solidFill>
                <a:latin typeface="TT Firs Neue"/>
                <a:ea typeface="TT Firs Neue"/>
                <a:cs typeface="TT Firs Neue"/>
                <a:sym typeface="TT Firs Neue"/>
              </a:rPr>
              <a:t>erm</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c</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d w</a:t>
            </a:r>
            <a:r>
              <a:rPr lang="en-US" sz="1959" strike="noStrike" u="none">
                <a:solidFill>
                  <a:srgbClr val="231F20"/>
                </a:solidFill>
                <a:latin typeface="TT Firs Neue"/>
                <a:ea typeface="TT Firs Neue"/>
                <a:cs typeface="TT Firs Neue"/>
                <a:sym typeface="TT Firs Neue"/>
              </a:rPr>
              <a:t>ith</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K</a:t>
            </a:r>
            <a:r>
              <a:rPr lang="en-US" sz="1959" strike="noStrike" u="none">
                <a:solidFill>
                  <a:srgbClr val="231F20"/>
                </a:solidFill>
                <a:latin typeface="TT Firs Neue"/>
                <a:ea typeface="TT Firs Neue"/>
                <a:cs typeface="TT Firs Neue"/>
                <a:sym typeface="TT Firs Neue"/>
              </a:rPr>
              <a:t>ee</a:t>
            </a:r>
            <a:r>
              <a:rPr lang="en-US" sz="1959" strike="noStrike" u="none">
                <a:solidFill>
                  <a:srgbClr val="231F20"/>
                </a:solidFill>
                <a:latin typeface="TT Firs Neue"/>
                <a:ea typeface="TT Firs Neue"/>
                <a:cs typeface="TT Firs Neue"/>
                <a:sym typeface="TT Firs Neue"/>
              </a:rPr>
              <a:t>p,</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Hid</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 Expand</a:t>
            </a:r>
            <a:r>
              <a:rPr lang="en-US" sz="1959" strike="noStrike" u="none">
                <a:solidFill>
                  <a:srgbClr val="231F20"/>
                </a:solidFill>
                <a:latin typeface="TT Firs Neue"/>
                <a:ea typeface="TT Firs Neue"/>
                <a:cs typeface="TT Firs Neue"/>
                <a:sym typeface="TT Firs Neue"/>
              </a:rPr>
              <a:t> o</a:t>
            </a:r>
            <a:r>
              <a:rPr lang="en-US" sz="1959" strike="noStrike" u="none">
                <a:solidFill>
                  <a:srgbClr val="231F20"/>
                </a:solidFill>
                <a:latin typeface="TT Firs Neue"/>
                <a:ea typeface="TT Firs Neue"/>
                <a:cs typeface="TT Firs Neue"/>
                <a:sym typeface="TT Firs Neue"/>
              </a:rPr>
              <a:t>pt</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o</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a:t>
            </a:r>
          </a:p>
        </p:txBody>
      </p:sp>
      <p:grpSp>
        <p:nvGrpSpPr>
          <p:cNvPr name="Group 18" id="18"/>
          <p:cNvGrpSpPr/>
          <p:nvPr/>
        </p:nvGrpSpPr>
        <p:grpSpPr>
          <a:xfrm rot="0">
            <a:off x="11193050" y="1129600"/>
            <a:ext cx="2684962" cy="625936"/>
            <a:chOff x="0" y="0"/>
            <a:chExt cx="1103541" cy="257265"/>
          </a:xfrm>
        </p:grpSpPr>
        <p:sp>
          <p:nvSpPr>
            <p:cNvPr name="Freeform 19" id="19"/>
            <p:cNvSpPr/>
            <p:nvPr/>
          </p:nvSpPr>
          <p:spPr>
            <a:xfrm flipH="false" flipV="false" rot="0">
              <a:off x="0" y="0"/>
              <a:ext cx="1103541" cy="257265"/>
            </a:xfrm>
            <a:custGeom>
              <a:avLst/>
              <a:gdLst/>
              <a:ahLst/>
              <a:cxnLst/>
              <a:rect r="r" b="b" t="t" l="l"/>
              <a:pathLst>
                <a:path h="257265" w="1103541">
                  <a:moveTo>
                    <a:pt x="43252" y="0"/>
                  </a:moveTo>
                  <a:lnTo>
                    <a:pt x="1060290" y="0"/>
                  </a:lnTo>
                  <a:cubicBezTo>
                    <a:pt x="1084177" y="0"/>
                    <a:pt x="1103541" y="19364"/>
                    <a:pt x="1103541" y="43252"/>
                  </a:cubicBezTo>
                  <a:lnTo>
                    <a:pt x="1103541" y="214013"/>
                  </a:lnTo>
                  <a:cubicBezTo>
                    <a:pt x="1103541" y="237900"/>
                    <a:pt x="1084177" y="257265"/>
                    <a:pt x="1060290" y="257265"/>
                  </a:cubicBezTo>
                  <a:lnTo>
                    <a:pt x="43252" y="257265"/>
                  </a:lnTo>
                  <a:cubicBezTo>
                    <a:pt x="19364" y="257265"/>
                    <a:pt x="0" y="237900"/>
                    <a:pt x="0" y="214013"/>
                  </a:cubicBezTo>
                  <a:lnTo>
                    <a:pt x="0" y="43252"/>
                  </a:lnTo>
                  <a:cubicBezTo>
                    <a:pt x="0" y="19364"/>
                    <a:pt x="19364" y="0"/>
                    <a:pt x="43252" y="0"/>
                  </a:cubicBezTo>
                  <a:close/>
                </a:path>
              </a:pathLst>
            </a:custGeom>
            <a:solidFill>
              <a:srgbClr val="0007AB"/>
            </a:solidFill>
          </p:spPr>
        </p:sp>
        <p:sp>
          <p:nvSpPr>
            <p:cNvPr name="TextBox 20" id="20"/>
            <p:cNvSpPr txBox="true"/>
            <p:nvPr/>
          </p:nvSpPr>
          <p:spPr>
            <a:xfrm>
              <a:off x="0" y="0"/>
              <a:ext cx="1103541" cy="257265"/>
            </a:xfrm>
            <a:prstGeom prst="rect">
              <a:avLst/>
            </a:prstGeom>
          </p:spPr>
          <p:txBody>
            <a:bodyPr anchor="ctr" rtlCol="false" tIns="38100" lIns="38100" bIns="38100" rIns="38100"/>
            <a:lstStyle/>
            <a:p>
              <a:pPr algn="ctr">
                <a:lnSpc>
                  <a:spcPts val="2303"/>
                </a:lnSpc>
              </a:pPr>
            </a:p>
          </p:txBody>
        </p:sp>
      </p:grpSp>
      <p:sp>
        <p:nvSpPr>
          <p:cNvPr name="TextBox 21" id="21"/>
          <p:cNvSpPr txBox="true"/>
          <p:nvPr/>
        </p:nvSpPr>
        <p:spPr>
          <a:xfrm rot="0">
            <a:off x="11368691" y="1297525"/>
            <a:ext cx="2509321" cy="322867"/>
          </a:xfrm>
          <a:prstGeom prst="rect">
            <a:avLst/>
          </a:prstGeom>
        </p:spPr>
        <p:txBody>
          <a:bodyPr anchor="t" rtlCol="false" tIns="0" lIns="0" bIns="0" rIns="0">
            <a:spAutoFit/>
          </a:bodyPr>
          <a:lstStyle/>
          <a:p>
            <a:pPr algn="l" marL="0" indent="0" lvl="0">
              <a:lnSpc>
                <a:spcPts val="2623"/>
              </a:lnSpc>
            </a:pPr>
            <a:r>
              <a:rPr lang="en-US" b="true" sz="2242" spc="73">
                <a:solidFill>
                  <a:srgbClr val="F8F6FF"/>
                </a:solidFill>
                <a:latin typeface="Catamaran Bold"/>
                <a:ea typeface="Catamaran Bold"/>
                <a:cs typeface="Catamaran Bold"/>
                <a:sym typeface="Catamaran Bold"/>
              </a:rPr>
              <a:t>Draft 2: Claude</a:t>
            </a:r>
          </a:p>
        </p:txBody>
      </p:sp>
      <p:grpSp>
        <p:nvGrpSpPr>
          <p:cNvPr name="Group 22" id="22"/>
          <p:cNvGrpSpPr/>
          <p:nvPr/>
        </p:nvGrpSpPr>
        <p:grpSpPr>
          <a:xfrm rot="0">
            <a:off x="11193050" y="2002441"/>
            <a:ext cx="6871664" cy="4767914"/>
            <a:chOff x="0" y="0"/>
            <a:chExt cx="2824309" cy="1959651"/>
          </a:xfrm>
        </p:grpSpPr>
        <p:sp>
          <p:nvSpPr>
            <p:cNvPr name="Freeform 23" id="23"/>
            <p:cNvSpPr/>
            <p:nvPr/>
          </p:nvSpPr>
          <p:spPr>
            <a:xfrm flipH="false" flipV="false" rot="0">
              <a:off x="0" y="0"/>
              <a:ext cx="2824309" cy="1959651"/>
            </a:xfrm>
            <a:custGeom>
              <a:avLst/>
              <a:gdLst/>
              <a:ahLst/>
              <a:cxnLst/>
              <a:rect r="r" b="b" t="t" l="l"/>
              <a:pathLst>
                <a:path h="1959651" w="2824309">
                  <a:moveTo>
                    <a:pt x="16900" y="0"/>
                  </a:moveTo>
                  <a:lnTo>
                    <a:pt x="2807409" y="0"/>
                  </a:lnTo>
                  <a:cubicBezTo>
                    <a:pt x="2816743" y="0"/>
                    <a:pt x="2824309" y="7566"/>
                    <a:pt x="2824309" y="16900"/>
                  </a:cubicBezTo>
                  <a:lnTo>
                    <a:pt x="2824309" y="1942751"/>
                  </a:lnTo>
                  <a:cubicBezTo>
                    <a:pt x="2824309" y="1947233"/>
                    <a:pt x="2822528" y="1951532"/>
                    <a:pt x="2819359" y="1954701"/>
                  </a:cubicBezTo>
                  <a:cubicBezTo>
                    <a:pt x="2816190" y="1957870"/>
                    <a:pt x="2811891" y="1959651"/>
                    <a:pt x="2807409" y="1959651"/>
                  </a:cubicBezTo>
                  <a:lnTo>
                    <a:pt x="16900" y="1959651"/>
                  </a:lnTo>
                  <a:cubicBezTo>
                    <a:pt x="12418" y="1959651"/>
                    <a:pt x="8119" y="1957870"/>
                    <a:pt x="4950" y="1954701"/>
                  </a:cubicBezTo>
                  <a:cubicBezTo>
                    <a:pt x="1780" y="1951532"/>
                    <a:pt x="0" y="1947233"/>
                    <a:pt x="0" y="1942751"/>
                  </a:cubicBezTo>
                  <a:lnTo>
                    <a:pt x="0" y="16900"/>
                  </a:lnTo>
                  <a:cubicBezTo>
                    <a:pt x="0" y="12418"/>
                    <a:pt x="1780" y="8119"/>
                    <a:pt x="4950" y="4950"/>
                  </a:cubicBezTo>
                  <a:cubicBezTo>
                    <a:pt x="8119" y="1780"/>
                    <a:pt x="12418" y="0"/>
                    <a:pt x="16900" y="0"/>
                  </a:cubicBezTo>
                  <a:close/>
                </a:path>
              </a:pathLst>
            </a:custGeom>
            <a:solidFill>
              <a:srgbClr val="FEFEFE"/>
            </a:solidFill>
            <a:ln w="28575" cap="sq">
              <a:solidFill>
                <a:srgbClr val="E1B076"/>
              </a:solidFill>
              <a:prstDash val="solid"/>
              <a:miter/>
            </a:ln>
          </p:spPr>
        </p:sp>
        <p:sp>
          <p:nvSpPr>
            <p:cNvPr name="TextBox 24" id="24"/>
            <p:cNvSpPr txBox="true"/>
            <p:nvPr/>
          </p:nvSpPr>
          <p:spPr>
            <a:xfrm>
              <a:off x="0" y="-28575"/>
              <a:ext cx="2824309" cy="1988226"/>
            </a:xfrm>
            <a:prstGeom prst="rect">
              <a:avLst/>
            </a:prstGeom>
          </p:spPr>
          <p:txBody>
            <a:bodyPr anchor="ctr" rtlCol="false" tIns="38100" lIns="38100" bIns="38100" rIns="38100"/>
            <a:lstStyle/>
            <a:p>
              <a:pPr algn="l">
                <a:lnSpc>
                  <a:spcPts val="2677"/>
                </a:lnSpc>
              </a:pPr>
            </a:p>
          </p:txBody>
        </p:sp>
      </p:grpSp>
      <p:sp>
        <p:nvSpPr>
          <p:cNvPr name="Freeform 25" id="25"/>
          <p:cNvSpPr/>
          <p:nvPr/>
        </p:nvSpPr>
        <p:spPr>
          <a:xfrm flipH="true" flipV="false" rot="-1862406">
            <a:off x="173754" y="8994486"/>
            <a:ext cx="741433" cy="1186293"/>
          </a:xfrm>
          <a:custGeom>
            <a:avLst/>
            <a:gdLst/>
            <a:ahLst/>
            <a:cxnLst/>
            <a:rect r="r" b="b" t="t" l="l"/>
            <a:pathLst>
              <a:path h="1186293" w="741433">
                <a:moveTo>
                  <a:pt x="741433" y="0"/>
                </a:moveTo>
                <a:lnTo>
                  <a:pt x="0" y="0"/>
                </a:lnTo>
                <a:lnTo>
                  <a:pt x="0" y="1186293"/>
                </a:lnTo>
                <a:lnTo>
                  <a:pt x="741433" y="1186293"/>
                </a:lnTo>
                <a:lnTo>
                  <a:pt x="74143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17173343" y="108544"/>
            <a:ext cx="925307" cy="925307"/>
          </a:xfrm>
          <a:custGeom>
            <a:avLst/>
            <a:gdLst/>
            <a:ahLst/>
            <a:cxnLst/>
            <a:rect r="r" b="b" t="t" l="l"/>
            <a:pathLst>
              <a:path h="925307" w="925307">
                <a:moveTo>
                  <a:pt x="0" y="0"/>
                </a:moveTo>
                <a:lnTo>
                  <a:pt x="925307" y="0"/>
                </a:lnTo>
                <a:lnTo>
                  <a:pt x="925307" y="925307"/>
                </a:lnTo>
                <a:lnTo>
                  <a:pt x="0" y="9253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0">
            <a:off x="16527011" y="543036"/>
            <a:ext cx="1173130" cy="1173130"/>
          </a:xfrm>
          <a:custGeom>
            <a:avLst/>
            <a:gdLst/>
            <a:ahLst/>
            <a:cxnLst/>
            <a:rect r="r" b="b" t="t" l="l"/>
            <a:pathLst>
              <a:path h="1173130" w="1173130">
                <a:moveTo>
                  <a:pt x="0" y="0"/>
                </a:moveTo>
                <a:lnTo>
                  <a:pt x="1173130" y="0"/>
                </a:lnTo>
                <a:lnTo>
                  <a:pt x="1173130" y="1173129"/>
                </a:lnTo>
                <a:lnTo>
                  <a:pt x="0" y="11731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11193050" y="2132287"/>
            <a:ext cx="6698289" cy="4376802"/>
          </a:xfrm>
          <a:prstGeom prst="rect">
            <a:avLst/>
          </a:prstGeom>
        </p:spPr>
        <p:txBody>
          <a:bodyPr anchor="t" rtlCol="false" tIns="0" lIns="0" bIns="0" rIns="0">
            <a:spAutoFit/>
          </a:bodyPr>
          <a:lstStyle/>
          <a:p>
            <a:pPr algn="l" marL="422963" indent="-211481" lvl="1">
              <a:lnSpc>
                <a:spcPts val="3212"/>
              </a:lnSpc>
              <a:spcBef>
                <a:spcPct val="0"/>
              </a:spcBef>
              <a:buAutoNum type="arabicPeriod" startAt="1"/>
            </a:pPr>
            <a:r>
              <a:rPr lang="en-US" sz="1959">
                <a:solidFill>
                  <a:srgbClr val="231F20"/>
                </a:solidFill>
                <a:latin typeface="TT Firs Neue"/>
                <a:ea typeface="TT Firs Neue"/>
                <a:cs typeface="TT Firs Neue"/>
                <a:sym typeface="TT Firs Neue"/>
              </a:rPr>
              <a:t>Bo</a:t>
            </a:r>
            <a:r>
              <a:rPr lang="en-US" sz="1959">
                <a:solidFill>
                  <a:srgbClr val="231F20"/>
                </a:solidFill>
                <a:latin typeface="TT Firs Neue"/>
                <a:ea typeface="TT Firs Neue"/>
                <a:cs typeface="TT Firs Neue"/>
                <a:sym typeface="TT Firs Neue"/>
              </a:rPr>
              <a:t>t: S</a:t>
            </a:r>
            <a:r>
              <a:rPr lang="en-US" sz="1959" strike="noStrike" u="none">
                <a:solidFill>
                  <a:srgbClr val="231F20"/>
                </a:solidFill>
                <a:latin typeface="TT Firs Neue"/>
                <a:ea typeface="TT Firs Neue"/>
                <a:cs typeface="TT Firs Neue"/>
                <a:sym typeface="TT Firs Neue"/>
              </a:rPr>
              <a:t>et pre</a:t>
            </a:r>
            <a:r>
              <a:rPr lang="en-US" sz="1959" strike="noStrike" u="none">
                <a:solidFill>
                  <a:srgbClr val="231F20"/>
                </a:solidFill>
                <a:latin typeface="TT Firs Neue"/>
                <a:ea typeface="TT Firs Neue"/>
                <a:cs typeface="TT Firs Neue"/>
                <a:sym typeface="TT Firs Neue"/>
              </a:rPr>
              <a:t>ferenc</a:t>
            </a:r>
            <a:r>
              <a:rPr lang="en-US" sz="1959" strike="noStrike" u="none">
                <a:solidFill>
                  <a:srgbClr val="231F20"/>
                </a:solidFill>
                <a:latin typeface="TT Firs Neue"/>
                <a:ea typeface="TT Firs Neue"/>
                <a:cs typeface="TT Firs Neue"/>
                <a:sym typeface="TT Firs Neue"/>
              </a:rPr>
              <a:t>es </a:t>
            </a:r>
            <a:r>
              <a:rPr lang="en-US" sz="1959" strike="noStrike" u="none">
                <a:solidFill>
                  <a:srgbClr val="231F20"/>
                </a:solidFill>
                <a:latin typeface="TT Firs Neue"/>
                <a:ea typeface="TT Firs Neue"/>
                <a:cs typeface="TT Firs Neue"/>
                <a:sym typeface="TT Firs Neue"/>
              </a:rPr>
              <a:t>o</a:t>
            </a:r>
            <a:r>
              <a:rPr lang="en-US" sz="1959" strike="noStrike" u="none">
                <a:solidFill>
                  <a:srgbClr val="231F20"/>
                </a:solidFill>
                <a:latin typeface="TT Firs Neue"/>
                <a:ea typeface="TT Firs Neue"/>
                <a:cs typeface="TT Firs Neue"/>
                <a:sym typeface="TT Firs Neue"/>
              </a:rPr>
              <a:t>r skip. St</a:t>
            </a:r>
            <a:r>
              <a:rPr lang="en-US" sz="1959" strike="noStrike" u="none">
                <a:solidFill>
                  <a:srgbClr val="231F20"/>
                </a:solidFill>
                <a:latin typeface="TT Firs Neue"/>
                <a:ea typeface="TT Firs Neue"/>
                <a:cs typeface="TT Firs Neue"/>
                <a:sym typeface="TT Firs Neue"/>
              </a:rPr>
              <a:t>ud</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t: Chooses a dyslexia-friendly font.</a:t>
            </a:r>
          </a:p>
          <a:p>
            <a:pPr algn="l" marL="422963" indent="-211481"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Bot: Paste your text; nothing cha</a:t>
            </a:r>
            <a:r>
              <a:rPr lang="en-US" sz="1959" strike="noStrike" u="none">
                <a:solidFill>
                  <a:srgbClr val="231F20"/>
                </a:solidFill>
                <a:latin typeface="TT Firs Neue"/>
                <a:ea typeface="TT Firs Neue"/>
                <a:cs typeface="TT Firs Neue"/>
                <a:sym typeface="TT Firs Neue"/>
              </a:rPr>
              <a:t>nge</a:t>
            </a:r>
            <a:r>
              <a:rPr lang="en-US" sz="1959" strike="noStrike" u="none">
                <a:solidFill>
                  <a:srgbClr val="231F20"/>
                </a:solidFill>
                <a:latin typeface="TT Firs Neue"/>
                <a:ea typeface="TT Firs Neue"/>
                <a:cs typeface="TT Firs Neue"/>
                <a:sym typeface="TT Firs Neue"/>
              </a:rPr>
              <a:t>s </a:t>
            </a:r>
            <a:r>
              <a:rPr lang="en-US" sz="1959" strike="noStrike" u="none">
                <a:solidFill>
                  <a:srgbClr val="231F20"/>
                </a:solidFill>
                <a:latin typeface="TT Firs Neue"/>
                <a:ea typeface="TT Firs Neue"/>
                <a:cs typeface="TT Firs Neue"/>
                <a:sym typeface="TT Firs Neue"/>
              </a:rPr>
              <a:t>with</a:t>
            </a:r>
            <a:r>
              <a:rPr lang="en-US" sz="1959" strike="noStrike" u="none">
                <a:solidFill>
                  <a:srgbClr val="231F20"/>
                </a:solidFill>
                <a:latin typeface="TT Firs Neue"/>
                <a:ea typeface="TT Firs Neue"/>
                <a:cs typeface="TT Firs Neue"/>
                <a:sym typeface="TT Firs Neue"/>
              </a:rPr>
              <a:t>out permission.</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Student: Pastes </a:t>
            </a:r>
            <a:r>
              <a:rPr lang="en-US" sz="1959" strike="noStrike" u="none">
                <a:solidFill>
                  <a:srgbClr val="231F20"/>
                </a:solidFill>
                <a:latin typeface="TT Firs Neue"/>
                <a:ea typeface="TT Firs Neue"/>
                <a:cs typeface="TT Firs Neue"/>
                <a:sym typeface="TT Firs Neue"/>
              </a:rPr>
              <a:t>600</a:t>
            </a:r>
            <a:r>
              <a:rPr lang="en-US" sz="1959" strike="noStrike" u="none">
                <a:solidFill>
                  <a:srgbClr val="231F20"/>
                </a:solidFill>
                <a:latin typeface="TT Firs Neue"/>
                <a:ea typeface="TT Firs Neue"/>
                <a:cs typeface="TT Firs Neue"/>
                <a:sym typeface="TT Firs Neue"/>
              </a:rPr>
              <a:t> words.</a:t>
            </a:r>
          </a:p>
          <a:p>
            <a:pPr algn="l" marL="422963" indent="-211481"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Bot: </a:t>
            </a:r>
            <a:r>
              <a:rPr lang="en-US" sz="1959" strike="noStrike" u="none">
                <a:solidFill>
                  <a:srgbClr val="231F20"/>
                </a:solidFill>
                <a:latin typeface="TT Firs Neue"/>
                <a:ea typeface="TT Firs Neue"/>
                <a:cs typeface="TT Firs Neue"/>
                <a:sym typeface="TT Firs Neue"/>
              </a:rPr>
              <a:t>Choos</a:t>
            </a:r>
            <a:r>
              <a:rPr lang="en-US" sz="1959" strike="noStrike" u="none">
                <a:solidFill>
                  <a:srgbClr val="231F20"/>
                </a:solidFill>
                <a:latin typeface="TT Firs Neue"/>
                <a:ea typeface="TT Firs Neue"/>
                <a:cs typeface="TT Firs Neue"/>
                <a:sym typeface="TT Firs Neue"/>
              </a:rPr>
              <a:t>e a </a:t>
            </a:r>
            <a:r>
              <a:rPr lang="en-US" sz="1959" strike="noStrike" u="none">
                <a:solidFill>
                  <a:srgbClr val="231F20"/>
                </a:solidFill>
                <a:latin typeface="TT Firs Neue"/>
                <a:ea typeface="TT Firs Neue"/>
                <a:cs typeface="TT Firs Neue"/>
                <a:sym typeface="TT Firs Neue"/>
              </a:rPr>
              <a:t>l</a:t>
            </a:r>
            <a:r>
              <a:rPr lang="en-US" sz="1959" strike="noStrike" u="none">
                <a:solidFill>
                  <a:srgbClr val="231F20"/>
                </a:solidFill>
                <a:latin typeface="TT Firs Neue"/>
                <a:ea typeface="TT Firs Neue"/>
                <a:cs typeface="TT Firs Neue"/>
                <a:sym typeface="TT Firs Neue"/>
              </a:rPr>
              <a:t>evel. Student: Selects Medium and re</a:t>
            </a:r>
            <a:r>
              <a:rPr lang="en-US" sz="1959" strike="noStrike" u="none">
                <a:solidFill>
                  <a:srgbClr val="231F20"/>
                </a:solidFill>
                <a:latin typeface="TT Firs Neue"/>
                <a:ea typeface="TT Firs Neue"/>
                <a:cs typeface="TT Firs Neue"/>
                <a:sym typeface="TT Firs Neue"/>
              </a:rPr>
              <a:t>qu</a:t>
            </a:r>
            <a:r>
              <a:rPr lang="en-US" sz="1959" strike="noStrike" u="none">
                <a:solidFill>
                  <a:srgbClr val="231F20"/>
                </a:solidFill>
                <a:latin typeface="TT Firs Neue"/>
                <a:ea typeface="TT Firs Neue"/>
                <a:cs typeface="TT Firs Neue"/>
                <a:sym typeface="TT Firs Neue"/>
              </a:rPr>
              <a:t>ests explanations on demand.</a:t>
            </a:r>
          </a:p>
          <a:p>
            <a:pPr algn="l" marL="422963" indent="-211481"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Studen</a:t>
            </a:r>
            <a:r>
              <a:rPr lang="en-US" sz="1959" strike="noStrike" u="none">
                <a:solidFill>
                  <a:srgbClr val="231F20"/>
                </a:solidFill>
                <a:latin typeface="TT Firs Neue"/>
                <a:ea typeface="TT Firs Neue"/>
                <a:cs typeface="TT Firs Neue"/>
                <a:sym typeface="TT Firs Neue"/>
              </a:rPr>
              <a:t>t: Taps “?” </a:t>
            </a:r>
            <a:r>
              <a:rPr lang="en-US" sz="1959" strike="noStrike" u="none">
                <a:solidFill>
                  <a:srgbClr val="231F20"/>
                </a:solidFill>
                <a:latin typeface="TT Firs Neue"/>
                <a:ea typeface="TT Firs Neue"/>
                <a:cs typeface="TT Firs Neue"/>
                <a:sym typeface="TT Firs Neue"/>
              </a:rPr>
              <a:t>o</a:t>
            </a:r>
            <a:r>
              <a:rPr lang="en-US" sz="1959" strike="noStrike" u="none">
                <a:solidFill>
                  <a:srgbClr val="231F20"/>
                </a:solidFill>
                <a:latin typeface="TT Firs Neue"/>
                <a:ea typeface="TT Firs Neue"/>
                <a:cs typeface="TT Firs Neue"/>
                <a:sym typeface="TT Firs Neue"/>
              </a:rPr>
              <a:t>n a term</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 Bot: Shows its meaning with Keep, Hide, </a:t>
            </a:r>
            <a:r>
              <a:rPr lang="en-US" sz="1959" strike="noStrike" u="none">
                <a:solidFill>
                  <a:srgbClr val="231F20"/>
                </a:solidFill>
                <a:latin typeface="TT Firs Neue"/>
                <a:ea typeface="TT Firs Neue"/>
                <a:cs typeface="TT Firs Neue"/>
                <a:sym typeface="TT Firs Neue"/>
              </a:rPr>
              <a:t>or </a:t>
            </a:r>
            <a:r>
              <a:rPr lang="en-US" sz="1959" strike="noStrike" u="none">
                <a:solidFill>
                  <a:srgbClr val="231F20"/>
                </a:solidFill>
                <a:latin typeface="TT Firs Neue"/>
                <a:ea typeface="TT Firs Neue"/>
                <a:cs typeface="TT Firs Neue"/>
                <a:sym typeface="TT Firs Neue"/>
              </a:rPr>
              <a:t>Expand options.</a:t>
            </a:r>
          </a:p>
          <a:p>
            <a:pPr algn="l" marL="422963" indent="-211481" lvl="1">
              <a:lnSpc>
                <a:spcPts val="3212"/>
              </a:lnSpc>
              <a:spcBef>
                <a:spcPct val="0"/>
              </a:spcBef>
              <a:buAutoNum type="arabicPeriod" startAt="1"/>
            </a:pPr>
            <a:r>
              <a:rPr lang="en-US" sz="1959" strike="noStrike" u="none">
                <a:solidFill>
                  <a:srgbClr val="231F20"/>
                </a:solidFill>
                <a:latin typeface="TT Firs Neue"/>
                <a:ea typeface="TT Firs Neue"/>
                <a:cs typeface="TT Firs Neue"/>
                <a:sym typeface="TT Firs Neue"/>
              </a:rPr>
              <a:t>Student: Keeps the term and requests scores. Bot: Reading ease improves from 28 to 61. [Simpler] [This Is Good] [Download]</a:t>
            </a:r>
          </a:p>
        </p:txBody>
      </p:sp>
      <p:sp>
        <p:nvSpPr>
          <p:cNvPr name="Freeform 29" id="29"/>
          <p:cNvSpPr/>
          <p:nvPr/>
        </p:nvSpPr>
        <p:spPr>
          <a:xfrm flipH="false" flipV="false" rot="5400000">
            <a:off x="-524487" y="1714677"/>
            <a:ext cx="2330669" cy="1270214"/>
          </a:xfrm>
          <a:custGeom>
            <a:avLst/>
            <a:gdLst/>
            <a:ahLst/>
            <a:cxnLst/>
            <a:rect r="r" b="b" t="t" l="l"/>
            <a:pathLst>
              <a:path h="1270214" w="2330669">
                <a:moveTo>
                  <a:pt x="0" y="0"/>
                </a:moveTo>
                <a:lnTo>
                  <a:pt x="2330669" y="0"/>
                </a:lnTo>
                <a:lnTo>
                  <a:pt x="2330669" y="1270214"/>
                </a:lnTo>
                <a:lnTo>
                  <a:pt x="0" y="12702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false" flipV="false" rot="0">
            <a:off x="-769368" y="1487195"/>
            <a:ext cx="1538737" cy="1377169"/>
          </a:xfrm>
          <a:custGeom>
            <a:avLst/>
            <a:gdLst/>
            <a:ahLst/>
            <a:cxnLst/>
            <a:rect r="r" b="b" t="t" l="l"/>
            <a:pathLst>
              <a:path h="1377169" w="1538737">
                <a:moveTo>
                  <a:pt x="0" y="0"/>
                </a:moveTo>
                <a:lnTo>
                  <a:pt x="1538736" y="0"/>
                </a:lnTo>
                <a:lnTo>
                  <a:pt x="1538736" y="1377170"/>
                </a:lnTo>
                <a:lnTo>
                  <a:pt x="0" y="13771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1" id="31"/>
          <p:cNvSpPr txBox="true"/>
          <p:nvPr/>
        </p:nvSpPr>
        <p:spPr>
          <a:xfrm rot="0">
            <a:off x="650372" y="228075"/>
            <a:ext cx="16618453" cy="601346"/>
          </a:xfrm>
          <a:prstGeom prst="rect">
            <a:avLst/>
          </a:prstGeom>
        </p:spPr>
        <p:txBody>
          <a:bodyPr anchor="t" rtlCol="false" tIns="0" lIns="0" bIns="0" rIns="0">
            <a:spAutoFit/>
          </a:bodyPr>
          <a:lstStyle/>
          <a:p>
            <a:pPr algn="l">
              <a:lnSpc>
                <a:spcPts val="3800"/>
              </a:lnSpc>
            </a:pPr>
            <a:r>
              <a:rPr lang="en-US" sz="3800" spc="-110">
                <a:solidFill>
                  <a:srgbClr val="0B0A0A"/>
                </a:solidFill>
                <a:latin typeface="Heading Now 71-78"/>
                <a:ea typeface="Heading Now 71-78"/>
                <a:cs typeface="Heading Now 71-78"/>
                <a:sym typeface="Heading Now 71-78"/>
              </a:rPr>
              <a:t>Inclusive Reading Assistant: </a:t>
            </a:r>
            <a:r>
              <a:rPr lang="en-US" sz="3800" spc="-110">
                <a:solidFill>
                  <a:srgbClr val="E1B076"/>
                </a:solidFill>
                <a:latin typeface="Heading Now 71-78"/>
                <a:ea typeface="Heading Now 71-78"/>
                <a:cs typeface="Heading Now 71-78"/>
                <a:sym typeface="Heading Now 71-78"/>
              </a:rPr>
              <a:t>Milestone 1 </a:t>
            </a:r>
            <a:r>
              <a:rPr lang="en-US" sz="3800" spc="-110">
                <a:solidFill>
                  <a:srgbClr val="0B0A0A"/>
                </a:solidFill>
                <a:latin typeface="Heading Now 71-78"/>
                <a:ea typeface="Heading Now 71-78"/>
                <a:cs typeface="Heading Now 71-78"/>
                <a:sym typeface="Heading Now 71-78"/>
              </a:rPr>
              <a:t>Concept Drafts</a:t>
            </a:r>
          </a:p>
        </p:txBody>
      </p:sp>
      <p:grpSp>
        <p:nvGrpSpPr>
          <p:cNvPr name="Group 32" id="32"/>
          <p:cNvGrpSpPr/>
          <p:nvPr/>
        </p:nvGrpSpPr>
        <p:grpSpPr>
          <a:xfrm rot="0">
            <a:off x="4113761" y="6970701"/>
            <a:ext cx="13950953" cy="3110265"/>
            <a:chOff x="0" y="0"/>
            <a:chExt cx="5733953" cy="1278344"/>
          </a:xfrm>
        </p:grpSpPr>
        <p:sp>
          <p:nvSpPr>
            <p:cNvPr name="Freeform 33" id="33"/>
            <p:cNvSpPr/>
            <p:nvPr/>
          </p:nvSpPr>
          <p:spPr>
            <a:xfrm flipH="false" flipV="false" rot="0">
              <a:off x="0" y="0"/>
              <a:ext cx="5733953" cy="1278344"/>
            </a:xfrm>
            <a:custGeom>
              <a:avLst/>
              <a:gdLst/>
              <a:ahLst/>
              <a:cxnLst/>
              <a:rect r="r" b="b" t="t" l="l"/>
              <a:pathLst>
                <a:path h="1278344" w="5733953">
                  <a:moveTo>
                    <a:pt x="8324" y="0"/>
                  </a:moveTo>
                  <a:lnTo>
                    <a:pt x="5725630" y="0"/>
                  </a:lnTo>
                  <a:cubicBezTo>
                    <a:pt x="5730227" y="0"/>
                    <a:pt x="5733953" y="3727"/>
                    <a:pt x="5733953" y="8324"/>
                  </a:cubicBezTo>
                  <a:lnTo>
                    <a:pt x="5733953" y="1270020"/>
                  </a:lnTo>
                  <a:cubicBezTo>
                    <a:pt x="5733953" y="1272227"/>
                    <a:pt x="5733076" y="1274345"/>
                    <a:pt x="5731515" y="1275906"/>
                  </a:cubicBezTo>
                  <a:cubicBezTo>
                    <a:pt x="5729955" y="1277467"/>
                    <a:pt x="5727837" y="1278344"/>
                    <a:pt x="5725630" y="1278344"/>
                  </a:cubicBezTo>
                  <a:lnTo>
                    <a:pt x="8324" y="1278344"/>
                  </a:lnTo>
                  <a:cubicBezTo>
                    <a:pt x="6116" y="1278344"/>
                    <a:pt x="3999" y="1277467"/>
                    <a:pt x="2438" y="1275906"/>
                  </a:cubicBezTo>
                  <a:cubicBezTo>
                    <a:pt x="877" y="1274345"/>
                    <a:pt x="0" y="1272227"/>
                    <a:pt x="0" y="1270020"/>
                  </a:cubicBezTo>
                  <a:lnTo>
                    <a:pt x="0" y="8324"/>
                  </a:lnTo>
                  <a:cubicBezTo>
                    <a:pt x="0" y="6116"/>
                    <a:pt x="877" y="3999"/>
                    <a:pt x="2438" y="2438"/>
                  </a:cubicBezTo>
                  <a:cubicBezTo>
                    <a:pt x="3999" y="877"/>
                    <a:pt x="6116" y="0"/>
                    <a:pt x="8324" y="0"/>
                  </a:cubicBezTo>
                  <a:close/>
                </a:path>
              </a:pathLst>
            </a:custGeom>
            <a:solidFill>
              <a:srgbClr val="FEFEFE"/>
            </a:solidFill>
            <a:ln w="28575" cap="sq">
              <a:solidFill>
                <a:srgbClr val="E1B076"/>
              </a:solidFill>
              <a:prstDash val="solid"/>
              <a:miter/>
            </a:ln>
          </p:spPr>
        </p:sp>
        <p:sp>
          <p:nvSpPr>
            <p:cNvPr name="TextBox 34" id="34"/>
            <p:cNvSpPr txBox="true"/>
            <p:nvPr/>
          </p:nvSpPr>
          <p:spPr>
            <a:xfrm>
              <a:off x="0" y="-28575"/>
              <a:ext cx="5733953" cy="1306919"/>
            </a:xfrm>
            <a:prstGeom prst="rect">
              <a:avLst/>
            </a:prstGeom>
          </p:spPr>
          <p:txBody>
            <a:bodyPr anchor="ctr" rtlCol="false" tIns="38100" lIns="38100" bIns="38100" rIns="38100"/>
            <a:lstStyle/>
            <a:p>
              <a:pPr algn="l">
                <a:lnSpc>
                  <a:spcPts val="2677"/>
                </a:lnSpc>
              </a:pPr>
            </a:p>
          </p:txBody>
        </p:sp>
      </p:grpSp>
      <p:grpSp>
        <p:nvGrpSpPr>
          <p:cNvPr name="Group 35" id="35"/>
          <p:cNvGrpSpPr/>
          <p:nvPr/>
        </p:nvGrpSpPr>
        <p:grpSpPr>
          <a:xfrm rot="0">
            <a:off x="437409" y="7997649"/>
            <a:ext cx="2901917" cy="1056370"/>
            <a:chOff x="0" y="0"/>
            <a:chExt cx="1192711" cy="434176"/>
          </a:xfrm>
        </p:grpSpPr>
        <p:sp>
          <p:nvSpPr>
            <p:cNvPr name="Freeform 36" id="36"/>
            <p:cNvSpPr/>
            <p:nvPr/>
          </p:nvSpPr>
          <p:spPr>
            <a:xfrm flipH="false" flipV="false" rot="0">
              <a:off x="0" y="0"/>
              <a:ext cx="1192711" cy="434176"/>
            </a:xfrm>
            <a:custGeom>
              <a:avLst/>
              <a:gdLst/>
              <a:ahLst/>
              <a:cxnLst/>
              <a:rect r="r" b="b" t="t" l="l"/>
              <a:pathLst>
                <a:path h="434176" w="1192711">
                  <a:moveTo>
                    <a:pt x="53357" y="0"/>
                  </a:moveTo>
                  <a:lnTo>
                    <a:pt x="1139354" y="0"/>
                  </a:lnTo>
                  <a:cubicBezTo>
                    <a:pt x="1168822" y="0"/>
                    <a:pt x="1192711" y="23889"/>
                    <a:pt x="1192711" y="53357"/>
                  </a:cubicBezTo>
                  <a:lnTo>
                    <a:pt x="1192711" y="380819"/>
                  </a:lnTo>
                  <a:cubicBezTo>
                    <a:pt x="1192711" y="394970"/>
                    <a:pt x="1187090" y="408542"/>
                    <a:pt x="1177083" y="418548"/>
                  </a:cubicBezTo>
                  <a:cubicBezTo>
                    <a:pt x="1167077" y="428555"/>
                    <a:pt x="1153505" y="434176"/>
                    <a:pt x="1139354" y="434176"/>
                  </a:cubicBezTo>
                  <a:lnTo>
                    <a:pt x="53357" y="434176"/>
                  </a:lnTo>
                  <a:cubicBezTo>
                    <a:pt x="23889" y="434176"/>
                    <a:pt x="0" y="410288"/>
                    <a:pt x="0" y="380819"/>
                  </a:cubicBezTo>
                  <a:lnTo>
                    <a:pt x="0" y="53357"/>
                  </a:lnTo>
                  <a:cubicBezTo>
                    <a:pt x="0" y="23889"/>
                    <a:pt x="23889" y="0"/>
                    <a:pt x="53357" y="0"/>
                  </a:cubicBezTo>
                  <a:close/>
                </a:path>
              </a:pathLst>
            </a:custGeom>
            <a:solidFill>
              <a:srgbClr val="DCDDE3"/>
            </a:solidFill>
          </p:spPr>
        </p:sp>
        <p:sp>
          <p:nvSpPr>
            <p:cNvPr name="TextBox 37" id="37"/>
            <p:cNvSpPr txBox="true"/>
            <p:nvPr/>
          </p:nvSpPr>
          <p:spPr>
            <a:xfrm>
              <a:off x="0" y="0"/>
              <a:ext cx="1192711" cy="434176"/>
            </a:xfrm>
            <a:prstGeom prst="rect">
              <a:avLst/>
            </a:prstGeom>
          </p:spPr>
          <p:txBody>
            <a:bodyPr anchor="ctr" rtlCol="false" tIns="38100" lIns="38100" bIns="38100" rIns="38100"/>
            <a:lstStyle/>
            <a:p>
              <a:pPr algn="ctr">
                <a:lnSpc>
                  <a:spcPts val="2303"/>
                </a:lnSpc>
              </a:pPr>
            </a:p>
          </p:txBody>
        </p:sp>
      </p:grpSp>
      <p:grpSp>
        <p:nvGrpSpPr>
          <p:cNvPr name="Group 38" id="38"/>
          <p:cNvGrpSpPr/>
          <p:nvPr/>
        </p:nvGrpSpPr>
        <p:grpSpPr>
          <a:xfrm rot="0">
            <a:off x="3232265" y="8241938"/>
            <a:ext cx="611393" cy="567792"/>
            <a:chOff x="0" y="0"/>
            <a:chExt cx="476043" cy="442094"/>
          </a:xfrm>
        </p:grpSpPr>
        <p:sp>
          <p:nvSpPr>
            <p:cNvPr name="Freeform 39" id="39"/>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40" id="40"/>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TextBox 41" id="41"/>
          <p:cNvSpPr txBox="true"/>
          <p:nvPr/>
        </p:nvSpPr>
        <p:spPr>
          <a:xfrm rot="0">
            <a:off x="906474" y="8369493"/>
            <a:ext cx="1963787" cy="312682"/>
          </a:xfrm>
          <a:prstGeom prst="rect">
            <a:avLst/>
          </a:prstGeom>
        </p:spPr>
        <p:txBody>
          <a:bodyPr anchor="t" rtlCol="false" tIns="0" lIns="0" bIns="0" rIns="0">
            <a:spAutoFit/>
          </a:bodyPr>
          <a:lstStyle/>
          <a:p>
            <a:pPr algn="ctr">
              <a:lnSpc>
                <a:spcPts val="2420"/>
              </a:lnSpc>
              <a:spcBef>
                <a:spcPct val="0"/>
              </a:spcBef>
            </a:pPr>
            <a:r>
              <a:rPr lang="en-US" b="true" sz="2068">
                <a:solidFill>
                  <a:srgbClr val="000000"/>
                </a:solidFill>
                <a:latin typeface="Catamaran Bold"/>
                <a:ea typeface="Catamaran Bold"/>
                <a:cs typeface="Catamaran Bold"/>
                <a:sym typeface="Catamaran Bold"/>
              </a:rPr>
              <a:t>Direction Chosen</a:t>
            </a:r>
          </a:p>
        </p:txBody>
      </p:sp>
      <p:sp>
        <p:nvSpPr>
          <p:cNvPr name="TextBox 42" id="42"/>
          <p:cNvSpPr txBox="true"/>
          <p:nvPr/>
        </p:nvSpPr>
        <p:spPr>
          <a:xfrm rot="0">
            <a:off x="4289402" y="7094670"/>
            <a:ext cx="13601936" cy="2776602"/>
          </a:xfrm>
          <a:prstGeom prst="rect">
            <a:avLst/>
          </a:prstGeom>
        </p:spPr>
        <p:txBody>
          <a:bodyPr anchor="t" rtlCol="false" tIns="0" lIns="0" bIns="0" rIns="0">
            <a:spAutoFit/>
          </a:bodyPr>
          <a:lstStyle/>
          <a:p>
            <a:pPr algn="l">
              <a:lnSpc>
                <a:spcPts val="3212"/>
              </a:lnSpc>
            </a:pPr>
            <a:r>
              <a:rPr lang="en-US" sz="1959" b="true">
                <a:solidFill>
                  <a:srgbClr val="231F20"/>
                </a:solidFill>
                <a:latin typeface="TT Firs Neue Bold"/>
                <a:ea typeface="TT Firs Neue Bold"/>
                <a:cs typeface="TT Firs Neue Bold"/>
                <a:sym typeface="TT Firs Neue Bold"/>
              </a:rPr>
              <a:t>Hybrid approach: Draft 2 (Claude) as the base, with selected parts from Draft 1 (ChatGPT).</a:t>
            </a:r>
          </a:p>
          <a:p>
            <a:pPr algn="l">
              <a:lnSpc>
                <a:spcPts val="3212"/>
              </a:lnSpc>
            </a:pPr>
            <a:r>
              <a:rPr lang="en-US" sz="1959">
                <a:solidFill>
                  <a:srgbClr val="231F20"/>
                </a:solidFill>
                <a:latin typeface="TT Firs Neue"/>
                <a:ea typeface="TT Firs Neue"/>
                <a:cs typeface="TT Firs Neue"/>
                <a:sym typeface="TT Firs Neue"/>
              </a:rPr>
              <a:t>Why Draft 2 is the base:</a:t>
            </a:r>
          </a:p>
          <a:p>
            <a:pPr algn="l" marL="422963" indent="-211481" lvl="1">
              <a:lnSpc>
                <a:spcPts val="3212"/>
              </a:lnSpc>
              <a:buFont typeface="Arial"/>
              <a:buChar char="•"/>
            </a:pPr>
            <a:r>
              <a:rPr lang="en-US" sz="1959">
                <a:solidFill>
                  <a:srgbClr val="231F20"/>
                </a:solidFill>
                <a:latin typeface="TT Firs Neue"/>
                <a:ea typeface="TT Firs Neue"/>
                <a:cs typeface="TT Firs Neue"/>
                <a:sym typeface="TT Firs Neue"/>
              </a:rPr>
              <a:t> Lower stress for dyslexic readers: scores are collapsed by default, and onboarding asks one question at a time.</a:t>
            </a:r>
          </a:p>
          <a:p>
            <a:pPr algn="l" marL="422963" indent="-211481" lvl="1">
              <a:lnSpc>
                <a:spcPts val="3212"/>
              </a:lnSpc>
              <a:buFont typeface="Arial"/>
              <a:buChar char="•"/>
            </a:pPr>
            <a:r>
              <a:rPr lang="en-US" sz="1959">
                <a:solidFill>
                  <a:srgbClr val="231F20"/>
                </a:solidFill>
                <a:latin typeface="TT Firs Neue"/>
                <a:ea typeface="TT Firs Neue"/>
                <a:cs typeface="TT Firs Neue"/>
                <a:sym typeface="TT Firs Neue"/>
              </a:rPr>
              <a:t> Stronger user control (our track): students decide level, format, and each term explanation, and every change can be undone.</a:t>
            </a:r>
          </a:p>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 More complete: it covers more dyslexia-specific controls (background colors, line length, read-aloud, focus mode) and more error cases (scanned PDFs, unsupported files, failures).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1862406">
            <a:off x="13782769" y="422979"/>
            <a:ext cx="6351983" cy="10163172"/>
          </a:xfrm>
          <a:custGeom>
            <a:avLst/>
            <a:gdLst/>
            <a:ahLst/>
            <a:cxnLst/>
            <a:rect r="r" b="b" t="t" l="l"/>
            <a:pathLst>
              <a:path h="10163172" w="6351983">
                <a:moveTo>
                  <a:pt x="6351982" y="0"/>
                </a:moveTo>
                <a:lnTo>
                  <a:pt x="0" y="0"/>
                </a:lnTo>
                <a:lnTo>
                  <a:pt x="0" y="10163172"/>
                </a:lnTo>
                <a:lnTo>
                  <a:pt x="6351982" y="10163172"/>
                </a:lnTo>
                <a:lnTo>
                  <a:pt x="6351982" y="0"/>
                </a:lnTo>
                <a:close/>
              </a:path>
            </a:pathLst>
          </a:custGeom>
          <a:blipFill>
            <a:blip r:embed="rId3">
              <a:alphaModFix amt="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92615" y="1671176"/>
            <a:ext cx="1538737" cy="1377169"/>
          </a:xfrm>
          <a:custGeom>
            <a:avLst/>
            <a:gdLst/>
            <a:ahLst/>
            <a:cxnLst/>
            <a:rect r="r" b="b" t="t" l="l"/>
            <a:pathLst>
              <a:path h="1377169" w="1538737">
                <a:moveTo>
                  <a:pt x="0" y="0"/>
                </a:moveTo>
                <a:lnTo>
                  <a:pt x="1538737" y="0"/>
                </a:lnTo>
                <a:lnTo>
                  <a:pt x="1538737" y="1377170"/>
                </a:lnTo>
                <a:lnTo>
                  <a:pt x="0" y="13771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172500" y="8085170"/>
            <a:ext cx="1173130" cy="1173130"/>
          </a:xfrm>
          <a:custGeom>
            <a:avLst/>
            <a:gdLst/>
            <a:ahLst/>
            <a:cxnLst/>
            <a:rect r="r" b="b" t="t" l="l"/>
            <a:pathLst>
              <a:path h="1173130" w="1173130">
                <a:moveTo>
                  <a:pt x="0" y="0"/>
                </a:moveTo>
                <a:lnTo>
                  <a:pt x="1173130" y="0"/>
                </a:lnTo>
                <a:lnTo>
                  <a:pt x="1173130" y="1173130"/>
                </a:lnTo>
                <a:lnTo>
                  <a:pt x="0" y="11731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218882" y="4976380"/>
            <a:ext cx="2905912" cy="1056370"/>
            <a:chOff x="0" y="0"/>
            <a:chExt cx="1194353" cy="434176"/>
          </a:xfrm>
        </p:grpSpPr>
        <p:sp>
          <p:nvSpPr>
            <p:cNvPr name="Freeform 7" id="7"/>
            <p:cNvSpPr/>
            <p:nvPr/>
          </p:nvSpPr>
          <p:spPr>
            <a:xfrm flipH="false" flipV="false" rot="0">
              <a:off x="0" y="0"/>
              <a:ext cx="1194353" cy="434176"/>
            </a:xfrm>
            <a:custGeom>
              <a:avLst/>
              <a:gdLst/>
              <a:ahLst/>
              <a:cxnLst/>
              <a:rect r="r" b="b" t="t" l="l"/>
              <a:pathLst>
                <a:path h="434176" w="1194353">
                  <a:moveTo>
                    <a:pt x="39963" y="0"/>
                  </a:moveTo>
                  <a:lnTo>
                    <a:pt x="1154390" y="0"/>
                  </a:lnTo>
                  <a:cubicBezTo>
                    <a:pt x="1176461" y="0"/>
                    <a:pt x="1194353" y="17892"/>
                    <a:pt x="1194353" y="39963"/>
                  </a:cubicBezTo>
                  <a:lnTo>
                    <a:pt x="1194353" y="394213"/>
                  </a:lnTo>
                  <a:cubicBezTo>
                    <a:pt x="1194353" y="416284"/>
                    <a:pt x="1176461" y="434176"/>
                    <a:pt x="1154390" y="434176"/>
                  </a:cubicBezTo>
                  <a:lnTo>
                    <a:pt x="39963" y="434176"/>
                  </a:lnTo>
                  <a:cubicBezTo>
                    <a:pt x="17892" y="434176"/>
                    <a:pt x="0" y="416284"/>
                    <a:pt x="0" y="394213"/>
                  </a:cubicBezTo>
                  <a:lnTo>
                    <a:pt x="0" y="39963"/>
                  </a:lnTo>
                  <a:cubicBezTo>
                    <a:pt x="0" y="17892"/>
                    <a:pt x="17892" y="0"/>
                    <a:pt x="39963" y="0"/>
                  </a:cubicBezTo>
                  <a:close/>
                </a:path>
              </a:pathLst>
            </a:custGeom>
            <a:solidFill>
              <a:srgbClr val="DCDDE3"/>
            </a:solidFill>
          </p:spPr>
        </p:sp>
        <p:sp>
          <p:nvSpPr>
            <p:cNvPr name="TextBox 8" id="8"/>
            <p:cNvSpPr txBox="true"/>
            <p:nvPr/>
          </p:nvSpPr>
          <p:spPr>
            <a:xfrm>
              <a:off x="0" y="0"/>
              <a:ext cx="1194353" cy="434176"/>
            </a:xfrm>
            <a:prstGeom prst="rect">
              <a:avLst/>
            </a:prstGeom>
          </p:spPr>
          <p:txBody>
            <a:bodyPr anchor="ctr" rtlCol="false" tIns="38100" lIns="38100" bIns="38100" rIns="38100"/>
            <a:lstStyle/>
            <a:p>
              <a:pPr algn="ctr">
                <a:lnSpc>
                  <a:spcPts val="2303"/>
                </a:lnSpc>
              </a:pPr>
            </a:p>
          </p:txBody>
        </p:sp>
      </p:grpSp>
      <p:grpSp>
        <p:nvGrpSpPr>
          <p:cNvPr name="Group 9" id="9"/>
          <p:cNvGrpSpPr/>
          <p:nvPr/>
        </p:nvGrpSpPr>
        <p:grpSpPr>
          <a:xfrm rot="0">
            <a:off x="3013738" y="5232081"/>
            <a:ext cx="611393" cy="567792"/>
            <a:chOff x="0" y="0"/>
            <a:chExt cx="476043" cy="442094"/>
          </a:xfrm>
        </p:grpSpPr>
        <p:sp>
          <p:nvSpPr>
            <p:cNvPr name="Freeform 10" id="10"/>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11" id="11"/>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TextBox 12" id="12"/>
          <p:cNvSpPr txBox="true"/>
          <p:nvPr/>
        </p:nvSpPr>
        <p:spPr>
          <a:xfrm rot="0">
            <a:off x="321949" y="5369747"/>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Exact prompt </a:t>
            </a:r>
          </a:p>
        </p:txBody>
      </p:sp>
      <p:grpSp>
        <p:nvGrpSpPr>
          <p:cNvPr name="Group 13" id="13"/>
          <p:cNvGrpSpPr/>
          <p:nvPr/>
        </p:nvGrpSpPr>
        <p:grpSpPr>
          <a:xfrm rot="0">
            <a:off x="3829408" y="1028700"/>
            <a:ext cx="13948705" cy="9062846"/>
            <a:chOff x="0" y="0"/>
            <a:chExt cx="5733029" cy="3724902"/>
          </a:xfrm>
        </p:grpSpPr>
        <p:sp>
          <p:nvSpPr>
            <p:cNvPr name="Freeform 14" id="14"/>
            <p:cNvSpPr/>
            <p:nvPr/>
          </p:nvSpPr>
          <p:spPr>
            <a:xfrm flipH="false" flipV="false" rot="0">
              <a:off x="0" y="0"/>
              <a:ext cx="5733030" cy="3724902"/>
            </a:xfrm>
            <a:custGeom>
              <a:avLst/>
              <a:gdLst/>
              <a:ahLst/>
              <a:cxnLst/>
              <a:rect r="r" b="b" t="t" l="l"/>
              <a:pathLst>
                <a:path h="3724902" w="5733030">
                  <a:moveTo>
                    <a:pt x="8325" y="0"/>
                  </a:moveTo>
                  <a:lnTo>
                    <a:pt x="5724704" y="0"/>
                  </a:lnTo>
                  <a:cubicBezTo>
                    <a:pt x="5729302" y="0"/>
                    <a:pt x="5733030" y="3727"/>
                    <a:pt x="5733030" y="8325"/>
                  </a:cubicBezTo>
                  <a:lnTo>
                    <a:pt x="5733030" y="3716577"/>
                  </a:lnTo>
                  <a:cubicBezTo>
                    <a:pt x="5733030" y="3721175"/>
                    <a:pt x="5729302" y="3724902"/>
                    <a:pt x="5724704" y="3724902"/>
                  </a:cubicBezTo>
                  <a:lnTo>
                    <a:pt x="8325" y="3724902"/>
                  </a:lnTo>
                  <a:cubicBezTo>
                    <a:pt x="3727" y="3724902"/>
                    <a:pt x="0" y="3721175"/>
                    <a:pt x="0" y="3716577"/>
                  </a:cubicBezTo>
                  <a:lnTo>
                    <a:pt x="0" y="8325"/>
                  </a:lnTo>
                  <a:cubicBezTo>
                    <a:pt x="0" y="3727"/>
                    <a:pt x="3727" y="0"/>
                    <a:pt x="8325" y="0"/>
                  </a:cubicBezTo>
                  <a:close/>
                </a:path>
              </a:pathLst>
            </a:custGeom>
            <a:solidFill>
              <a:srgbClr val="FEFEFE"/>
            </a:solidFill>
            <a:ln w="28575" cap="sq">
              <a:solidFill>
                <a:srgbClr val="E1B076"/>
              </a:solidFill>
              <a:prstDash val="solid"/>
              <a:miter/>
            </a:ln>
          </p:spPr>
        </p:sp>
        <p:sp>
          <p:nvSpPr>
            <p:cNvPr name="TextBox 15" id="15"/>
            <p:cNvSpPr txBox="true"/>
            <p:nvPr/>
          </p:nvSpPr>
          <p:spPr>
            <a:xfrm>
              <a:off x="0" y="-28575"/>
              <a:ext cx="5733029" cy="3753477"/>
            </a:xfrm>
            <a:prstGeom prst="rect">
              <a:avLst/>
            </a:prstGeom>
          </p:spPr>
          <p:txBody>
            <a:bodyPr anchor="ctr" rtlCol="false" tIns="38100" lIns="38100" bIns="38100" rIns="38100"/>
            <a:lstStyle/>
            <a:p>
              <a:pPr algn="l">
                <a:lnSpc>
                  <a:spcPts val="2677"/>
                </a:lnSpc>
              </a:pPr>
            </a:p>
          </p:txBody>
        </p:sp>
      </p:grpSp>
      <p:sp>
        <p:nvSpPr>
          <p:cNvPr name="TextBox 16" id="16"/>
          <p:cNvSpPr txBox="true"/>
          <p:nvPr/>
        </p:nvSpPr>
        <p:spPr>
          <a:xfrm rot="0">
            <a:off x="4023687" y="1128584"/>
            <a:ext cx="13860380" cy="8777352"/>
          </a:xfrm>
          <a:prstGeom prst="rect">
            <a:avLst/>
          </a:prstGeom>
        </p:spPr>
        <p:txBody>
          <a:bodyPr anchor="t" rtlCol="false" tIns="0" lIns="0" bIns="0" rIns="0">
            <a:spAutoFit/>
          </a:bodyPr>
          <a:lstStyle/>
          <a:p>
            <a:pPr algn="l">
              <a:lnSpc>
                <a:spcPts val="3212"/>
              </a:lnSpc>
            </a:pPr>
            <a:r>
              <a:rPr lang="en-US" sz="1959">
                <a:solidFill>
                  <a:srgbClr val="231F20"/>
                </a:solidFill>
                <a:latin typeface="TT Firs Neue"/>
                <a:ea typeface="TT Firs Neue"/>
                <a:cs typeface="TT Firs Neue"/>
                <a:sym typeface="TT Firs Neue"/>
              </a:rPr>
              <a:t>You are a UX designer and conversational AI specialist who designs accessible tools for readers with dyslexia.</a:t>
            </a:r>
          </a:p>
          <a:p>
            <a:pPr algn="l">
              <a:lnSpc>
                <a:spcPts val="3212"/>
              </a:lnSpc>
            </a:pPr>
            <a:r>
              <a:rPr lang="en-US" sz="1959">
                <a:solidFill>
                  <a:srgbClr val="231F20"/>
                </a:solidFill>
                <a:latin typeface="TT Firs Neue"/>
                <a:ea typeface="TT Firs Neue"/>
                <a:cs typeface="TT Firs Neue"/>
                <a:sym typeface="TT Firs Neue"/>
              </a:rPr>
              <a:t>Draft the core interaction flow for a chatbot called "Inclusive Reading Assistant". It simplifies text, adjusts reading level, and reformats text for readers with dyslexia.</a:t>
            </a:r>
          </a:p>
          <a:p>
            <a:pPr algn="l">
              <a:lnSpc>
                <a:spcPts val="3212"/>
              </a:lnSpc>
            </a:pPr>
          </a:p>
          <a:p>
            <a:pPr algn="l">
              <a:lnSpc>
                <a:spcPts val="3212"/>
              </a:lnSpc>
            </a:pPr>
            <a:r>
              <a:rPr lang="en-US" sz="1959" b="true">
                <a:solidFill>
                  <a:srgbClr val="231F20"/>
                </a:solidFill>
                <a:latin typeface="TT Firs Neue Bold"/>
                <a:ea typeface="TT Firs Neue Bold"/>
                <a:cs typeface="TT Firs Neue Bold"/>
                <a:sym typeface="TT Firs Neue Bold"/>
              </a:rPr>
              <a:t>Track:</a:t>
            </a:r>
            <a:r>
              <a:rPr lang="en-US" sz="1959">
                <a:solidFill>
                  <a:srgbClr val="231F20"/>
                </a:solidFill>
                <a:latin typeface="TT Firs Neue"/>
                <a:ea typeface="TT Firs Neue"/>
                <a:cs typeface="TT Firs Neue"/>
                <a:sym typeface="TT Firs Neue"/>
              </a:rPr>
              <a:t> User Control and Agency (the user decides the level and formatting, never the system).</a:t>
            </a:r>
          </a:p>
          <a:p>
            <a:pPr algn="l">
              <a:lnSpc>
                <a:spcPts val="3212"/>
              </a:lnSpc>
            </a:pPr>
            <a:r>
              <a:rPr lang="en-US" sz="1959" b="true">
                <a:solidFill>
                  <a:srgbClr val="231F20"/>
                </a:solidFill>
                <a:latin typeface="TT Firs Neue Bold"/>
                <a:ea typeface="TT Firs Neue Bold"/>
                <a:cs typeface="TT Firs Neue Bold"/>
                <a:sym typeface="TT Firs Neue Bold"/>
              </a:rPr>
              <a:t>Target users:</a:t>
            </a:r>
            <a:r>
              <a:rPr lang="en-US" sz="1959">
                <a:solidFill>
                  <a:srgbClr val="231F20"/>
                </a:solidFill>
                <a:latin typeface="TT Firs Neue"/>
                <a:ea typeface="TT Firs Neue"/>
                <a:cs typeface="TT Firs Neue"/>
                <a:sym typeface="TT Firs Neue"/>
              </a:rPr>
              <a:t> university students with dyslexia who read long, dense academic texts (textbooks,</a:t>
            </a:r>
          </a:p>
          <a:p>
            <a:pPr algn="l">
              <a:lnSpc>
                <a:spcPts val="3212"/>
              </a:lnSpc>
            </a:pPr>
            <a:r>
              <a:rPr lang="en-US" sz="1959">
                <a:solidFill>
                  <a:srgbClr val="231F20"/>
                </a:solidFill>
                <a:latin typeface="TT Firs Neue"/>
                <a:ea typeface="TT Firs Neue"/>
                <a:cs typeface="TT Firs Neue"/>
                <a:sym typeface="TT Firs Neue"/>
              </a:rPr>
              <a:t>lecture notes, papers).</a:t>
            </a:r>
          </a:p>
          <a:p>
            <a:pPr algn="l">
              <a:lnSpc>
                <a:spcPts val="3212"/>
              </a:lnSpc>
            </a:pPr>
          </a:p>
          <a:p>
            <a:pPr algn="l">
              <a:lnSpc>
                <a:spcPts val="3212"/>
              </a:lnSpc>
            </a:pPr>
            <a:r>
              <a:rPr lang="en-US" sz="1959" b="true">
                <a:solidFill>
                  <a:srgbClr val="231F20"/>
                </a:solidFill>
                <a:latin typeface="TT Firs Neue Bold"/>
                <a:ea typeface="TT Firs Neue Bold"/>
                <a:cs typeface="TT Firs Neue Bold"/>
                <a:sym typeface="TT Firs Neue Bold"/>
              </a:rPr>
              <a:t>Cover this flow, from opening the chatbot to getting the simplified text:</a:t>
            </a:r>
          </a:p>
          <a:p>
            <a:pPr algn="l">
              <a:lnSpc>
                <a:spcPts val="3212"/>
              </a:lnSpc>
            </a:pPr>
            <a:r>
              <a:rPr lang="en-US" sz="1959">
                <a:solidFill>
                  <a:srgbClr val="231F20"/>
                </a:solidFill>
                <a:latin typeface="TT Firs Neue"/>
                <a:ea typeface="TT Firs Neue"/>
                <a:cs typeface="TT Firs Neue"/>
                <a:sym typeface="TT Firs Neue"/>
              </a:rPr>
              <a:t>1. Short onboarding (preferences)</a:t>
            </a:r>
          </a:p>
          <a:p>
            <a:pPr algn="l">
              <a:lnSpc>
                <a:spcPts val="3212"/>
              </a:lnSpc>
            </a:pPr>
            <a:r>
              <a:rPr lang="en-US" sz="1959">
                <a:solidFill>
                  <a:srgbClr val="231F20"/>
                </a:solidFill>
                <a:latin typeface="TT Firs Neue"/>
                <a:ea typeface="TT Firs Neue"/>
                <a:cs typeface="TT Firs Neue"/>
                <a:sym typeface="TT Firs Neue"/>
              </a:rPr>
              <a:t>2. Text input (paste or upload)</a:t>
            </a:r>
          </a:p>
          <a:p>
            <a:pPr algn="l">
              <a:lnSpc>
                <a:spcPts val="3212"/>
              </a:lnSpc>
            </a:pPr>
            <a:r>
              <a:rPr lang="en-US" sz="1959">
                <a:solidFill>
                  <a:srgbClr val="231F20"/>
                </a:solidFill>
                <a:latin typeface="TT Firs Neue"/>
                <a:ea typeface="TT Firs Neue"/>
                <a:cs typeface="TT Firs Neue"/>
                <a:sym typeface="TT Firs Neue"/>
              </a:rPr>
              <a:t>3. Reading level choice (Easy / Medium / Advanced)</a:t>
            </a:r>
          </a:p>
          <a:p>
            <a:pPr algn="l">
              <a:lnSpc>
                <a:spcPts val="3212"/>
              </a:lnSpc>
            </a:pPr>
            <a:r>
              <a:rPr lang="en-US" sz="1959">
                <a:solidFill>
                  <a:srgbClr val="231F20"/>
                </a:solidFill>
                <a:latin typeface="TT Firs Neue"/>
                <a:ea typeface="TT Firs Neue"/>
                <a:cs typeface="TT Firs Neue"/>
                <a:sym typeface="TT Firs Neue"/>
              </a:rPr>
              <a:t>4. Simplified text side by side with the original</a:t>
            </a:r>
          </a:p>
          <a:p>
            <a:pPr algn="l">
              <a:lnSpc>
                <a:spcPts val="3212"/>
              </a:lnSpc>
            </a:pPr>
            <a:r>
              <a:rPr lang="en-US" sz="1959">
                <a:solidFill>
                  <a:srgbClr val="231F20"/>
                </a:solidFill>
                <a:latin typeface="TT Firs Neue"/>
                <a:ea typeface="TT Firs Neue"/>
                <a:cs typeface="TT Firs Neue"/>
                <a:sym typeface="TT Firs Neue"/>
              </a:rPr>
              <a:t>5. Readability scores before vs. after (e.g., Flesch Reading Ease)</a:t>
            </a:r>
          </a:p>
          <a:p>
            <a:pPr algn="l">
              <a:lnSpc>
                <a:spcPts val="3212"/>
              </a:lnSpc>
            </a:pPr>
            <a:r>
              <a:rPr lang="en-US" sz="1959">
                <a:solidFill>
                  <a:srgbClr val="231F20"/>
                </a:solidFill>
                <a:latin typeface="TT Firs Neue"/>
                <a:ea typeface="TT Firs Neue"/>
                <a:cs typeface="TT Firs Neue"/>
                <a:sym typeface="TT Firs Neue"/>
              </a:rPr>
              <a:t>6. Easy adjustments ("simpler", "explain this term", "keep this term")</a:t>
            </a:r>
          </a:p>
          <a:p>
            <a:pPr algn="l">
              <a:lnSpc>
                <a:spcPts val="3212"/>
              </a:lnSpc>
            </a:pPr>
            <a:r>
              <a:rPr lang="en-US" sz="1959">
                <a:solidFill>
                  <a:srgbClr val="231F20"/>
                </a:solidFill>
                <a:latin typeface="TT Firs Neue"/>
                <a:ea typeface="TT Firs Neue"/>
                <a:cs typeface="TT Firs Neue"/>
                <a:sym typeface="TT Firs Neue"/>
              </a:rPr>
              <a:t>7. Error handling (empty input, text too long)</a:t>
            </a:r>
          </a:p>
          <a:p>
            <a:pPr algn="l">
              <a:lnSpc>
                <a:spcPts val="3212"/>
              </a:lnSpc>
            </a:pPr>
          </a:p>
          <a:p>
            <a:pPr algn="l">
              <a:lnSpc>
                <a:spcPts val="3212"/>
              </a:lnSpc>
            </a:pPr>
            <a:r>
              <a:rPr lang="en-US" sz="1959" b="true">
                <a:solidFill>
                  <a:srgbClr val="231F20"/>
                </a:solidFill>
                <a:latin typeface="TT Firs Neue Bold"/>
                <a:ea typeface="TT Firs Neue Bold"/>
                <a:cs typeface="TT Firs Neue Bold"/>
                <a:sym typeface="TT Firs Neue Bold"/>
              </a:rPr>
              <a:t>Academic terms must be handled carefully: </a:t>
            </a:r>
            <a:r>
              <a:rPr lang="en-US" sz="1959">
                <a:solidFill>
                  <a:srgbClr val="231F20"/>
                </a:solidFill>
                <a:latin typeface="TT Firs Neue"/>
                <a:ea typeface="TT Firs Neue"/>
                <a:cs typeface="TT Firs Neue"/>
                <a:sym typeface="TT Firs Neue"/>
              </a:rPr>
              <a:t>keep key terms but explain them in simple words, and let the </a:t>
            </a:r>
          </a:p>
          <a:p>
            <a:pPr algn="l">
              <a:lnSpc>
                <a:spcPts val="3212"/>
              </a:lnSpc>
            </a:pPr>
            <a:r>
              <a:rPr lang="en-US" sz="1959">
                <a:solidFill>
                  <a:srgbClr val="231F20"/>
                </a:solidFill>
                <a:latin typeface="TT Firs Neue"/>
                <a:ea typeface="TT Firs Neue"/>
                <a:cs typeface="TT Firs Neue"/>
                <a:sym typeface="TT Firs Neue"/>
              </a:rPr>
              <a:t>user choose to keep, hide, or expand each explanation.</a:t>
            </a:r>
          </a:p>
          <a:p>
            <a:pPr algn="l">
              <a:lnSpc>
                <a:spcPts val="3212"/>
              </a:lnSpc>
            </a:pPr>
            <a:r>
              <a:rPr lang="en-US" sz="1959" b="true">
                <a:solidFill>
                  <a:srgbClr val="231F20"/>
                </a:solidFill>
                <a:latin typeface="TT Firs Neue Bold"/>
                <a:ea typeface="TT Firs Neue Bold"/>
                <a:cs typeface="TT Firs Neue Bold"/>
                <a:sym typeface="TT Firs Neue Bold"/>
              </a:rPr>
              <a:t>For each step</a:t>
            </a:r>
            <a:r>
              <a:rPr lang="en-US" sz="1959">
                <a:solidFill>
                  <a:srgbClr val="231F20"/>
                </a:solidFill>
                <a:latin typeface="TT Firs Neue"/>
                <a:ea typeface="TT Firs Neue"/>
                <a:cs typeface="TT Firs Neue"/>
                <a:sym typeface="TT Firs Neue"/>
              </a:rPr>
              <a:t>, give: user action, chatbot reply, and user controls.</a:t>
            </a:r>
          </a:p>
          <a:p>
            <a:pPr algn="l">
              <a:lnSpc>
                <a:spcPts val="3212"/>
              </a:lnSpc>
            </a:pPr>
            <a:r>
              <a:rPr lang="en-US" sz="1959" b="true">
                <a:solidFill>
                  <a:srgbClr val="231F20"/>
                </a:solidFill>
                <a:latin typeface="TT Firs Neue Bold"/>
                <a:ea typeface="TT Firs Neue Bold"/>
                <a:cs typeface="TT Firs Neue Bold"/>
                <a:sym typeface="TT Firs Neue Bold"/>
              </a:rPr>
              <a:t>Rules:</a:t>
            </a:r>
            <a:r>
              <a:rPr lang="en-US" sz="1959">
                <a:solidFill>
                  <a:srgbClr val="231F20"/>
                </a:solidFill>
                <a:latin typeface="TT Firs Neue"/>
                <a:ea typeface="TT Firs Neue"/>
                <a:cs typeface="TT Firs Neue"/>
                <a:sym typeface="TT Firs Neue"/>
              </a:rPr>
              <a:t> chatbot messages max 2 sentences, simple words, always offer a choice.</a:t>
            </a:r>
          </a:p>
          <a:p>
            <a:pPr algn="l">
              <a:lnSpc>
                <a:spcPts val="3212"/>
              </a:lnSpc>
              <a:spcBef>
                <a:spcPct val="0"/>
              </a:spcBef>
            </a:pPr>
            <a:r>
              <a:rPr lang="en-US" b="true" sz="1959">
                <a:solidFill>
                  <a:srgbClr val="231F20"/>
                </a:solidFill>
                <a:latin typeface="TT Firs Neue Bold"/>
                <a:ea typeface="TT Firs Neue Bold"/>
                <a:cs typeface="TT Firs Neue Bold"/>
                <a:sym typeface="TT Firs Neue Bold"/>
              </a:rPr>
              <a:t>Output</a:t>
            </a:r>
            <a:r>
              <a:rPr lang="en-US" sz="1959">
                <a:solidFill>
                  <a:srgbClr val="231F20"/>
                </a:solidFill>
                <a:latin typeface="TT Firs Neue"/>
                <a:ea typeface="TT Firs Neue"/>
                <a:cs typeface="TT Firs Neue"/>
                <a:sym typeface="TT Firs Neue"/>
              </a:rPr>
              <a:t>: a numbered flow, a sample conversation (6 turns), and 3 strengths + 3 weaknesses.</a:t>
            </a:r>
          </a:p>
        </p:txBody>
      </p:sp>
      <p:sp>
        <p:nvSpPr>
          <p:cNvPr name="Freeform 17" id="17"/>
          <p:cNvSpPr/>
          <p:nvPr/>
        </p:nvSpPr>
        <p:spPr>
          <a:xfrm flipH="true" flipV="false" rot="-1862406">
            <a:off x="629518" y="8597367"/>
            <a:ext cx="741433" cy="1186293"/>
          </a:xfrm>
          <a:custGeom>
            <a:avLst/>
            <a:gdLst/>
            <a:ahLst/>
            <a:cxnLst/>
            <a:rect r="r" b="b" t="t" l="l"/>
            <a:pathLst>
              <a:path h="1186293" w="741433">
                <a:moveTo>
                  <a:pt x="741434" y="0"/>
                </a:moveTo>
                <a:lnTo>
                  <a:pt x="0" y="0"/>
                </a:lnTo>
                <a:lnTo>
                  <a:pt x="0" y="1186294"/>
                </a:lnTo>
                <a:lnTo>
                  <a:pt x="741434" y="1186294"/>
                </a:lnTo>
                <a:lnTo>
                  <a:pt x="74143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0">
            <a:off x="16958760" y="-206003"/>
            <a:ext cx="925307" cy="925307"/>
          </a:xfrm>
          <a:custGeom>
            <a:avLst/>
            <a:gdLst/>
            <a:ahLst/>
            <a:cxnLst/>
            <a:rect r="r" b="b" t="t" l="l"/>
            <a:pathLst>
              <a:path h="925307" w="925307">
                <a:moveTo>
                  <a:pt x="0" y="0"/>
                </a:moveTo>
                <a:lnTo>
                  <a:pt x="925307" y="0"/>
                </a:lnTo>
                <a:lnTo>
                  <a:pt x="925307" y="925306"/>
                </a:lnTo>
                <a:lnTo>
                  <a:pt x="0" y="9253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6086170" y="-43529"/>
            <a:ext cx="1173130" cy="1173130"/>
          </a:xfrm>
          <a:custGeom>
            <a:avLst/>
            <a:gdLst/>
            <a:ahLst/>
            <a:cxnLst/>
            <a:rect r="r" b="b" t="t" l="l"/>
            <a:pathLst>
              <a:path h="1173130" w="1173130">
                <a:moveTo>
                  <a:pt x="0" y="0"/>
                </a:moveTo>
                <a:lnTo>
                  <a:pt x="1173130" y="0"/>
                </a:lnTo>
                <a:lnTo>
                  <a:pt x="1173130" y="1173129"/>
                </a:lnTo>
                <a:lnTo>
                  <a:pt x="0" y="11731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0" id="20"/>
          <p:cNvSpPr txBox="true"/>
          <p:nvPr/>
        </p:nvSpPr>
        <p:spPr>
          <a:xfrm rot="0">
            <a:off x="640847" y="228075"/>
            <a:ext cx="16618453" cy="601346"/>
          </a:xfrm>
          <a:prstGeom prst="rect">
            <a:avLst/>
          </a:prstGeom>
        </p:spPr>
        <p:txBody>
          <a:bodyPr anchor="t" rtlCol="false" tIns="0" lIns="0" bIns="0" rIns="0">
            <a:spAutoFit/>
          </a:bodyPr>
          <a:lstStyle/>
          <a:p>
            <a:pPr algn="l">
              <a:lnSpc>
                <a:spcPts val="3800"/>
              </a:lnSpc>
            </a:pPr>
            <a:r>
              <a:rPr lang="en-US" sz="3800" spc="-110">
                <a:solidFill>
                  <a:srgbClr val="0B0A0A"/>
                </a:solidFill>
                <a:latin typeface="Heading Now 71-78"/>
                <a:ea typeface="Heading Now 71-78"/>
                <a:cs typeface="Heading Now 71-78"/>
                <a:sym typeface="Heading Now 71-78"/>
              </a:rPr>
              <a:t>App</a:t>
            </a:r>
            <a:r>
              <a:rPr lang="en-US" sz="3800" spc="-110">
                <a:solidFill>
                  <a:srgbClr val="0B0A0A"/>
                </a:solidFill>
                <a:latin typeface="Heading Now 71-78"/>
                <a:ea typeface="Heading Now 71-78"/>
                <a:cs typeface="Heading Now 71-78"/>
                <a:sym typeface="Heading Now 71-78"/>
              </a:rPr>
              <a:t>endix A: </a:t>
            </a:r>
            <a:r>
              <a:rPr lang="en-US" sz="3800" spc="-110">
                <a:solidFill>
                  <a:srgbClr val="E1B076"/>
                </a:solidFill>
                <a:latin typeface="Heading Now 71-78"/>
                <a:ea typeface="Heading Now 71-78"/>
                <a:cs typeface="Heading Now 71-78"/>
                <a:sym typeface="Heading Now 71-78"/>
              </a:rPr>
              <a:t>Prompt</a:t>
            </a:r>
            <a:r>
              <a:rPr lang="en-US" sz="3800" spc="-110">
                <a:solidFill>
                  <a:srgbClr val="0B0A0A"/>
                </a:solidFill>
                <a:latin typeface="Heading Now 71-78"/>
                <a:ea typeface="Heading Now 71-78"/>
                <a:cs typeface="Heading Now 71-78"/>
                <a:sym typeface="Heading Now 71-78"/>
              </a:rPr>
              <a:t> Log and </a:t>
            </a:r>
            <a:r>
              <a:rPr lang="en-US" sz="3800" spc="-110">
                <a:solidFill>
                  <a:srgbClr val="0B0A0A"/>
                </a:solidFill>
                <a:latin typeface="Heading Now 71-78"/>
                <a:ea typeface="Heading Now 71-78"/>
                <a:cs typeface="Heading Now 71-78"/>
                <a:sym typeface="Heading Now 71-78"/>
              </a:rPr>
              <a:t>Comparison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3989559" y="1425511"/>
            <a:ext cx="2684962" cy="625936"/>
            <a:chOff x="0" y="0"/>
            <a:chExt cx="1103541" cy="257265"/>
          </a:xfrm>
        </p:grpSpPr>
        <p:sp>
          <p:nvSpPr>
            <p:cNvPr name="Freeform 4" id="4"/>
            <p:cNvSpPr/>
            <p:nvPr/>
          </p:nvSpPr>
          <p:spPr>
            <a:xfrm flipH="false" flipV="false" rot="0">
              <a:off x="0" y="0"/>
              <a:ext cx="1103541" cy="257265"/>
            </a:xfrm>
            <a:custGeom>
              <a:avLst/>
              <a:gdLst/>
              <a:ahLst/>
              <a:cxnLst/>
              <a:rect r="r" b="b" t="t" l="l"/>
              <a:pathLst>
                <a:path h="257265" w="1103541">
                  <a:moveTo>
                    <a:pt x="43252" y="0"/>
                  </a:moveTo>
                  <a:lnTo>
                    <a:pt x="1060290" y="0"/>
                  </a:lnTo>
                  <a:cubicBezTo>
                    <a:pt x="1084177" y="0"/>
                    <a:pt x="1103541" y="19364"/>
                    <a:pt x="1103541" y="43252"/>
                  </a:cubicBezTo>
                  <a:lnTo>
                    <a:pt x="1103541" y="214013"/>
                  </a:lnTo>
                  <a:cubicBezTo>
                    <a:pt x="1103541" y="237900"/>
                    <a:pt x="1084177" y="257265"/>
                    <a:pt x="1060290" y="257265"/>
                  </a:cubicBezTo>
                  <a:lnTo>
                    <a:pt x="43252" y="257265"/>
                  </a:lnTo>
                  <a:cubicBezTo>
                    <a:pt x="19364" y="257265"/>
                    <a:pt x="0" y="237900"/>
                    <a:pt x="0" y="214013"/>
                  </a:cubicBezTo>
                  <a:lnTo>
                    <a:pt x="0" y="43252"/>
                  </a:lnTo>
                  <a:cubicBezTo>
                    <a:pt x="0" y="19364"/>
                    <a:pt x="19364" y="0"/>
                    <a:pt x="43252" y="0"/>
                  </a:cubicBezTo>
                  <a:close/>
                </a:path>
              </a:pathLst>
            </a:custGeom>
            <a:solidFill>
              <a:srgbClr val="0007AB"/>
            </a:solidFill>
          </p:spPr>
        </p:sp>
        <p:sp>
          <p:nvSpPr>
            <p:cNvPr name="TextBox 5" id="5"/>
            <p:cNvSpPr txBox="true"/>
            <p:nvPr/>
          </p:nvSpPr>
          <p:spPr>
            <a:xfrm>
              <a:off x="0" y="0"/>
              <a:ext cx="1103541" cy="257265"/>
            </a:xfrm>
            <a:prstGeom prst="rect">
              <a:avLst/>
            </a:prstGeom>
          </p:spPr>
          <p:txBody>
            <a:bodyPr anchor="ctr" rtlCol="false" tIns="38100" lIns="38100" bIns="38100" rIns="38100"/>
            <a:lstStyle/>
            <a:p>
              <a:pPr algn="ctr">
                <a:lnSpc>
                  <a:spcPts val="2303"/>
                </a:lnSpc>
              </a:pPr>
            </a:p>
          </p:txBody>
        </p:sp>
      </p:grpSp>
      <p:grpSp>
        <p:nvGrpSpPr>
          <p:cNvPr name="Group 6" id="6"/>
          <p:cNvGrpSpPr/>
          <p:nvPr/>
        </p:nvGrpSpPr>
        <p:grpSpPr>
          <a:xfrm rot="0">
            <a:off x="376754" y="2801257"/>
            <a:ext cx="2905912" cy="1056370"/>
            <a:chOff x="0" y="0"/>
            <a:chExt cx="1194353" cy="434176"/>
          </a:xfrm>
        </p:grpSpPr>
        <p:sp>
          <p:nvSpPr>
            <p:cNvPr name="Freeform 7" id="7"/>
            <p:cNvSpPr/>
            <p:nvPr/>
          </p:nvSpPr>
          <p:spPr>
            <a:xfrm flipH="false" flipV="false" rot="0">
              <a:off x="0" y="0"/>
              <a:ext cx="1194353" cy="434176"/>
            </a:xfrm>
            <a:custGeom>
              <a:avLst/>
              <a:gdLst/>
              <a:ahLst/>
              <a:cxnLst/>
              <a:rect r="r" b="b" t="t" l="l"/>
              <a:pathLst>
                <a:path h="434176" w="1194353">
                  <a:moveTo>
                    <a:pt x="39963" y="0"/>
                  </a:moveTo>
                  <a:lnTo>
                    <a:pt x="1154390" y="0"/>
                  </a:lnTo>
                  <a:cubicBezTo>
                    <a:pt x="1176461" y="0"/>
                    <a:pt x="1194353" y="17892"/>
                    <a:pt x="1194353" y="39963"/>
                  </a:cubicBezTo>
                  <a:lnTo>
                    <a:pt x="1194353" y="394213"/>
                  </a:lnTo>
                  <a:cubicBezTo>
                    <a:pt x="1194353" y="416284"/>
                    <a:pt x="1176461" y="434176"/>
                    <a:pt x="1154390" y="434176"/>
                  </a:cubicBezTo>
                  <a:lnTo>
                    <a:pt x="39963" y="434176"/>
                  </a:lnTo>
                  <a:cubicBezTo>
                    <a:pt x="17892" y="434176"/>
                    <a:pt x="0" y="416284"/>
                    <a:pt x="0" y="394213"/>
                  </a:cubicBezTo>
                  <a:lnTo>
                    <a:pt x="0" y="39963"/>
                  </a:lnTo>
                  <a:cubicBezTo>
                    <a:pt x="0" y="17892"/>
                    <a:pt x="17892" y="0"/>
                    <a:pt x="39963" y="0"/>
                  </a:cubicBezTo>
                  <a:close/>
                </a:path>
              </a:pathLst>
            </a:custGeom>
            <a:solidFill>
              <a:srgbClr val="DCDDE3"/>
            </a:solidFill>
          </p:spPr>
        </p:sp>
        <p:sp>
          <p:nvSpPr>
            <p:cNvPr name="TextBox 8" id="8"/>
            <p:cNvSpPr txBox="true"/>
            <p:nvPr/>
          </p:nvSpPr>
          <p:spPr>
            <a:xfrm>
              <a:off x="0" y="0"/>
              <a:ext cx="1194353" cy="434176"/>
            </a:xfrm>
            <a:prstGeom prst="rect">
              <a:avLst/>
            </a:prstGeom>
          </p:spPr>
          <p:txBody>
            <a:bodyPr anchor="ctr" rtlCol="false" tIns="38100" lIns="38100" bIns="38100" rIns="38100"/>
            <a:lstStyle/>
            <a:p>
              <a:pPr algn="ctr">
                <a:lnSpc>
                  <a:spcPts val="2303"/>
                </a:lnSpc>
              </a:pPr>
            </a:p>
          </p:txBody>
        </p:sp>
      </p:grpSp>
      <p:grpSp>
        <p:nvGrpSpPr>
          <p:cNvPr name="Group 9" id="9"/>
          <p:cNvGrpSpPr/>
          <p:nvPr/>
        </p:nvGrpSpPr>
        <p:grpSpPr>
          <a:xfrm rot="0">
            <a:off x="3989559" y="2316610"/>
            <a:ext cx="6698289" cy="2110233"/>
            <a:chOff x="0" y="0"/>
            <a:chExt cx="2753050" cy="867323"/>
          </a:xfrm>
        </p:grpSpPr>
        <p:sp>
          <p:nvSpPr>
            <p:cNvPr name="Freeform 10" id="10"/>
            <p:cNvSpPr/>
            <p:nvPr/>
          </p:nvSpPr>
          <p:spPr>
            <a:xfrm flipH="false" flipV="false" rot="0">
              <a:off x="0" y="0"/>
              <a:ext cx="2753050" cy="867323"/>
            </a:xfrm>
            <a:custGeom>
              <a:avLst/>
              <a:gdLst/>
              <a:ahLst/>
              <a:cxnLst/>
              <a:rect r="r" b="b" t="t" l="l"/>
              <a:pathLst>
                <a:path h="867323" w="2753050">
                  <a:moveTo>
                    <a:pt x="17337" y="0"/>
                  </a:moveTo>
                  <a:lnTo>
                    <a:pt x="2735713" y="0"/>
                  </a:lnTo>
                  <a:cubicBezTo>
                    <a:pt x="2740311" y="0"/>
                    <a:pt x="2744721" y="1827"/>
                    <a:pt x="2747972" y="5078"/>
                  </a:cubicBezTo>
                  <a:cubicBezTo>
                    <a:pt x="2751224" y="8329"/>
                    <a:pt x="2753050" y="12739"/>
                    <a:pt x="2753050" y="17337"/>
                  </a:cubicBezTo>
                  <a:lnTo>
                    <a:pt x="2753050" y="849986"/>
                  </a:lnTo>
                  <a:cubicBezTo>
                    <a:pt x="2753050" y="854584"/>
                    <a:pt x="2751224" y="858993"/>
                    <a:pt x="2747972" y="862245"/>
                  </a:cubicBezTo>
                  <a:cubicBezTo>
                    <a:pt x="2744721" y="865496"/>
                    <a:pt x="2740311" y="867323"/>
                    <a:pt x="2735713" y="867323"/>
                  </a:cubicBezTo>
                  <a:lnTo>
                    <a:pt x="17337" y="867323"/>
                  </a:lnTo>
                  <a:cubicBezTo>
                    <a:pt x="12739" y="867323"/>
                    <a:pt x="8329" y="865496"/>
                    <a:pt x="5078" y="862245"/>
                  </a:cubicBezTo>
                  <a:cubicBezTo>
                    <a:pt x="1827" y="858993"/>
                    <a:pt x="0" y="854584"/>
                    <a:pt x="0" y="849986"/>
                  </a:cubicBezTo>
                  <a:lnTo>
                    <a:pt x="0" y="17337"/>
                  </a:lnTo>
                  <a:cubicBezTo>
                    <a:pt x="0" y="12739"/>
                    <a:pt x="1827" y="8329"/>
                    <a:pt x="5078" y="5078"/>
                  </a:cubicBezTo>
                  <a:cubicBezTo>
                    <a:pt x="8329" y="1827"/>
                    <a:pt x="12739" y="0"/>
                    <a:pt x="17337" y="0"/>
                  </a:cubicBezTo>
                  <a:close/>
                </a:path>
              </a:pathLst>
            </a:custGeom>
            <a:solidFill>
              <a:srgbClr val="FEFEFE"/>
            </a:solidFill>
            <a:ln w="28575" cap="sq">
              <a:solidFill>
                <a:srgbClr val="E1B076"/>
              </a:solidFill>
              <a:prstDash val="solid"/>
              <a:miter/>
            </a:ln>
          </p:spPr>
        </p:sp>
        <p:sp>
          <p:nvSpPr>
            <p:cNvPr name="TextBox 11" id="11"/>
            <p:cNvSpPr txBox="true"/>
            <p:nvPr/>
          </p:nvSpPr>
          <p:spPr>
            <a:xfrm>
              <a:off x="0" y="0"/>
              <a:ext cx="2753050" cy="867323"/>
            </a:xfrm>
            <a:prstGeom prst="rect">
              <a:avLst/>
            </a:prstGeom>
          </p:spPr>
          <p:txBody>
            <a:bodyPr anchor="ctr" rtlCol="false" tIns="38100" lIns="38100" bIns="38100" rIns="38100"/>
            <a:lstStyle/>
            <a:p>
              <a:pPr algn="ctr">
                <a:lnSpc>
                  <a:spcPts val="2303"/>
                </a:lnSpc>
              </a:pPr>
            </a:p>
          </p:txBody>
        </p:sp>
      </p:grpSp>
      <p:grpSp>
        <p:nvGrpSpPr>
          <p:cNvPr name="Group 12" id="12"/>
          <p:cNvGrpSpPr/>
          <p:nvPr/>
        </p:nvGrpSpPr>
        <p:grpSpPr>
          <a:xfrm rot="0">
            <a:off x="3171610" y="3056958"/>
            <a:ext cx="611393" cy="567792"/>
            <a:chOff x="0" y="0"/>
            <a:chExt cx="476043" cy="442094"/>
          </a:xfrm>
        </p:grpSpPr>
        <p:sp>
          <p:nvSpPr>
            <p:cNvPr name="Freeform 13" id="13"/>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14" id="14"/>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TextBox 15" id="15"/>
          <p:cNvSpPr txBox="true"/>
          <p:nvPr/>
        </p:nvSpPr>
        <p:spPr>
          <a:xfrm rot="0">
            <a:off x="4165200" y="1593435"/>
            <a:ext cx="2509321" cy="322867"/>
          </a:xfrm>
          <a:prstGeom prst="rect">
            <a:avLst/>
          </a:prstGeom>
        </p:spPr>
        <p:txBody>
          <a:bodyPr anchor="t" rtlCol="false" tIns="0" lIns="0" bIns="0" rIns="0">
            <a:spAutoFit/>
          </a:bodyPr>
          <a:lstStyle/>
          <a:p>
            <a:pPr algn="l" marL="0" indent="0" lvl="0">
              <a:lnSpc>
                <a:spcPts val="2623"/>
              </a:lnSpc>
            </a:pPr>
            <a:r>
              <a:rPr lang="en-US" b="true" sz="2242" spc="73">
                <a:solidFill>
                  <a:srgbClr val="F8F6FF"/>
                </a:solidFill>
                <a:latin typeface="Catamaran Bold"/>
                <a:ea typeface="Catamaran Bold"/>
                <a:cs typeface="Catamaran Bold"/>
                <a:sym typeface="Catamaran Bold"/>
              </a:rPr>
              <a:t>Tool 1: ChatGPT</a:t>
            </a:r>
          </a:p>
        </p:txBody>
      </p:sp>
      <p:sp>
        <p:nvSpPr>
          <p:cNvPr name="TextBox 16" id="16"/>
          <p:cNvSpPr txBox="true"/>
          <p:nvPr/>
        </p:nvSpPr>
        <p:spPr>
          <a:xfrm rot="0">
            <a:off x="479820" y="3194624"/>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What it gave</a:t>
            </a:r>
          </a:p>
        </p:txBody>
      </p:sp>
      <p:sp>
        <p:nvSpPr>
          <p:cNvPr name="AutoShape 17" id="17"/>
          <p:cNvSpPr/>
          <p:nvPr/>
        </p:nvSpPr>
        <p:spPr>
          <a:xfrm>
            <a:off x="-2600915" y="238125"/>
            <a:ext cx="22007130" cy="0"/>
          </a:xfrm>
          <a:prstGeom prst="line">
            <a:avLst/>
          </a:prstGeom>
          <a:ln cap="flat" w="19050">
            <a:solidFill>
              <a:srgbClr val="ECEBE9"/>
            </a:solidFill>
            <a:prstDash val="solid"/>
            <a:headEnd type="none" len="sm" w="sm"/>
            <a:tailEnd type="none" len="sm" w="sm"/>
          </a:ln>
        </p:spPr>
      </p:sp>
      <p:sp>
        <p:nvSpPr>
          <p:cNvPr name="TextBox 18" id="18"/>
          <p:cNvSpPr txBox="true"/>
          <p:nvPr/>
        </p:nvSpPr>
        <p:spPr>
          <a:xfrm rot="0">
            <a:off x="4000810" y="2310011"/>
            <a:ext cx="7243679" cy="1976502"/>
          </a:xfrm>
          <a:prstGeom prst="rect">
            <a:avLst/>
          </a:prstGeom>
        </p:spPr>
        <p:txBody>
          <a:bodyPr anchor="t" rtlCol="false" tIns="0" lIns="0" bIns="0" rIns="0">
            <a:spAutoFit/>
          </a:bodyPr>
          <a:lstStyle/>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7-step flow cov</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ring</a:t>
            </a:r>
            <a:r>
              <a:rPr lang="en-US" sz="1959" strike="noStrike" u="none">
                <a:solidFill>
                  <a:srgbClr val="231F20"/>
                </a:solidFill>
                <a:latin typeface="TT Firs Neue"/>
                <a:ea typeface="TT Firs Neue"/>
                <a:cs typeface="TT Firs Neue"/>
                <a:sym typeface="TT Firs Neue"/>
              </a:rPr>
              <a:t> user </a:t>
            </a:r>
            <a:r>
              <a:rPr lang="en-US" sz="1959" strike="noStrike" u="none">
                <a:solidFill>
                  <a:srgbClr val="231F20"/>
                </a:solidFill>
                <a:latin typeface="TT Firs Neue"/>
                <a:ea typeface="TT Firs Neue"/>
                <a:cs typeface="TT Firs Neue"/>
                <a:sym typeface="TT Firs Neue"/>
              </a:rPr>
              <a:t>act</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on</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bot rep</a:t>
            </a:r>
            <a:r>
              <a:rPr lang="en-US" sz="1959" strike="noStrike" u="none">
                <a:solidFill>
                  <a:srgbClr val="231F20"/>
                </a:solidFill>
                <a:latin typeface="TT Firs Neue"/>
                <a:ea typeface="TT Firs Neue"/>
                <a:cs typeface="TT Firs Neue"/>
                <a:sym typeface="TT Firs Neue"/>
              </a:rPr>
              <a:t>l</a:t>
            </a:r>
            <a:r>
              <a:rPr lang="en-US" sz="1959" strike="noStrike" u="none">
                <a:solidFill>
                  <a:srgbClr val="231F20"/>
                </a:solidFill>
                <a:latin typeface="TT Firs Neue"/>
                <a:ea typeface="TT Firs Neue"/>
                <a:cs typeface="TT Firs Neue"/>
                <a:sym typeface="TT Firs Neue"/>
              </a:rPr>
              <a:t>ie</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 control</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6-turn</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sampl</a:t>
            </a:r>
            <a:r>
              <a:rPr lang="en-US" sz="1959" strike="noStrike" u="none">
                <a:solidFill>
                  <a:srgbClr val="231F20"/>
                </a:solidFill>
                <a:latin typeface="TT Firs Neue"/>
                <a:ea typeface="TT Firs Neue"/>
                <a:cs typeface="TT Firs Neue"/>
                <a:sym typeface="TT Firs Neue"/>
              </a:rPr>
              <a:t>e c</a:t>
            </a:r>
            <a:r>
              <a:rPr lang="en-US" sz="1959" strike="noStrike" u="none">
                <a:solidFill>
                  <a:srgbClr val="231F20"/>
                </a:solidFill>
                <a:latin typeface="TT Firs Neue"/>
                <a:ea typeface="TT Firs Neue"/>
                <a:cs typeface="TT Firs Neue"/>
                <a:sym typeface="TT Firs Neue"/>
              </a:rPr>
              <a:t>onvers</a:t>
            </a:r>
            <a:r>
              <a:rPr lang="en-US" sz="1959" strike="noStrike" u="none">
                <a:solidFill>
                  <a:srgbClr val="231F20"/>
                </a:solidFill>
                <a:latin typeface="TT Firs Neue"/>
                <a:ea typeface="TT Firs Neue"/>
                <a:cs typeface="TT Firs Neue"/>
                <a:sym typeface="TT Firs Neue"/>
              </a:rPr>
              <a:t>at</a:t>
            </a:r>
            <a:r>
              <a:rPr lang="en-US" sz="1959" strike="noStrike" u="none">
                <a:solidFill>
                  <a:srgbClr val="231F20"/>
                </a:solidFill>
                <a:latin typeface="TT Firs Neue"/>
                <a:ea typeface="TT Firs Neue"/>
                <a:cs typeface="TT Firs Neue"/>
                <a:sym typeface="TT Firs Neue"/>
              </a:rPr>
              <a:t>ion a</a:t>
            </a:r>
            <a:r>
              <a:rPr lang="en-US" sz="1959" strike="noStrike" u="none">
                <a:solidFill>
                  <a:srgbClr val="231F20"/>
                </a:solidFill>
                <a:latin typeface="TT Firs Neue"/>
                <a:ea typeface="TT Firs Neue"/>
                <a:cs typeface="TT Firs Neue"/>
                <a:sym typeface="TT Firs Neue"/>
              </a:rPr>
              <a:t>bo</a:t>
            </a:r>
            <a:r>
              <a:rPr lang="en-US" sz="1959" strike="noStrike" u="none">
                <a:solidFill>
                  <a:srgbClr val="231F20"/>
                </a:solidFill>
                <a:latin typeface="TT Firs Neue"/>
                <a:ea typeface="TT Firs Neue"/>
                <a:cs typeface="TT Firs Neue"/>
                <a:sym typeface="TT Firs Neue"/>
              </a:rPr>
              <a:t>u</a:t>
            </a:r>
            <a:r>
              <a:rPr lang="en-US" sz="1959" strike="noStrike" u="none">
                <a:solidFill>
                  <a:srgbClr val="231F20"/>
                </a:solidFill>
                <a:latin typeface="TT Firs Neue"/>
                <a:ea typeface="TT Firs Neue"/>
                <a:cs typeface="TT Firs Neue"/>
                <a:sym typeface="TT Firs Neue"/>
              </a:rPr>
              <a:t>t </a:t>
            </a:r>
            <a:r>
              <a:rPr lang="en-US" sz="1959" strike="noStrike" u="none">
                <a:solidFill>
                  <a:srgbClr val="231F20"/>
                </a:solidFill>
                <a:latin typeface="TT Firs Neue"/>
                <a:ea typeface="TT Firs Neue"/>
                <a:cs typeface="TT Firs Neue"/>
                <a:sym typeface="TT Firs Neue"/>
              </a:rPr>
              <a:t>pho</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o</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yn</a:t>
            </a:r>
            <a:r>
              <a:rPr lang="en-US" sz="1959" strike="noStrike" u="none">
                <a:solidFill>
                  <a:srgbClr val="231F20"/>
                </a:solidFill>
                <a:latin typeface="TT Firs Neue"/>
                <a:ea typeface="TT Firs Neue"/>
                <a:cs typeface="TT Firs Neue"/>
                <a:sym typeface="TT Firs Neue"/>
              </a:rPr>
              <a:t>the</a:t>
            </a:r>
            <a:r>
              <a:rPr lang="en-US" sz="1959" strike="noStrike" u="none">
                <a:solidFill>
                  <a:srgbClr val="231F20"/>
                </a:solidFill>
                <a:latin typeface="TT Firs Neue"/>
                <a:ea typeface="TT Firs Neue"/>
                <a:cs typeface="TT Firs Neue"/>
                <a:sym typeface="TT Firs Neue"/>
              </a:rPr>
              <a:t>sis.</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3</a:t>
            </a:r>
            <a:r>
              <a:rPr lang="en-US" sz="1959" strike="noStrike" u="none">
                <a:solidFill>
                  <a:srgbClr val="231F20"/>
                </a:solidFill>
                <a:latin typeface="TT Firs Neue"/>
                <a:ea typeface="TT Firs Neue"/>
                <a:cs typeface="TT Firs Neue"/>
                <a:sym typeface="TT Firs Neue"/>
              </a:rPr>
              <a:t> s</a:t>
            </a:r>
            <a:r>
              <a:rPr lang="en-US" sz="1959" strike="noStrike" u="none">
                <a:solidFill>
                  <a:srgbClr val="231F20"/>
                </a:solidFill>
                <a:latin typeface="TT Firs Neue"/>
                <a:ea typeface="TT Firs Neue"/>
                <a:cs typeface="TT Firs Neue"/>
                <a:sym typeface="TT Firs Neue"/>
              </a:rPr>
              <a:t>tr</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ngt</a:t>
            </a:r>
            <a:r>
              <a:rPr lang="en-US" sz="1959" strike="noStrike" u="none">
                <a:solidFill>
                  <a:srgbClr val="231F20"/>
                </a:solidFill>
                <a:latin typeface="TT Firs Neue"/>
                <a:ea typeface="TT Firs Neue"/>
                <a:cs typeface="TT Firs Neue"/>
                <a:sym typeface="TT Firs Neue"/>
              </a:rPr>
              <a:t>hs</a:t>
            </a:r>
            <a:r>
              <a:rPr lang="en-US" sz="1959" strike="noStrike" u="none">
                <a:solidFill>
                  <a:srgbClr val="231F20"/>
                </a:solidFill>
                <a:latin typeface="TT Firs Neue"/>
                <a:ea typeface="TT Firs Neue"/>
                <a:cs typeface="TT Firs Neue"/>
                <a:sym typeface="TT Firs Neue"/>
              </a:rPr>
              <a:t> and 3 weakn</a:t>
            </a:r>
            <a:r>
              <a:rPr lang="en-US" sz="1959" strike="noStrike" u="none">
                <a:solidFill>
                  <a:srgbClr val="231F20"/>
                </a:solidFill>
                <a:latin typeface="TT Firs Neue"/>
                <a:ea typeface="TT Firs Neue"/>
                <a:cs typeface="TT Firs Neue"/>
                <a:sym typeface="TT Firs Neue"/>
              </a:rPr>
              <a:t>es</a:t>
            </a:r>
            <a:r>
              <a:rPr lang="en-US" sz="1959" strike="noStrike" u="none">
                <a:solidFill>
                  <a:srgbClr val="231F20"/>
                </a:solidFill>
                <a:latin typeface="TT Firs Neue"/>
                <a:ea typeface="TT Firs Neue"/>
                <a:cs typeface="TT Firs Neue"/>
                <a:sym typeface="TT Firs Neue"/>
              </a:rPr>
              <a:t>ses.</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Rule:</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Never r</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mo</a:t>
            </a:r>
            <a:r>
              <a:rPr lang="en-US" sz="1959" strike="noStrike" u="none">
                <a:solidFill>
                  <a:srgbClr val="231F20"/>
                </a:solidFill>
                <a:latin typeface="TT Firs Neue"/>
                <a:ea typeface="TT Firs Neue"/>
                <a:cs typeface="TT Firs Neue"/>
                <a:sym typeface="TT Firs Neue"/>
              </a:rPr>
              <a:t>ve or</a:t>
            </a:r>
            <a:r>
              <a:rPr lang="en-US" sz="1959" strike="noStrike" u="none">
                <a:solidFill>
                  <a:srgbClr val="231F20"/>
                </a:solidFill>
                <a:latin typeface="TT Firs Neue"/>
                <a:ea typeface="TT Firs Neue"/>
                <a:cs typeface="TT Firs Neue"/>
                <a:sym typeface="TT Firs Neue"/>
              </a:rPr>
              <a:t> repl</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ce</a:t>
            </a:r>
            <a:r>
              <a:rPr lang="en-US" sz="1959" strike="noStrike" u="none">
                <a:solidFill>
                  <a:srgbClr val="231F20"/>
                </a:solidFill>
                <a:latin typeface="TT Firs Neue"/>
                <a:ea typeface="TT Firs Neue"/>
                <a:cs typeface="TT Firs Neue"/>
                <a:sym typeface="TT Firs Neue"/>
              </a:rPr>
              <a:t> a</a:t>
            </a:r>
            <a:r>
              <a:rPr lang="en-US" sz="1959" strike="noStrike" u="none">
                <a:solidFill>
                  <a:srgbClr val="231F20"/>
                </a:solidFill>
                <a:latin typeface="TT Firs Neue"/>
                <a:ea typeface="TT Firs Neue"/>
                <a:cs typeface="TT Firs Neue"/>
                <a:sym typeface="TT Firs Neue"/>
              </a:rPr>
              <a:t>ca</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emic</a:t>
            </a:r>
            <a:r>
              <a:rPr lang="en-US" sz="1959" strike="noStrike" u="none">
                <a:solidFill>
                  <a:srgbClr val="231F20"/>
                </a:solidFill>
                <a:latin typeface="TT Firs Neue"/>
                <a:ea typeface="TT Firs Neue"/>
                <a:cs typeface="TT Firs Neue"/>
                <a:sym typeface="TT Firs Neue"/>
              </a:rPr>
              <a:t> term</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a:t>
            </a:r>
          </a:p>
        </p:txBody>
      </p:sp>
      <p:grpSp>
        <p:nvGrpSpPr>
          <p:cNvPr name="Group 19" id="19"/>
          <p:cNvGrpSpPr/>
          <p:nvPr/>
        </p:nvGrpSpPr>
        <p:grpSpPr>
          <a:xfrm rot="0">
            <a:off x="10897397" y="1425511"/>
            <a:ext cx="2684962" cy="625936"/>
            <a:chOff x="0" y="0"/>
            <a:chExt cx="1103541" cy="257265"/>
          </a:xfrm>
        </p:grpSpPr>
        <p:sp>
          <p:nvSpPr>
            <p:cNvPr name="Freeform 20" id="20"/>
            <p:cNvSpPr/>
            <p:nvPr/>
          </p:nvSpPr>
          <p:spPr>
            <a:xfrm flipH="false" flipV="false" rot="0">
              <a:off x="0" y="0"/>
              <a:ext cx="1103541" cy="257265"/>
            </a:xfrm>
            <a:custGeom>
              <a:avLst/>
              <a:gdLst/>
              <a:ahLst/>
              <a:cxnLst/>
              <a:rect r="r" b="b" t="t" l="l"/>
              <a:pathLst>
                <a:path h="257265" w="1103541">
                  <a:moveTo>
                    <a:pt x="43252" y="0"/>
                  </a:moveTo>
                  <a:lnTo>
                    <a:pt x="1060290" y="0"/>
                  </a:lnTo>
                  <a:cubicBezTo>
                    <a:pt x="1084177" y="0"/>
                    <a:pt x="1103541" y="19364"/>
                    <a:pt x="1103541" y="43252"/>
                  </a:cubicBezTo>
                  <a:lnTo>
                    <a:pt x="1103541" y="214013"/>
                  </a:lnTo>
                  <a:cubicBezTo>
                    <a:pt x="1103541" y="237900"/>
                    <a:pt x="1084177" y="257265"/>
                    <a:pt x="1060290" y="257265"/>
                  </a:cubicBezTo>
                  <a:lnTo>
                    <a:pt x="43252" y="257265"/>
                  </a:lnTo>
                  <a:cubicBezTo>
                    <a:pt x="19364" y="257265"/>
                    <a:pt x="0" y="237900"/>
                    <a:pt x="0" y="214013"/>
                  </a:cubicBezTo>
                  <a:lnTo>
                    <a:pt x="0" y="43252"/>
                  </a:lnTo>
                  <a:cubicBezTo>
                    <a:pt x="0" y="19364"/>
                    <a:pt x="19364" y="0"/>
                    <a:pt x="43252" y="0"/>
                  </a:cubicBezTo>
                  <a:close/>
                </a:path>
              </a:pathLst>
            </a:custGeom>
            <a:solidFill>
              <a:srgbClr val="0007AB"/>
            </a:solidFill>
          </p:spPr>
        </p:sp>
        <p:sp>
          <p:nvSpPr>
            <p:cNvPr name="TextBox 21" id="21"/>
            <p:cNvSpPr txBox="true"/>
            <p:nvPr/>
          </p:nvSpPr>
          <p:spPr>
            <a:xfrm>
              <a:off x="0" y="0"/>
              <a:ext cx="1103541" cy="257265"/>
            </a:xfrm>
            <a:prstGeom prst="rect">
              <a:avLst/>
            </a:prstGeom>
          </p:spPr>
          <p:txBody>
            <a:bodyPr anchor="ctr" rtlCol="false" tIns="38100" lIns="38100" bIns="38100" rIns="38100"/>
            <a:lstStyle/>
            <a:p>
              <a:pPr algn="ctr">
                <a:lnSpc>
                  <a:spcPts val="2303"/>
                </a:lnSpc>
              </a:pPr>
            </a:p>
          </p:txBody>
        </p:sp>
      </p:grpSp>
      <p:grpSp>
        <p:nvGrpSpPr>
          <p:cNvPr name="Group 22" id="22"/>
          <p:cNvGrpSpPr/>
          <p:nvPr/>
        </p:nvGrpSpPr>
        <p:grpSpPr>
          <a:xfrm rot="0">
            <a:off x="10897397" y="2316610"/>
            <a:ext cx="7200985" cy="2110233"/>
            <a:chOff x="0" y="0"/>
            <a:chExt cx="2959663" cy="867323"/>
          </a:xfrm>
        </p:grpSpPr>
        <p:sp>
          <p:nvSpPr>
            <p:cNvPr name="Freeform 23" id="23"/>
            <p:cNvSpPr/>
            <p:nvPr/>
          </p:nvSpPr>
          <p:spPr>
            <a:xfrm flipH="false" flipV="false" rot="0">
              <a:off x="0" y="0"/>
              <a:ext cx="2959663" cy="867323"/>
            </a:xfrm>
            <a:custGeom>
              <a:avLst/>
              <a:gdLst/>
              <a:ahLst/>
              <a:cxnLst/>
              <a:rect r="r" b="b" t="t" l="l"/>
              <a:pathLst>
                <a:path h="867323" w="2959663">
                  <a:moveTo>
                    <a:pt x="16127" y="0"/>
                  </a:moveTo>
                  <a:lnTo>
                    <a:pt x="2943536" y="0"/>
                  </a:lnTo>
                  <a:cubicBezTo>
                    <a:pt x="2952442" y="0"/>
                    <a:pt x="2959663" y="7220"/>
                    <a:pt x="2959663" y="16127"/>
                  </a:cubicBezTo>
                  <a:lnTo>
                    <a:pt x="2959663" y="851196"/>
                  </a:lnTo>
                  <a:cubicBezTo>
                    <a:pt x="2959663" y="855473"/>
                    <a:pt x="2957964" y="859575"/>
                    <a:pt x="2954939" y="862599"/>
                  </a:cubicBezTo>
                  <a:cubicBezTo>
                    <a:pt x="2951915" y="865624"/>
                    <a:pt x="2947813" y="867323"/>
                    <a:pt x="2943536" y="867323"/>
                  </a:cubicBezTo>
                  <a:lnTo>
                    <a:pt x="16127" y="867323"/>
                  </a:lnTo>
                  <a:cubicBezTo>
                    <a:pt x="7220" y="867323"/>
                    <a:pt x="0" y="860103"/>
                    <a:pt x="0" y="851196"/>
                  </a:cubicBezTo>
                  <a:lnTo>
                    <a:pt x="0" y="16127"/>
                  </a:lnTo>
                  <a:cubicBezTo>
                    <a:pt x="0" y="11850"/>
                    <a:pt x="1699" y="7748"/>
                    <a:pt x="4723" y="4723"/>
                  </a:cubicBezTo>
                  <a:cubicBezTo>
                    <a:pt x="7748" y="1699"/>
                    <a:pt x="11850" y="0"/>
                    <a:pt x="16127" y="0"/>
                  </a:cubicBezTo>
                  <a:close/>
                </a:path>
              </a:pathLst>
            </a:custGeom>
            <a:solidFill>
              <a:srgbClr val="FEFEFE"/>
            </a:solidFill>
            <a:ln w="28575" cap="sq">
              <a:solidFill>
                <a:srgbClr val="E1B076"/>
              </a:solidFill>
              <a:prstDash val="solid"/>
              <a:miter/>
            </a:ln>
          </p:spPr>
        </p:sp>
        <p:sp>
          <p:nvSpPr>
            <p:cNvPr name="TextBox 24" id="24"/>
            <p:cNvSpPr txBox="true"/>
            <p:nvPr/>
          </p:nvSpPr>
          <p:spPr>
            <a:xfrm>
              <a:off x="0" y="0"/>
              <a:ext cx="2959663" cy="867323"/>
            </a:xfrm>
            <a:prstGeom prst="rect">
              <a:avLst/>
            </a:prstGeom>
          </p:spPr>
          <p:txBody>
            <a:bodyPr anchor="ctr" rtlCol="false" tIns="38100" lIns="38100" bIns="38100" rIns="38100"/>
            <a:lstStyle/>
            <a:p>
              <a:pPr algn="ctr">
                <a:lnSpc>
                  <a:spcPts val="2303"/>
                </a:lnSpc>
              </a:pPr>
            </a:p>
          </p:txBody>
        </p:sp>
      </p:grpSp>
      <p:sp>
        <p:nvSpPr>
          <p:cNvPr name="TextBox 25" id="25"/>
          <p:cNvSpPr txBox="true"/>
          <p:nvPr/>
        </p:nvSpPr>
        <p:spPr>
          <a:xfrm rot="0">
            <a:off x="11073039" y="1593435"/>
            <a:ext cx="2509321" cy="322867"/>
          </a:xfrm>
          <a:prstGeom prst="rect">
            <a:avLst/>
          </a:prstGeom>
        </p:spPr>
        <p:txBody>
          <a:bodyPr anchor="t" rtlCol="false" tIns="0" lIns="0" bIns="0" rIns="0">
            <a:spAutoFit/>
          </a:bodyPr>
          <a:lstStyle/>
          <a:p>
            <a:pPr algn="l" marL="0" indent="0" lvl="0">
              <a:lnSpc>
                <a:spcPts val="2623"/>
              </a:lnSpc>
            </a:pPr>
            <a:r>
              <a:rPr lang="en-US" b="true" sz="2242" spc="73">
                <a:solidFill>
                  <a:srgbClr val="F8F6FF"/>
                </a:solidFill>
                <a:latin typeface="Catamaran Bold"/>
                <a:ea typeface="Catamaran Bold"/>
                <a:cs typeface="Catamaran Bold"/>
                <a:sym typeface="Catamaran Bold"/>
              </a:rPr>
              <a:t>Tool 2: Claude</a:t>
            </a:r>
          </a:p>
        </p:txBody>
      </p:sp>
      <p:sp>
        <p:nvSpPr>
          <p:cNvPr name="TextBox 26" id="26"/>
          <p:cNvSpPr txBox="true"/>
          <p:nvPr/>
        </p:nvSpPr>
        <p:spPr>
          <a:xfrm rot="0">
            <a:off x="10870059" y="2309741"/>
            <a:ext cx="7417941" cy="1976502"/>
          </a:xfrm>
          <a:prstGeom prst="rect">
            <a:avLst/>
          </a:prstGeom>
        </p:spPr>
        <p:txBody>
          <a:bodyPr anchor="t" rtlCol="false" tIns="0" lIns="0" bIns="0" rIns="0">
            <a:spAutoFit/>
          </a:bodyPr>
          <a:lstStyle/>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7-step flow wit</a:t>
            </a:r>
            <a:r>
              <a:rPr lang="en-US" sz="1959" strike="noStrike" u="none">
                <a:solidFill>
                  <a:srgbClr val="231F20"/>
                </a:solidFill>
                <a:latin typeface="TT Firs Neue"/>
                <a:ea typeface="TT Firs Neue"/>
                <a:cs typeface="TT Firs Neue"/>
                <a:sym typeface="TT Firs Neue"/>
              </a:rPr>
              <a:t>h detailed controls (backgrounds, line le</a:t>
            </a:r>
            <a:r>
              <a:rPr lang="en-US" sz="1959" strike="noStrike" u="none">
                <a:solidFill>
                  <a:srgbClr val="231F20"/>
                </a:solidFill>
                <a:latin typeface="TT Firs Neue"/>
                <a:ea typeface="TT Firs Neue"/>
                <a:cs typeface="TT Firs Neue"/>
                <a:sym typeface="TT Firs Neue"/>
              </a:rPr>
              <a:t>ngth, read-aloud, fo</a:t>
            </a:r>
            <a:r>
              <a:rPr lang="en-US" sz="1959" strike="noStrike" u="none">
                <a:solidFill>
                  <a:srgbClr val="231F20"/>
                </a:solidFill>
                <a:latin typeface="TT Firs Neue"/>
                <a:ea typeface="TT Firs Neue"/>
                <a:cs typeface="TT Firs Neue"/>
                <a:sym typeface="TT Firs Neue"/>
              </a:rPr>
              <a:t>c</a:t>
            </a:r>
            <a:r>
              <a:rPr lang="en-US" sz="1959" strike="noStrike" u="none">
                <a:solidFill>
                  <a:srgbClr val="231F20"/>
                </a:solidFill>
                <a:latin typeface="TT Firs Neue"/>
                <a:ea typeface="TT Firs Neue"/>
                <a:cs typeface="TT Firs Neue"/>
                <a:sym typeface="TT Firs Neue"/>
              </a:rPr>
              <a:t>us mo</a:t>
            </a:r>
            <a:r>
              <a:rPr lang="en-US" sz="1959" strike="noStrike" u="none">
                <a:solidFill>
                  <a:srgbClr val="231F20"/>
                </a:solidFill>
                <a:latin typeface="TT Firs Neue"/>
                <a:ea typeface="TT Firs Neue"/>
                <a:cs typeface="TT Firs Neue"/>
                <a:sym typeface="TT Firs Neue"/>
              </a:rPr>
              <a:t>de</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6-turn sample conversation about cognitive dissonance.</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5-case</a:t>
            </a:r>
            <a:r>
              <a:rPr lang="en-US" sz="1959" strike="noStrike" u="none">
                <a:solidFill>
                  <a:srgbClr val="231F20"/>
                </a:solidFill>
                <a:latin typeface="TT Firs Neue"/>
                <a:ea typeface="TT Firs Neue"/>
                <a:cs typeface="TT Firs Neue"/>
                <a:sym typeface="TT Firs Neue"/>
              </a:rPr>
              <a:t> er</a:t>
            </a:r>
            <a:r>
              <a:rPr lang="en-US" sz="1959" strike="noStrike" u="none">
                <a:solidFill>
                  <a:srgbClr val="231F20"/>
                </a:solidFill>
                <a:latin typeface="TT Firs Neue"/>
                <a:ea typeface="TT Firs Neue"/>
                <a:cs typeface="TT Firs Neue"/>
                <a:sym typeface="TT Firs Neue"/>
              </a:rPr>
              <a:t>ror</a:t>
            </a:r>
            <a:r>
              <a:rPr lang="en-US" sz="1959" strike="noStrike" u="none">
                <a:solidFill>
                  <a:srgbClr val="231F20"/>
                </a:solidFill>
                <a:latin typeface="TT Firs Neue"/>
                <a:ea typeface="TT Firs Neue"/>
                <a:cs typeface="TT Firs Neue"/>
                <a:sym typeface="TT Firs Neue"/>
              </a:rPr>
              <a:t> table</a:t>
            </a:r>
            <a:r>
              <a:rPr lang="en-US" sz="1959" strike="noStrike" u="none">
                <a:solidFill>
                  <a:srgbClr val="231F20"/>
                </a:solidFill>
                <a:latin typeface="TT Firs Neue"/>
                <a:ea typeface="TT Firs Neue"/>
                <a:cs typeface="TT Firs Neue"/>
                <a:sym typeface="TT Firs Neue"/>
              </a:rPr>
              <a:t>, 3 s</a:t>
            </a:r>
            <a:r>
              <a:rPr lang="en-US" sz="1959" strike="noStrike" u="none">
                <a:solidFill>
                  <a:srgbClr val="231F20"/>
                </a:solidFill>
                <a:latin typeface="TT Firs Neue"/>
                <a:ea typeface="TT Firs Neue"/>
                <a:cs typeface="TT Firs Neue"/>
                <a:sym typeface="TT Firs Neue"/>
              </a:rPr>
              <a:t>treng</a:t>
            </a:r>
            <a:r>
              <a:rPr lang="en-US" sz="1959" strike="noStrike" u="none">
                <a:solidFill>
                  <a:srgbClr val="231F20"/>
                </a:solidFill>
                <a:latin typeface="TT Firs Neue"/>
                <a:ea typeface="TT Firs Neue"/>
                <a:cs typeface="TT Firs Neue"/>
                <a:sym typeface="TT Firs Neue"/>
              </a:rPr>
              <a:t>ths</a:t>
            </a:r>
            <a:r>
              <a:rPr lang="en-US" sz="1959" strike="noStrike" u="none">
                <a:solidFill>
                  <a:srgbClr val="231F20"/>
                </a:solidFill>
                <a:latin typeface="TT Firs Neue"/>
                <a:ea typeface="TT Firs Neue"/>
                <a:cs typeface="TT Firs Neue"/>
                <a:sym typeface="TT Firs Neue"/>
              </a:rPr>
              <a:t> and 3 weaknesses</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Score</a:t>
            </a:r>
            <a:r>
              <a:rPr lang="en-US" sz="1959" strike="noStrike" u="none">
                <a:solidFill>
                  <a:srgbClr val="231F20"/>
                </a:solidFill>
                <a:latin typeface="TT Firs Neue"/>
                <a:ea typeface="TT Firs Neue"/>
                <a:cs typeface="TT Firs Neue"/>
                <a:sym typeface="TT Firs Neue"/>
              </a:rPr>
              <a:t>car</a:t>
            </a:r>
            <a:r>
              <a:rPr lang="en-US" sz="1959" strike="noStrike" u="none">
                <a:solidFill>
                  <a:srgbClr val="231F20"/>
                </a:solidFill>
                <a:latin typeface="TT Firs Neue"/>
                <a:ea typeface="TT Firs Neue"/>
                <a:cs typeface="TT Firs Neue"/>
                <a:sym typeface="TT Firs Neue"/>
              </a:rPr>
              <a:t>d </a:t>
            </a:r>
            <a:r>
              <a:rPr lang="en-US" sz="1959" strike="noStrike" u="none">
                <a:solidFill>
                  <a:srgbClr val="231F20"/>
                </a:solidFill>
                <a:latin typeface="TT Firs Neue"/>
                <a:ea typeface="TT Firs Neue"/>
                <a:cs typeface="TT Firs Neue"/>
                <a:sym typeface="TT Firs Neue"/>
              </a:rPr>
              <a:t>coll</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psed</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b</a:t>
            </a:r>
            <a:r>
              <a:rPr lang="en-US" sz="1959" strike="noStrike" u="none">
                <a:solidFill>
                  <a:srgbClr val="231F20"/>
                </a:solidFill>
                <a:latin typeface="TT Firs Neue"/>
                <a:ea typeface="TT Firs Neue"/>
                <a:cs typeface="TT Firs Neue"/>
                <a:sym typeface="TT Firs Neue"/>
              </a:rPr>
              <a:t>y </a:t>
            </a:r>
            <a:r>
              <a:rPr lang="en-US" sz="1959" strike="noStrike" u="none">
                <a:solidFill>
                  <a:srgbClr val="231F20"/>
                </a:solidFill>
                <a:latin typeface="TT Firs Neue"/>
                <a:ea typeface="TT Firs Neue"/>
                <a:cs typeface="TT Firs Neue"/>
                <a:sym typeface="TT Firs Neue"/>
              </a:rPr>
              <a:t>defaul</a:t>
            </a:r>
            <a:r>
              <a:rPr lang="en-US" sz="1959" strike="noStrike" u="none">
                <a:solidFill>
                  <a:srgbClr val="231F20"/>
                </a:solidFill>
                <a:latin typeface="TT Firs Neue"/>
                <a:ea typeface="TT Firs Neue"/>
                <a:cs typeface="TT Firs Neue"/>
                <a:sym typeface="TT Firs Neue"/>
              </a:rPr>
              <a:t>t.</a:t>
            </a:r>
          </a:p>
        </p:txBody>
      </p:sp>
      <p:sp>
        <p:nvSpPr>
          <p:cNvPr name="Freeform 27" id="27"/>
          <p:cNvSpPr/>
          <p:nvPr/>
        </p:nvSpPr>
        <p:spPr>
          <a:xfrm flipH="true" flipV="false" rot="-1862406">
            <a:off x="-74400" y="9357137"/>
            <a:ext cx="533403" cy="853445"/>
          </a:xfrm>
          <a:custGeom>
            <a:avLst/>
            <a:gdLst/>
            <a:ahLst/>
            <a:cxnLst/>
            <a:rect r="r" b="b" t="t" l="l"/>
            <a:pathLst>
              <a:path h="853445" w="533403">
                <a:moveTo>
                  <a:pt x="533403" y="0"/>
                </a:moveTo>
                <a:lnTo>
                  <a:pt x="0" y="0"/>
                </a:lnTo>
                <a:lnTo>
                  <a:pt x="0" y="853445"/>
                </a:lnTo>
                <a:lnTo>
                  <a:pt x="533403" y="853445"/>
                </a:lnTo>
                <a:lnTo>
                  <a:pt x="53340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7015205" y="238125"/>
            <a:ext cx="925307" cy="925307"/>
          </a:xfrm>
          <a:custGeom>
            <a:avLst/>
            <a:gdLst/>
            <a:ahLst/>
            <a:cxnLst/>
            <a:rect r="r" b="b" t="t" l="l"/>
            <a:pathLst>
              <a:path h="925307" w="925307">
                <a:moveTo>
                  <a:pt x="0" y="0"/>
                </a:moveTo>
                <a:lnTo>
                  <a:pt x="925306" y="0"/>
                </a:lnTo>
                <a:lnTo>
                  <a:pt x="925306" y="925307"/>
                </a:lnTo>
                <a:lnTo>
                  <a:pt x="0" y="9253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16261812" y="838946"/>
            <a:ext cx="1173130" cy="1173130"/>
          </a:xfrm>
          <a:custGeom>
            <a:avLst/>
            <a:gdLst/>
            <a:ahLst/>
            <a:cxnLst/>
            <a:rect r="r" b="b" t="t" l="l"/>
            <a:pathLst>
              <a:path h="1173130" w="1173130">
                <a:moveTo>
                  <a:pt x="0" y="0"/>
                </a:moveTo>
                <a:lnTo>
                  <a:pt x="1173129" y="0"/>
                </a:lnTo>
                <a:lnTo>
                  <a:pt x="1173129" y="1173130"/>
                </a:lnTo>
                <a:lnTo>
                  <a:pt x="0" y="11731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0" id="30"/>
          <p:cNvSpPr txBox="true"/>
          <p:nvPr/>
        </p:nvSpPr>
        <p:spPr>
          <a:xfrm rot="0">
            <a:off x="640847" y="228075"/>
            <a:ext cx="16618453" cy="601346"/>
          </a:xfrm>
          <a:prstGeom prst="rect">
            <a:avLst/>
          </a:prstGeom>
        </p:spPr>
        <p:txBody>
          <a:bodyPr anchor="t" rtlCol="false" tIns="0" lIns="0" bIns="0" rIns="0">
            <a:spAutoFit/>
          </a:bodyPr>
          <a:lstStyle/>
          <a:p>
            <a:pPr algn="l">
              <a:lnSpc>
                <a:spcPts val="3800"/>
              </a:lnSpc>
            </a:pPr>
            <a:r>
              <a:rPr lang="en-US" sz="3800" spc="-110">
                <a:solidFill>
                  <a:srgbClr val="0B0A0A"/>
                </a:solidFill>
                <a:latin typeface="Heading Now 71-78"/>
                <a:ea typeface="Heading Now 71-78"/>
                <a:cs typeface="Heading Now 71-78"/>
                <a:sym typeface="Heading Now 71-78"/>
              </a:rPr>
              <a:t>App</a:t>
            </a:r>
            <a:r>
              <a:rPr lang="en-US" sz="3800" spc="-110">
                <a:solidFill>
                  <a:srgbClr val="0B0A0A"/>
                </a:solidFill>
                <a:latin typeface="Heading Now 71-78"/>
                <a:ea typeface="Heading Now 71-78"/>
                <a:cs typeface="Heading Now 71-78"/>
                <a:sym typeface="Heading Now 71-78"/>
              </a:rPr>
              <a:t>endix A: </a:t>
            </a:r>
            <a:r>
              <a:rPr lang="en-US" sz="3800" spc="-110">
                <a:solidFill>
                  <a:srgbClr val="E1B076"/>
                </a:solidFill>
                <a:latin typeface="Heading Now 71-78"/>
                <a:ea typeface="Heading Now 71-78"/>
                <a:cs typeface="Heading Now 71-78"/>
                <a:sym typeface="Heading Now 71-78"/>
              </a:rPr>
              <a:t>Prompt</a:t>
            </a:r>
            <a:r>
              <a:rPr lang="en-US" sz="3800" spc="-110">
                <a:solidFill>
                  <a:srgbClr val="0B0A0A"/>
                </a:solidFill>
                <a:latin typeface="Heading Now 71-78"/>
                <a:ea typeface="Heading Now 71-78"/>
                <a:cs typeface="Heading Now 71-78"/>
                <a:sym typeface="Heading Now 71-78"/>
              </a:rPr>
              <a:t> Log and </a:t>
            </a:r>
            <a:r>
              <a:rPr lang="en-US" sz="3800" spc="-110">
                <a:solidFill>
                  <a:srgbClr val="0B0A0A"/>
                </a:solidFill>
                <a:latin typeface="Heading Now 71-78"/>
                <a:ea typeface="Heading Now 71-78"/>
                <a:cs typeface="Heading Now 71-78"/>
                <a:sym typeface="Heading Now 71-78"/>
              </a:rPr>
              <a:t>Comparison</a:t>
            </a:r>
          </a:p>
        </p:txBody>
      </p:sp>
      <p:grpSp>
        <p:nvGrpSpPr>
          <p:cNvPr name="Group 31" id="31"/>
          <p:cNvGrpSpPr/>
          <p:nvPr/>
        </p:nvGrpSpPr>
        <p:grpSpPr>
          <a:xfrm rot="0">
            <a:off x="376754" y="4699842"/>
            <a:ext cx="2905912" cy="1056370"/>
            <a:chOff x="0" y="0"/>
            <a:chExt cx="1194353" cy="434176"/>
          </a:xfrm>
        </p:grpSpPr>
        <p:sp>
          <p:nvSpPr>
            <p:cNvPr name="Freeform 32" id="32"/>
            <p:cNvSpPr/>
            <p:nvPr/>
          </p:nvSpPr>
          <p:spPr>
            <a:xfrm flipH="false" flipV="false" rot="0">
              <a:off x="0" y="0"/>
              <a:ext cx="1194353" cy="434176"/>
            </a:xfrm>
            <a:custGeom>
              <a:avLst/>
              <a:gdLst/>
              <a:ahLst/>
              <a:cxnLst/>
              <a:rect r="r" b="b" t="t" l="l"/>
              <a:pathLst>
                <a:path h="434176" w="1194353">
                  <a:moveTo>
                    <a:pt x="39963" y="0"/>
                  </a:moveTo>
                  <a:lnTo>
                    <a:pt x="1154390" y="0"/>
                  </a:lnTo>
                  <a:cubicBezTo>
                    <a:pt x="1176461" y="0"/>
                    <a:pt x="1194353" y="17892"/>
                    <a:pt x="1194353" y="39963"/>
                  </a:cubicBezTo>
                  <a:lnTo>
                    <a:pt x="1194353" y="394213"/>
                  </a:lnTo>
                  <a:cubicBezTo>
                    <a:pt x="1194353" y="416284"/>
                    <a:pt x="1176461" y="434176"/>
                    <a:pt x="1154390" y="434176"/>
                  </a:cubicBezTo>
                  <a:lnTo>
                    <a:pt x="39963" y="434176"/>
                  </a:lnTo>
                  <a:cubicBezTo>
                    <a:pt x="17892" y="434176"/>
                    <a:pt x="0" y="416284"/>
                    <a:pt x="0" y="394213"/>
                  </a:cubicBezTo>
                  <a:lnTo>
                    <a:pt x="0" y="39963"/>
                  </a:lnTo>
                  <a:cubicBezTo>
                    <a:pt x="0" y="17892"/>
                    <a:pt x="17892" y="0"/>
                    <a:pt x="39963" y="0"/>
                  </a:cubicBezTo>
                  <a:close/>
                </a:path>
              </a:pathLst>
            </a:custGeom>
            <a:solidFill>
              <a:srgbClr val="DCDDE3"/>
            </a:solidFill>
          </p:spPr>
        </p:sp>
        <p:sp>
          <p:nvSpPr>
            <p:cNvPr name="TextBox 33" id="33"/>
            <p:cNvSpPr txBox="true"/>
            <p:nvPr/>
          </p:nvSpPr>
          <p:spPr>
            <a:xfrm>
              <a:off x="0" y="0"/>
              <a:ext cx="1194353" cy="434176"/>
            </a:xfrm>
            <a:prstGeom prst="rect">
              <a:avLst/>
            </a:prstGeom>
          </p:spPr>
          <p:txBody>
            <a:bodyPr anchor="ctr" rtlCol="false" tIns="38100" lIns="38100" bIns="38100" rIns="38100"/>
            <a:lstStyle/>
            <a:p>
              <a:pPr algn="ctr">
                <a:lnSpc>
                  <a:spcPts val="2303"/>
                </a:lnSpc>
              </a:pPr>
            </a:p>
          </p:txBody>
        </p:sp>
      </p:grpSp>
      <p:grpSp>
        <p:nvGrpSpPr>
          <p:cNvPr name="Group 34" id="34"/>
          <p:cNvGrpSpPr/>
          <p:nvPr/>
        </p:nvGrpSpPr>
        <p:grpSpPr>
          <a:xfrm rot="0">
            <a:off x="3171610" y="4955543"/>
            <a:ext cx="611393" cy="567792"/>
            <a:chOff x="0" y="0"/>
            <a:chExt cx="476043" cy="442094"/>
          </a:xfrm>
        </p:grpSpPr>
        <p:sp>
          <p:nvSpPr>
            <p:cNvPr name="Freeform 35" id="35"/>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36" id="36"/>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TextBox 37" id="37"/>
          <p:cNvSpPr txBox="true"/>
          <p:nvPr/>
        </p:nvSpPr>
        <p:spPr>
          <a:xfrm rot="0">
            <a:off x="479820" y="5093210"/>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Strengths</a:t>
            </a:r>
          </a:p>
        </p:txBody>
      </p:sp>
      <p:grpSp>
        <p:nvGrpSpPr>
          <p:cNvPr name="Group 38" id="38"/>
          <p:cNvGrpSpPr/>
          <p:nvPr/>
        </p:nvGrpSpPr>
        <p:grpSpPr>
          <a:xfrm rot="0">
            <a:off x="376754" y="6594412"/>
            <a:ext cx="2905912" cy="1056370"/>
            <a:chOff x="0" y="0"/>
            <a:chExt cx="1194353" cy="434176"/>
          </a:xfrm>
        </p:grpSpPr>
        <p:sp>
          <p:nvSpPr>
            <p:cNvPr name="Freeform 39" id="39"/>
            <p:cNvSpPr/>
            <p:nvPr/>
          </p:nvSpPr>
          <p:spPr>
            <a:xfrm flipH="false" flipV="false" rot="0">
              <a:off x="0" y="0"/>
              <a:ext cx="1194353" cy="434176"/>
            </a:xfrm>
            <a:custGeom>
              <a:avLst/>
              <a:gdLst/>
              <a:ahLst/>
              <a:cxnLst/>
              <a:rect r="r" b="b" t="t" l="l"/>
              <a:pathLst>
                <a:path h="434176" w="1194353">
                  <a:moveTo>
                    <a:pt x="39963" y="0"/>
                  </a:moveTo>
                  <a:lnTo>
                    <a:pt x="1154390" y="0"/>
                  </a:lnTo>
                  <a:cubicBezTo>
                    <a:pt x="1176461" y="0"/>
                    <a:pt x="1194353" y="17892"/>
                    <a:pt x="1194353" y="39963"/>
                  </a:cubicBezTo>
                  <a:lnTo>
                    <a:pt x="1194353" y="394213"/>
                  </a:lnTo>
                  <a:cubicBezTo>
                    <a:pt x="1194353" y="416284"/>
                    <a:pt x="1176461" y="434176"/>
                    <a:pt x="1154390" y="434176"/>
                  </a:cubicBezTo>
                  <a:lnTo>
                    <a:pt x="39963" y="434176"/>
                  </a:lnTo>
                  <a:cubicBezTo>
                    <a:pt x="17892" y="434176"/>
                    <a:pt x="0" y="416284"/>
                    <a:pt x="0" y="394213"/>
                  </a:cubicBezTo>
                  <a:lnTo>
                    <a:pt x="0" y="39963"/>
                  </a:lnTo>
                  <a:cubicBezTo>
                    <a:pt x="0" y="17892"/>
                    <a:pt x="17892" y="0"/>
                    <a:pt x="39963" y="0"/>
                  </a:cubicBezTo>
                  <a:close/>
                </a:path>
              </a:pathLst>
            </a:custGeom>
            <a:solidFill>
              <a:srgbClr val="DCDDE3"/>
            </a:solidFill>
          </p:spPr>
        </p:sp>
        <p:sp>
          <p:nvSpPr>
            <p:cNvPr name="TextBox 40" id="40"/>
            <p:cNvSpPr txBox="true"/>
            <p:nvPr/>
          </p:nvSpPr>
          <p:spPr>
            <a:xfrm>
              <a:off x="0" y="0"/>
              <a:ext cx="1194353" cy="434176"/>
            </a:xfrm>
            <a:prstGeom prst="rect">
              <a:avLst/>
            </a:prstGeom>
          </p:spPr>
          <p:txBody>
            <a:bodyPr anchor="ctr" rtlCol="false" tIns="38100" lIns="38100" bIns="38100" rIns="38100"/>
            <a:lstStyle/>
            <a:p>
              <a:pPr algn="ctr">
                <a:lnSpc>
                  <a:spcPts val="2303"/>
                </a:lnSpc>
              </a:pPr>
            </a:p>
          </p:txBody>
        </p:sp>
      </p:grpSp>
      <p:grpSp>
        <p:nvGrpSpPr>
          <p:cNvPr name="Group 41" id="41"/>
          <p:cNvGrpSpPr/>
          <p:nvPr/>
        </p:nvGrpSpPr>
        <p:grpSpPr>
          <a:xfrm rot="0">
            <a:off x="3171610" y="6850113"/>
            <a:ext cx="611393" cy="567792"/>
            <a:chOff x="0" y="0"/>
            <a:chExt cx="476043" cy="442094"/>
          </a:xfrm>
        </p:grpSpPr>
        <p:sp>
          <p:nvSpPr>
            <p:cNvPr name="Freeform 42" id="42"/>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43" id="43"/>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TextBox 44" id="44"/>
          <p:cNvSpPr txBox="true"/>
          <p:nvPr/>
        </p:nvSpPr>
        <p:spPr>
          <a:xfrm rot="0">
            <a:off x="479820" y="6987779"/>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Weaknesses</a:t>
            </a:r>
          </a:p>
        </p:txBody>
      </p:sp>
      <p:grpSp>
        <p:nvGrpSpPr>
          <p:cNvPr name="Group 45" id="45"/>
          <p:cNvGrpSpPr/>
          <p:nvPr/>
        </p:nvGrpSpPr>
        <p:grpSpPr>
          <a:xfrm rot="0">
            <a:off x="376754" y="8451432"/>
            <a:ext cx="2905912" cy="1056370"/>
            <a:chOff x="0" y="0"/>
            <a:chExt cx="1194353" cy="434176"/>
          </a:xfrm>
        </p:grpSpPr>
        <p:sp>
          <p:nvSpPr>
            <p:cNvPr name="Freeform 46" id="46"/>
            <p:cNvSpPr/>
            <p:nvPr/>
          </p:nvSpPr>
          <p:spPr>
            <a:xfrm flipH="false" flipV="false" rot="0">
              <a:off x="0" y="0"/>
              <a:ext cx="1194353" cy="434176"/>
            </a:xfrm>
            <a:custGeom>
              <a:avLst/>
              <a:gdLst/>
              <a:ahLst/>
              <a:cxnLst/>
              <a:rect r="r" b="b" t="t" l="l"/>
              <a:pathLst>
                <a:path h="434176" w="1194353">
                  <a:moveTo>
                    <a:pt x="39963" y="0"/>
                  </a:moveTo>
                  <a:lnTo>
                    <a:pt x="1154390" y="0"/>
                  </a:lnTo>
                  <a:cubicBezTo>
                    <a:pt x="1176461" y="0"/>
                    <a:pt x="1194353" y="17892"/>
                    <a:pt x="1194353" y="39963"/>
                  </a:cubicBezTo>
                  <a:lnTo>
                    <a:pt x="1194353" y="394213"/>
                  </a:lnTo>
                  <a:cubicBezTo>
                    <a:pt x="1194353" y="416284"/>
                    <a:pt x="1176461" y="434176"/>
                    <a:pt x="1154390" y="434176"/>
                  </a:cubicBezTo>
                  <a:lnTo>
                    <a:pt x="39963" y="434176"/>
                  </a:lnTo>
                  <a:cubicBezTo>
                    <a:pt x="17892" y="434176"/>
                    <a:pt x="0" y="416284"/>
                    <a:pt x="0" y="394213"/>
                  </a:cubicBezTo>
                  <a:lnTo>
                    <a:pt x="0" y="39963"/>
                  </a:lnTo>
                  <a:cubicBezTo>
                    <a:pt x="0" y="17892"/>
                    <a:pt x="17892" y="0"/>
                    <a:pt x="39963" y="0"/>
                  </a:cubicBezTo>
                  <a:close/>
                </a:path>
              </a:pathLst>
            </a:custGeom>
            <a:solidFill>
              <a:srgbClr val="DCDDE3"/>
            </a:solidFill>
          </p:spPr>
        </p:sp>
        <p:sp>
          <p:nvSpPr>
            <p:cNvPr name="TextBox 47" id="47"/>
            <p:cNvSpPr txBox="true"/>
            <p:nvPr/>
          </p:nvSpPr>
          <p:spPr>
            <a:xfrm>
              <a:off x="0" y="0"/>
              <a:ext cx="1194353" cy="434176"/>
            </a:xfrm>
            <a:prstGeom prst="rect">
              <a:avLst/>
            </a:prstGeom>
          </p:spPr>
          <p:txBody>
            <a:bodyPr anchor="ctr" rtlCol="false" tIns="38100" lIns="38100" bIns="38100" rIns="38100"/>
            <a:lstStyle/>
            <a:p>
              <a:pPr algn="ctr">
                <a:lnSpc>
                  <a:spcPts val="2303"/>
                </a:lnSpc>
              </a:pPr>
            </a:p>
          </p:txBody>
        </p:sp>
      </p:grpSp>
      <p:grpSp>
        <p:nvGrpSpPr>
          <p:cNvPr name="Group 48" id="48"/>
          <p:cNvGrpSpPr/>
          <p:nvPr/>
        </p:nvGrpSpPr>
        <p:grpSpPr>
          <a:xfrm rot="0">
            <a:off x="3171610" y="8707133"/>
            <a:ext cx="611393" cy="567792"/>
            <a:chOff x="0" y="0"/>
            <a:chExt cx="476043" cy="442094"/>
          </a:xfrm>
        </p:grpSpPr>
        <p:sp>
          <p:nvSpPr>
            <p:cNvPr name="Freeform 49" id="49"/>
            <p:cNvSpPr/>
            <p:nvPr/>
          </p:nvSpPr>
          <p:spPr>
            <a:xfrm flipH="false" flipV="false" rot="0">
              <a:off x="0" y="0"/>
              <a:ext cx="446427" cy="442094"/>
            </a:xfrm>
            <a:custGeom>
              <a:avLst/>
              <a:gdLst/>
              <a:ahLst/>
              <a:cxnLst/>
              <a:rect r="r" b="b" t="t" l="l"/>
              <a:pathLst>
                <a:path h="442094" w="446427">
                  <a:moveTo>
                    <a:pt x="196866" y="0"/>
                  </a:moveTo>
                  <a:lnTo>
                    <a:pt x="75976" y="0"/>
                  </a:lnTo>
                  <a:cubicBezTo>
                    <a:pt x="34016" y="0"/>
                    <a:pt x="0" y="34016"/>
                    <a:pt x="0" y="75976"/>
                  </a:cubicBezTo>
                  <a:lnTo>
                    <a:pt x="0" y="366117"/>
                  </a:lnTo>
                  <a:cubicBezTo>
                    <a:pt x="0" y="408078"/>
                    <a:pt x="34016" y="442094"/>
                    <a:pt x="75976" y="442094"/>
                  </a:cubicBezTo>
                  <a:lnTo>
                    <a:pt x="196866" y="442094"/>
                  </a:lnTo>
                  <a:cubicBezTo>
                    <a:pt x="245286" y="442094"/>
                    <a:pt x="291492" y="421807"/>
                    <a:pt x="324261" y="386160"/>
                  </a:cubicBezTo>
                  <a:lnTo>
                    <a:pt x="424625" y="276981"/>
                  </a:lnTo>
                  <a:cubicBezTo>
                    <a:pt x="453695" y="245357"/>
                    <a:pt x="453695" y="196736"/>
                    <a:pt x="424625" y="165113"/>
                  </a:cubicBezTo>
                  <a:lnTo>
                    <a:pt x="324261" y="55934"/>
                  </a:lnTo>
                  <a:cubicBezTo>
                    <a:pt x="291492" y="20287"/>
                    <a:pt x="245286" y="0"/>
                    <a:pt x="196866" y="0"/>
                  </a:cubicBezTo>
                  <a:close/>
                </a:path>
              </a:pathLst>
            </a:custGeom>
            <a:solidFill>
              <a:srgbClr val="626262"/>
            </a:solidFill>
          </p:spPr>
        </p:sp>
        <p:sp>
          <p:nvSpPr>
            <p:cNvPr name="TextBox 50" id="50"/>
            <p:cNvSpPr txBox="true"/>
            <p:nvPr/>
          </p:nvSpPr>
          <p:spPr>
            <a:xfrm>
              <a:off x="0" y="0"/>
              <a:ext cx="361743" cy="442094"/>
            </a:xfrm>
            <a:prstGeom prst="rect">
              <a:avLst/>
            </a:prstGeom>
          </p:spPr>
          <p:txBody>
            <a:bodyPr anchor="ctr" rtlCol="false" tIns="71438" lIns="71438" bIns="71438" rIns="71438"/>
            <a:lstStyle/>
            <a:p>
              <a:pPr algn="ctr">
                <a:lnSpc>
                  <a:spcPts val="2303"/>
                </a:lnSpc>
              </a:pPr>
            </a:p>
          </p:txBody>
        </p:sp>
      </p:grpSp>
      <p:sp>
        <p:nvSpPr>
          <p:cNvPr name="TextBox 51" id="51"/>
          <p:cNvSpPr txBox="true"/>
          <p:nvPr/>
        </p:nvSpPr>
        <p:spPr>
          <a:xfrm rot="0">
            <a:off x="479820" y="8844799"/>
            <a:ext cx="2691790" cy="293390"/>
          </a:xfrm>
          <a:prstGeom prst="rect">
            <a:avLst/>
          </a:prstGeom>
        </p:spPr>
        <p:txBody>
          <a:bodyPr anchor="t" rtlCol="false" tIns="0" lIns="0" bIns="0" rIns="0">
            <a:spAutoFit/>
          </a:bodyPr>
          <a:lstStyle/>
          <a:p>
            <a:pPr algn="ctr" marL="0" indent="0" lvl="0">
              <a:lnSpc>
                <a:spcPts val="2346"/>
              </a:lnSpc>
            </a:pPr>
            <a:r>
              <a:rPr lang="en-US" b="true" sz="2005" spc="66">
                <a:solidFill>
                  <a:srgbClr val="191337"/>
                </a:solidFill>
                <a:latin typeface="Catamaran Bold"/>
                <a:ea typeface="Catamaran Bold"/>
                <a:cs typeface="Catamaran Bold"/>
                <a:sym typeface="Catamaran Bold"/>
              </a:rPr>
              <a:t>Prompt changes</a:t>
            </a:r>
          </a:p>
        </p:txBody>
      </p:sp>
      <p:grpSp>
        <p:nvGrpSpPr>
          <p:cNvPr name="Group 52" id="52"/>
          <p:cNvGrpSpPr/>
          <p:nvPr/>
        </p:nvGrpSpPr>
        <p:grpSpPr>
          <a:xfrm rot="0">
            <a:off x="3989559" y="4581706"/>
            <a:ext cx="6698289" cy="1326951"/>
            <a:chOff x="0" y="0"/>
            <a:chExt cx="2753050" cy="545388"/>
          </a:xfrm>
        </p:grpSpPr>
        <p:sp>
          <p:nvSpPr>
            <p:cNvPr name="Freeform 53" id="53"/>
            <p:cNvSpPr/>
            <p:nvPr/>
          </p:nvSpPr>
          <p:spPr>
            <a:xfrm flipH="false" flipV="false" rot="0">
              <a:off x="0" y="0"/>
              <a:ext cx="2753050" cy="545388"/>
            </a:xfrm>
            <a:custGeom>
              <a:avLst/>
              <a:gdLst/>
              <a:ahLst/>
              <a:cxnLst/>
              <a:rect r="r" b="b" t="t" l="l"/>
              <a:pathLst>
                <a:path h="545388" w="2753050">
                  <a:moveTo>
                    <a:pt x="17337" y="0"/>
                  </a:moveTo>
                  <a:lnTo>
                    <a:pt x="2735713" y="0"/>
                  </a:lnTo>
                  <a:cubicBezTo>
                    <a:pt x="2740311" y="0"/>
                    <a:pt x="2744721" y="1827"/>
                    <a:pt x="2747972" y="5078"/>
                  </a:cubicBezTo>
                  <a:cubicBezTo>
                    <a:pt x="2751224" y="8329"/>
                    <a:pt x="2753050" y="12739"/>
                    <a:pt x="2753050" y="17337"/>
                  </a:cubicBezTo>
                  <a:lnTo>
                    <a:pt x="2753050" y="528050"/>
                  </a:lnTo>
                  <a:cubicBezTo>
                    <a:pt x="2753050" y="532649"/>
                    <a:pt x="2751224" y="537058"/>
                    <a:pt x="2747972" y="540310"/>
                  </a:cubicBezTo>
                  <a:cubicBezTo>
                    <a:pt x="2744721" y="543561"/>
                    <a:pt x="2740311" y="545388"/>
                    <a:pt x="2735713" y="545388"/>
                  </a:cubicBezTo>
                  <a:lnTo>
                    <a:pt x="17337" y="545388"/>
                  </a:lnTo>
                  <a:cubicBezTo>
                    <a:pt x="12739" y="545388"/>
                    <a:pt x="8329" y="543561"/>
                    <a:pt x="5078" y="540310"/>
                  </a:cubicBezTo>
                  <a:cubicBezTo>
                    <a:pt x="1827" y="537058"/>
                    <a:pt x="0" y="532649"/>
                    <a:pt x="0" y="528050"/>
                  </a:cubicBezTo>
                  <a:lnTo>
                    <a:pt x="0" y="17337"/>
                  </a:lnTo>
                  <a:cubicBezTo>
                    <a:pt x="0" y="12739"/>
                    <a:pt x="1827" y="8329"/>
                    <a:pt x="5078" y="5078"/>
                  </a:cubicBezTo>
                  <a:cubicBezTo>
                    <a:pt x="8329" y="1827"/>
                    <a:pt x="12739" y="0"/>
                    <a:pt x="17337" y="0"/>
                  </a:cubicBezTo>
                  <a:close/>
                </a:path>
              </a:pathLst>
            </a:custGeom>
            <a:solidFill>
              <a:srgbClr val="FEFEFE"/>
            </a:solidFill>
            <a:ln w="28575" cap="sq">
              <a:solidFill>
                <a:srgbClr val="E1B076"/>
              </a:solidFill>
              <a:prstDash val="solid"/>
              <a:miter/>
            </a:ln>
          </p:spPr>
        </p:sp>
        <p:sp>
          <p:nvSpPr>
            <p:cNvPr name="TextBox 54" id="54"/>
            <p:cNvSpPr txBox="true"/>
            <p:nvPr/>
          </p:nvSpPr>
          <p:spPr>
            <a:xfrm>
              <a:off x="0" y="0"/>
              <a:ext cx="2753050" cy="545388"/>
            </a:xfrm>
            <a:prstGeom prst="rect">
              <a:avLst/>
            </a:prstGeom>
          </p:spPr>
          <p:txBody>
            <a:bodyPr anchor="ctr" rtlCol="false" tIns="38100" lIns="38100" bIns="38100" rIns="38100"/>
            <a:lstStyle/>
            <a:p>
              <a:pPr algn="ctr">
                <a:lnSpc>
                  <a:spcPts val="2303"/>
                </a:lnSpc>
              </a:pPr>
            </a:p>
          </p:txBody>
        </p:sp>
      </p:grpSp>
      <p:grpSp>
        <p:nvGrpSpPr>
          <p:cNvPr name="Group 55" id="55"/>
          <p:cNvGrpSpPr/>
          <p:nvPr/>
        </p:nvGrpSpPr>
        <p:grpSpPr>
          <a:xfrm rot="0">
            <a:off x="3989559" y="7964761"/>
            <a:ext cx="14108824" cy="2029712"/>
            <a:chOff x="0" y="0"/>
            <a:chExt cx="5798840" cy="834228"/>
          </a:xfrm>
        </p:grpSpPr>
        <p:sp>
          <p:nvSpPr>
            <p:cNvPr name="Freeform 56" id="56"/>
            <p:cNvSpPr/>
            <p:nvPr/>
          </p:nvSpPr>
          <p:spPr>
            <a:xfrm flipH="false" flipV="false" rot="0">
              <a:off x="0" y="0"/>
              <a:ext cx="5798840" cy="834228"/>
            </a:xfrm>
            <a:custGeom>
              <a:avLst/>
              <a:gdLst/>
              <a:ahLst/>
              <a:cxnLst/>
              <a:rect r="r" b="b" t="t" l="l"/>
              <a:pathLst>
                <a:path h="834228" w="5798840">
                  <a:moveTo>
                    <a:pt x="8231" y="0"/>
                  </a:moveTo>
                  <a:lnTo>
                    <a:pt x="5790609" y="0"/>
                  </a:lnTo>
                  <a:cubicBezTo>
                    <a:pt x="5792792" y="0"/>
                    <a:pt x="5794885" y="867"/>
                    <a:pt x="5796429" y="2411"/>
                  </a:cubicBezTo>
                  <a:cubicBezTo>
                    <a:pt x="5797973" y="3954"/>
                    <a:pt x="5798840" y="6048"/>
                    <a:pt x="5798840" y="8231"/>
                  </a:cubicBezTo>
                  <a:lnTo>
                    <a:pt x="5798840" y="825997"/>
                  </a:lnTo>
                  <a:cubicBezTo>
                    <a:pt x="5798840" y="828180"/>
                    <a:pt x="5797973" y="830273"/>
                    <a:pt x="5796429" y="831817"/>
                  </a:cubicBezTo>
                  <a:cubicBezTo>
                    <a:pt x="5794885" y="833361"/>
                    <a:pt x="5792792" y="834228"/>
                    <a:pt x="5790609" y="834228"/>
                  </a:cubicBezTo>
                  <a:lnTo>
                    <a:pt x="8231" y="834228"/>
                  </a:lnTo>
                  <a:cubicBezTo>
                    <a:pt x="6048" y="834228"/>
                    <a:pt x="3954" y="833361"/>
                    <a:pt x="2411" y="831817"/>
                  </a:cubicBezTo>
                  <a:cubicBezTo>
                    <a:pt x="867" y="830273"/>
                    <a:pt x="0" y="828180"/>
                    <a:pt x="0" y="825997"/>
                  </a:cubicBezTo>
                  <a:lnTo>
                    <a:pt x="0" y="8231"/>
                  </a:lnTo>
                  <a:cubicBezTo>
                    <a:pt x="0" y="6048"/>
                    <a:pt x="867" y="3954"/>
                    <a:pt x="2411" y="2411"/>
                  </a:cubicBezTo>
                  <a:cubicBezTo>
                    <a:pt x="3954" y="867"/>
                    <a:pt x="6048" y="0"/>
                    <a:pt x="8231" y="0"/>
                  </a:cubicBezTo>
                  <a:close/>
                </a:path>
              </a:pathLst>
            </a:custGeom>
            <a:solidFill>
              <a:srgbClr val="FEFEFE"/>
            </a:solidFill>
            <a:ln w="28575" cap="sq">
              <a:solidFill>
                <a:srgbClr val="E1B076"/>
              </a:solidFill>
              <a:prstDash val="solid"/>
              <a:miter/>
            </a:ln>
          </p:spPr>
        </p:sp>
        <p:sp>
          <p:nvSpPr>
            <p:cNvPr name="TextBox 57" id="57"/>
            <p:cNvSpPr txBox="true"/>
            <p:nvPr/>
          </p:nvSpPr>
          <p:spPr>
            <a:xfrm>
              <a:off x="0" y="0"/>
              <a:ext cx="5798840" cy="834228"/>
            </a:xfrm>
            <a:prstGeom prst="rect">
              <a:avLst/>
            </a:prstGeom>
          </p:spPr>
          <p:txBody>
            <a:bodyPr anchor="ctr" rtlCol="false" tIns="38100" lIns="38100" bIns="38100" rIns="38100"/>
            <a:lstStyle/>
            <a:p>
              <a:pPr algn="ctr">
                <a:lnSpc>
                  <a:spcPts val="2303"/>
                </a:lnSpc>
              </a:pPr>
            </a:p>
          </p:txBody>
        </p:sp>
      </p:grpSp>
      <p:sp>
        <p:nvSpPr>
          <p:cNvPr name="TextBox 58" id="58"/>
          <p:cNvSpPr txBox="true"/>
          <p:nvPr/>
        </p:nvSpPr>
        <p:spPr>
          <a:xfrm rot="0">
            <a:off x="3989559" y="4614117"/>
            <a:ext cx="6507738" cy="1176402"/>
          </a:xfrm>
          <a:prstGeom prst="rect">
            <a:avLst/>
          </a:prstGeom>
        </p:spPr>
        <p:txBody>
          <a:bodyPr anchor="t" rtlCol="false" tIns="0" lIns="0" bIns="0" rIns="0">
            <a:spAutoFit/>
          </a:bodyPr>
          <a:lstStyle/>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Simple, cl</a:t>
            </a:r>
            <a:r>
              <a:rPr lang="en-US" sz="1959" strike="noStrike" u="none">
                <a:solidFill>
                  <a:srgbClr val="231F20"/>
                </a:solidFill>
                <a:latin typeface="TT Firs Neue"/>
                <a:ea typeface="TT Firs Neue"/>
                <a:cs typeface="TT Firs Neue"/>
                <a:sym typeface="TT Firs Neue"/>
              </a:rPr>
              <a:t>ear</a:t>
            </a:r>
            <a:r>
              <a:rPr lang="en-US" sz="1959" strike="noStrike" u="none">
                <a:solidFill>
                  <a:srgbClr val="231F20"/>
                </a:solidFill>
                <a:latin typeface="TT Firs Neue"/>
                <a:ea typeface="TT Firs Neue"/>
                <a:cs typeface="TT Firs Neue"/>
                <a:sym typeface="TT Firs Neue"/>
              </a:rPr>
              <a:t>, a</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 easy t</a:t>
            </a:r>
            <a:r>
              <a:rPr lang="en-US" sz="1959" strike="noStrike" u="none">
                <a:solidFill>
                  <a:srgbClr val="231F20"/>
                </a:solidFill>
                <a:latin typeface="TT Firs Neue"/>
                <a:ea typeface="TT Firs Neue"/>
                <a:cs typeface="TT Firs Neue"/>
                <a:sym typeface="TT Firs Neue"/>
              </a:rPr>
              <a:t>o</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p</a:t>
            </a:r>
            <a:r>
              <a:rPr lang="en-US" sz="1959" strike="noStrike" u="none">
                <a:solidFill>
                  <a:srgbClr val="231F20"/>
                </a:solidFill>
                <a:latin typeface="TT Firs Neue"/>
                <a:ea typeface="TT Firs Neue"/>
                <a:cs typeface="TT Firs Neue"/>
                <a:sym typeface="TT Firs Neue"/>
              </a:rPr>
              <a:t>resent.</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O</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igi</a:t>
            </a:r>
            <a:r>
              <a:rPr lang="en-US" sz="1959" strike="noStrike" u="none">
                <a:solidFill>
                  <a:srgbClr val="231F20"/>
                </a:solidFill>
                <a:latin typeface="TT Firs Neue"/>
                <a:ea typeface="TT Firs Neue"/>
                <a:cs typeface="TT Firs Neue"/>
                <a:sym typeface="TT Firs Neue"/>
              </a:rPr>
              <a:t>nal te</a:t>
            </a:r>
            <a:r>
              <a:rPr lang="en-US" sz="1959" strike="noStrike" u="none">
                <a:solidFill>
                  <a:srgbClr val="231F20"/>
                </a:solidFill>
                <a:latin typeface="TT Firs Neue"/>
                <a:ea typeface="TT Firs Neue"/>
                <a:cs typeface="TT Firs Neue"/>
                <a:sym typeface="TT Firs Neue"/>
              </a:rPr>
              <a:t>x</a:t>
            </a:r>
            <a:r>
              <a:rPr lang="en-US" sz="1959" strike="noStrike" u="none">
                <a:solidFill>
                  <a:srgbClr val="231F20"/>
                </a:solidFill>
                <a:latin typeface="TT Firs Neue"/>
                <a:ea typeface="TT Firs Neue"/>
                <a:cs typeface="TT Firs Neue"/>
                <a:sym typeface="TT Firs Neue"/>
              </a:rPr>
              <a:t>t i</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re</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on</a:t>
            </a:r>
            <a:r>
              <a:rPr lang="en-US" sz="1959" strike="noStrike" u="none">
                <a:solidFill>
                  <a:srgbClr val="231F20"/>
                </a:solidFill>
                <a:latin typeface="TT Firs Neue"/>
                <a:ea typeface="TT Firs Neue"/>
                <a:cs typeface="TT Firs Neue"/>
                <a:sym typeface="TT Firs Neue"/>
              </a:rPr>
              <a:t>ly; </a:t>
            </a:r>
            <a:r>
              <a:rPr lang="en-US" sz="1959" strike="noStrike" u="none">
                <a:solidFill>
                  <a:srgbClr val="231F20"/>
                </a:solidFill>
                <a:latin typeface="TT Firs Neue"/>
                <a:ea typeface="TT Firs Neue"/>
                <a:cs typeface="TT Firs Neue"/>
                <a:sym typeface="TT Firs Neue"/>
              </a:rPr>
              <a:t>si</a:t>
            </a:r>
            <a:r>
              <a:rPr lang="en-US" sz="1959" strike="noStrike" u="none">
                <a:solidFill>
                  <a:srgbClr val="231F20"/>
                </a:solidFill>
                <a:latin typeface="TT Firs Neue"/>
                <a:ea typeface="TT Firs Neue"/>
                <a:cs typeface="TT Firs Neue"/>
                <a:sym typeface="TT Firs Neue"/>
              </a:rPr>
              <a:t>mplified</a:t>
            </a:r>
            <a:r>
              <a:rPr lang="en-US" sz="1959" strike="noStrike" u="none">
                <a:solidFill>
                  <a:srgbClr val="231F20"/>
                </a:solidFill>
                <a:latin typeface="TT Firs Neue"/>
                <a:ea typeface="TT Firs Neue"/>
                <a:cs typeface="TT Firs Neue"/>
                <a:sym typeface="TT Firs Neue"/>
              </a:rPr>
              <a:t> text</a:t>
            </a:r>
            <a:r>
              <a:rPr lang="en-US" sz="1959" strike="noStrike" u="none">
                <a:solidFill>
                  <a:srgbClr val="231F20"/>
                </a:solidFill>
                <a:latin typeface="TT Firs Neue"/>
                <a:ea typeface="TT Firs Neue"/>
                <a:cs typeface="TT Firs Neue"/>
                <a:sym typeface="TT Firs Neue"/>
              </a:rPr>
              <a:t> i</a:t>
            </a:r>
            <a:r>
              <a:rPr lang="en-US" sz="1959" strike="noStrike" u="none">
                <a:solidFill>
                  <a:srgbClr val="231F20"/>
                </a:solidFill>
                <a:latin typeface="TT Firs Neue"/>
                <a:ea typeface="TT Firs Neue"/>
                <a:cs typeface="TT Firs Neue"/>
                <a:sym typeface="TT Firs Neue"/>
              </a:rPr>
              <a:t>s </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it</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bl</a:t>
            </a:r>
            <a:r>
              <a:rPr lang="en-US" sz="1959" strike="noStrike" u="none">
                <a:solidFill>
                  <a:srgbClr val="231F20"/>
                </a:solidFill>
                <a:latin typeface="TT Firs Neue"/>
                <a:ea typeface="TT Firs Neue"/>
                <a:cs typeface="TT Firs Neue"/>
                <a:sym typeface="TT Firs Neue"/>
              </a:rPr>
              <a:t>e.</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St</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ong</a:t>
            </a:r>
            <a:r>
              <a:rPr lang="en-US" sz="1959" strike="noStrike" u="none">
                <a:solidFill>
                  <a:srgbClr val="231F20"/>
                </a:solidFill>
                <a:latin typeface="TT Firs Neue"/>
                <a:ea typeface="TT Firs Neue"/>
                <a:cs typeface="TT Firs Neue"/>
                <a:sym typeface="TT Firs Neue"/>
              </a:rPr>
              <a:t> r</a:t>
            </a:r>
            <a:r>
              <a:rPr lang="en-US" sz="1959" strike="noStrike" u="none">
                <a:solidFill>
                  <a:srgbClr val="231F20"/>
                </a:solidFill>
                <a:latin typeface="TT Firs Neue"/>
                <a:ea typeface="TT Firs Neue"/>
                <a:cs typeface="TT Firs Neue"/>
                <a:sym typeface="TT Firs Neue"/>
              </a:rPr>
              <a:t>ul</a:t>
            </a:r>
            <a:r>
              <a:rPr lang="en-US" sz="1959" strike="noStrike" u="none">
                <a:solidFill>
                  <a:srgbClr val="231F20"/>
                </a:solidFill>
                <a:latin typeface="TT Firs Neue"/>
                <a:ea typeface="TT Firs Neue"/>
                <a:cs typeface="TT Firs Neue"/>
                <a:sym typeface="TT Firs Neue"/>
              </a:rPr>
              <a:t>e for </a:t>
            </a:r>
            <a:r>
              <a:rPr lang="en-US" sz="1959" strike="noStrike" u="none">
                <a:solidFill>
                  <a:srgbClr val="231F20"/>
                </a:solidFill>
                <a:latin typeface="TT Firs Neue"/>
                <a:ea typeface="TT Firs Neue"/>
                <a:cs typeface="TT Firs Neue"/>
                <a:sym typeface="TT Firs Neue"/>
              </a:rPr>
              <a:t>p</a:t>
            </a:r>
            <a:r>
              <a:rPr lang="en-US" sz="1959" strike="noStrike" u="none">
                <a:solidFill>
                  <a:srgbClr val="231F20"/>
                </a:solidFill>
                <a:latin typeface="TT Firs Neue"/>
                <a:ea typeface="TT Firs Neue"/>
                <a:cs typeface="TT Firs Neue"/>
                <a:sym typeface="TT Firs Neue"/>
              </a:rPr>
              <a:t>re</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e</a:t>
            </a:r>
            <a:r>
              <a:rPr lang="en-US" sz="1959" strike="noStrike" u="none">
                <a:solidFill>
                  <a:srgbClr val="231F20"/>
                </a:solidFill>
                <a:latin typeface="TT Firs Neue"/>
                <a:ea typeface="TT Firs Neue"/>
                <a:cs typeface="TT Firs Neue"/>
                <a:sym typeface="TT Firs Neue"/>
              </a:rPr>
              <a:t>rving</a:t>
            </a:r>
            <a:r>
              <a:rPr lang="en-US" sz="1959" strike="noStrike" u="none">
                <a:solidFill>
                  <a:srgbClr val="231F20"/>
                </a:solidFill>
                <a:latin typeface="TT Firs Neue"/>
                <a:ea typeface="TT Firs Neue"/>
                <a:cs typeface="TT Firs Neue"/>
                <a:sym typeface="TT Firs Neue"/>
              </a:rPr>
              <a:t> academic terms.</a:t>
            </a:r>
          </a:p>
        </p:txBody>
      </p:sp>
      <p:grpSp>
        <p:nvGrpSpPr>
          <p:cNvPr name="Group 59" id="59"/>
          <p:cNvGrpSpPr/>
          <p:nvPr/>
        </p:nvGrpSpPr>
        <p:grpSpPr>
          <a:xfrm rot="0">
            <a:off x="10897397" y="4581706"/>
            <a:ext cx="7200985" cy="1326951"/>
            <a:chOff x="0" y="0"/>
            <a:chExt cx="2959663" cy="545388"/>
          </a:xfrm>
        </p:grpSpPr>
        <p:sp>
          <p:nvSpPr>
            <p:cNvPr name="Freeform 60" id="60"/>
            <p:cNvSpPr/>
            <p:nvPr/>
          </p:nvSpPr>
          <p:spPr>
            <a:xfrm flipH="false" flipV="false" rot="0">
              <a:off x="0" y="0"/>
              <a:ext cx="2959663" cy="545388"/>
            </a:xfrm>
            <a:custGeom>
              <a:avLst/>
              <a:gdLst/>
              <a:ahLst/>
              <a:cxnLst/>
              <a:rect r="r" b="b" t="t" l="l"/>
              <a:pathLst>
                <a:path h="545388" w="2959663">
                  <a:moveTo>
                    <a:pt x="16127" y="0"/>
                  </a:moveTo>
                  <a:lnTo>
                    <a:pt x="2943536" y="0"/>
                  </a:lnTo>
                  <a:cubicBezTo>
                    <a:pt x="2952442" y="0"/>
                    <a:pt x="2959663" y="7220"/>
                    <a:pt x="2959663" y="16127"/>
                  </a:cubicBezTo>
                  <a:lnTo>
                    <a:pt x="2959663" y="529261"/>
                  </a:lnTo>
                  <a:cubicBezTo>
                    <a:pt x="2959663" y="533538"/>
                    <a:pt x="2957964" y="537640"/>
                    <a:pt x="2954939" y="540664"/>
                  </a:cubicBezTo>
                  <a:cubicBezTo>
                    <a:pt x="2951915" y="543688"/>
                    <a:pt x="2947813" y="545388"/>
                    <a:pt x="2943536" y="545388"/>
                  </a:cubicBezTo>
                  <a:lnTo>
                    <a:pt x="16127" y="545388"/>
                  </a:lnTo>
                  <a:cubicBezTo>
                    <a:pt x="11850" y="545388"/>
                    <a:pt x="7748" y="543688"/>
                    <a:pt x="4723" y="540664"/>
                  </a:cubicBezTo>
                  <a:cubicBezTo>
                    <a:pt x="1699" y="537640"/>
                    <a:pt x="0" y="533538"/>
                    <a:pt x="0" y="529261"/>
                  </a:cubicBezTo>
                  <a:lnTo>
                    <a:pt x="0" y="16127"/>
                  </a:lnTo>
                  <a:cubicBezTo>
                    <a:pt x="0" y="11850"/>
                    <a:pt x="1699" y="7748"/>
                    <a:pt x="4723" y="4723"/>
                  </a:cubicBezTo>
                  <a:cubicBezTo>
                    <a:pt x="7748" y="1699"/>
                    <a:pt x="11850" y="0"/>
                    <a:pt x="16127" y="0"/>
                  </a:cubicBezTo>
                  <a:close/>
                </a:path>
              </a:pathLst>
            </a:custGeom>
            <a:solidFill>
              <a:srgbClr val="FEFEFE"/>
            </a:solidFill>
            <a:ln w="28575" cap="sq">
              <a:solidFill>
                <a:srgbClr val="E1B076"/>
              </a:solidFill>
              <a:prstDash val="solid"/>
              <a:miter/>
            </a:ln>
          </p:spPr>
        </p:sp>
        <p:sp>
          <p:nvSpPr>
            <p:cNvPr name="TextBox 61" id="61"/>
            <p:cNvSpPr txBox="true"/>
            <p:nvPr/>
          </p:nvSpPr>
          <p:spPr>
            <a:xfrm>
              <a:off x="0" y="0"/>
              <a:ext cx="2959663" cy="545388"/>
            </a:xfrm>
            <a:prstGeom prst="rect">
              <a:avLst/>
            </a:prstGeom>
          </p:spPr>
          <p:txBody>
            <a:bodyPr anchor="ctr" rtlCol="false" tIns="38100" lIns="38100" bIns="38100" rIns="38100"/>
            <a:lstStyle/>
            <a:p>
              <a:pPr algn="ctr">
                <a:lnSpc>
                  <a:spcPts val="2303"/>
                </a:lnSpc>
              </a:pPr>
            </a:p>
          </p:txBody>
        </p:sp>
      </p:grpSp>
      <p:sp>
        <p:nvSpPr>
          <p:cNvPr name="TextBox 62" id="62"/>
          <p:cNvSpPr txBox="true"/>
          <p:nvPr/>
        </p:nvSpPr>
        <p:spPr>
          <a:xfrm rot="0">
            <a:off x="10927204" y="4614117"/>
            <a:ext cx="6507738" cy="1176402"/>
          </a:xfrm>
          <a:prstGeom prst="rect">
            <a:avLst/>
          </a:prstGeom>
        </p:spPr>
        <p:txBody>
          <a:bodyPr anchor="t" rtlCol="false" tIns="0" lIns="0" bIns="0" rIns="0">
            <a:spAutoFit/>
          </a:bodyPr>
          <a:lstStyle/>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More detailed controls</a:t>
            </a:r>
            <a:r>
              <a:rPr lang="en-US" sz="1959" strike="noStrike" u="none">
                <a:solidFill>
                  <a:srgbClr val="231F20"/>
                </a:solidFill>
                <a:latin typeface="TT Firs Neue"/>
                <a:ea typeface="TT Firs Neue"/>
                <a:cs typeface="TT Firs Neue"/>
                <a:sym typeface="TT Firs Neue"/>
              </a:rPr>
              <a:t> and broader erro</a:t>
            </a:r>
            <a:r>
              <a:rPr lang="en-US" sz="1959" strike="noStrike" u="none">
                <a:solidFill>
                  <a:srgbClr val="231F20"/>
                </a:solidFill>
                <a:latin typeface="TT Firs Neue"/>
                <a:ea typeface="TT Firs Neue"/>
                <a:cs typeface="TT Firs Neue"/>
                <a:sym typeface="TT Firs Neue"/>
              </a:rPr>
              <a:t>r</a:t>
            </a:r>
            <a:r>
              <a:rPr lang="en-US" sz="1959" strike="noStrike" u="none">
                <a:solidFill>
                  <a:srgbClr val="231F20"/>
                </a:solidFill>
                <a:latin typeface="TT Firs Neue"/>
                <a:ea typeface="TT Firs Neue"/>
                <a:cs typeface="TT Firs Neue"/>
                <a:sym typeface="TT Firs Neue"/>
              </a:rPr>
              <a:t> handli</a:t>
            </a:r>
            <a:r>
              <a:rPr lang="en-US" sz="1959" strike="noStrike" u="none">
                <a:solidFill>
                  <a:srgbClr val="231F20"/>
                </a:solidFill>
                <a:latin typeface="TT Firs Neue"/>
                <a:ea typeface="TT Firs Neue"/>
                <a:cs typeface="TT Firs Neue"/>
                <a:sym typeface="TT Firs Neue"/>
              </a:rPr>
              <a:t>n</a:t>
            </a:r>
            <a:r>
              <a:rPr lang="en-US" sz="1959" strike="noStrike" u="none">
                <a:solidFill>
                  <a:srgbClr val="231F20"/>
                </a:solidFill>
                <a:latin typeface="TT Firs Neue"/>
                <a:ea typeface="TT Firs Neue"/>
                <a:cs typeface="TT Firs Neue"/>
                <a:sym typeface="TT Firs Neue"/>
              </a:rPr>
              <a:t>g</a:t>
            </a:r>
            <a:r>
              <a:rPr lang="en-US" sz="1959" strike="noStrike" u="none">
                <a:solidFill>
                  <a:srgbClr val="231F20"/>
                </a:solidFill>
                <a:latin typeface="TT Firs Neue"/>
                <a:ea typeface="TT Firs Neue"/>
                <a:cs typeface="TT Firs Neue"/>
                <a:sym typeface="TT Firs Neue"/>
              </a:rPr>
              <a:t> (sca</a:t>
            </a:r>
            <a:r>
              <a:rPr lang="en-US" sz="1959" strike="noStrike" u="none">
                <a:solidFill>
                  <a:srgbClr val="231F20"/>
                </a:solidFill>
                <a:latin typeface="TT Firs Neue"/>
                <a:ea typeface="TT Firs Neue"/>
                <a:cs typeface="TT Firs Neue"/>
                <a:sym typeface="TT Firs Neue"/>
              </a:rPr>
              <a:t>nned PDFs</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 unsuppor</a:t>
            </a:r>
            <a:r>
              <a:rPr lang="en-US" sz="1959" strike="noStrike" u="none">
                <a:solidFill>
                  <a:srgbClr val="231F20"/>
                </a:solidFill>
                <a:latin typeface="TT Firs Neue"/>
                <a:ea typeface="TT Firs Neue"/>
                <a:cs typeface="TT Firs Neue"/>
                <a:sym typeface="TT Firs Neue"/>
              </a:rPr>
              <a:t>t</a:t>
            </a:r>
            <a:r>
              <a:rPr lang="en-US" sz="1959" strike="noStrike" u="none">
                <a:solidFill>
                  <a:srgbClr val="231F20"/>
                </a:solidFill>
                <a:latin typeface="TT Firs Neue"/>
                <a:ea typeface="TT Firs Neue"/>
                <a:cs typeface="TT Firs Neue"/>
                <a:sym typeface="TT Firs Neue"/>
              </a:rPr>
              <a:t>ed </a:t>
            </a:r>
            <a:r>
              <a:rPr lang="en-US" sz="1959" strike="noStrike" u="none">
                <a:solidFill>
                  <a:srgbClr val="231F20"/>
                </a:solidFill>
                <a:latin typeface="TT Firs Neue"/>
                <a:ea typeface="TT Firs Neue"/>
                <a:cs typeface="TT Firs Neue"/>
                <a:sym typeface="TT Firs Neue"/>
              </a:rPr>
              <a:t>f</a:t>
            </a:r>
            <a:r>
              <a:rPr lang="en-US" sz="1959" strike="noStrike" u="none">
                <a:solidFill>
                  <a:srgbClr val="231F20"/>
                </a:solidFill>
                <a:latin typeface="TT Firs Neue"/>
                <a:ea typeface="TT Firs Neue"/>
                <a:cs typeface="TT Firs Neue"/>
                <a:sym typeface="TT Firs Neue"/>
              </a:rPr>
              <a:t>iles, fail</a:t>
            </a:r>
            <a:r>
              <a:rPr lang="en-US" sz="1959" strike="noStrike" u="none">
                <a:solidFill>
                  <a:srgbClr val="231F20"/>
                </a:solidFill>
                <a:latin typeface="TT Firs Neue"/>
                <a:ea typeface="TT Firs Neue"/>
                <a:cs typeface="TT Firs Neue"/>
                <a:sym typeface="TT Firs Neue"/>
              </a:rPr>
              <a:t>ur</a:t>
            </a:r>
            <a:r>
              <a:rPr lang="en-US" sz="1959" strike="noStrike" u="none">
                <a:solidFill>
                  <a:srgbClr val="231F20"/>
                </a:solidFill>
                <a:latin typeface="TT Firs Neue"/>
                <a:ea typeface="TT Firs Neue"/>
                <a:cs typeface="TT Firs Neue"/>
                <a:sym typeface="TT Firs Neue"/>
              </a:rPr>
              <a:t>es).</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Hidde</a:t>
            </a:r>
            <a:r>
              <a:rPr lang="en-US" sz="1959" strike="noStrike" u="none">
                <a:solidFill>
                  <a:srgbClr val="231F20"/>
                </a:solidFill>
                <a:latin typeface="TT Firs Neue"/>
                <a:ea typeface="TT Firs Neue"/>
                <a:cs typeface="TT Firs Neue"/>
                <a:sym typeface="TT Firs Neue"/>
              </a:rPr>
              <a:t>n scores reduce pres</a:t>
            </a:r>
            <a:r>
              <a:rPr lang="en-US" sz="1959" strike="noStrike" u="none">
                <a:solidFill>
                  <a:srgbClr val="231F20"/>
                </a:solidFill>
                <a:latin typeface="TT Firs Neue"/>
                <a:ea typeface="TT Firs Neue"/>
                <a:cs typeface="TT Firs Neue"/>
                <a:sym typeface="TT Firs Neue"/>
              </a:rPr>
              <a:t>sure.</a:t>
            </a:r>
          </a:p>
        </p:txBody>
      </p:sp>
      <p:grpSp>
        <p:nvGrpSpPr>
          <p:cNvPr name="Group 63" id="63"/>
          <p:cNvGrpSpPr/>
          <p:nvPr/>
        </p:nvGrpSpPr>
        <p:grpSpPr>
          <a:xfrm rot="0">
            <a:off x="4000810" y="6061057"/>
            <a:ext cx="6698289" cy="1751305"/>
            <a:chOff x="0" y="0"/>
            <a:chExt cx="2753050" cy="719800"/>
          </a:xfrm>
        </p:grpSpPr>
        <p:sp>
          <p:nvSpPr>
            <p:cNvPr name="Freeform 64" id="64"/>
            <p:cNvSpPr/>
            <p:nvPr/>
          </p:nvSpPr>
          <p:spPr>
            <a:xfrm flipH="false" flipV="false" rot="0">
              <a:off x="0" y="0"/>
              <a:ext cx="2753050" cy="719800"/>
            </a:xfrm>
            <a:custGeom>
              <a:avLst/>
              <a:gdLst/>
              <a:ahLst/>
              <a:cxnLst/>
              <a:rect r="r" b="b" t="t" l="l"/>
              <a:pathLst>
                <a:path h="719800" w="2753050">
                  <a:moveTo>
                    <a:pt x="17337" y="0"/>
                  </a:moveTo>
                  <a:lnTo>
                    <a:pt x="2735713" y="0"/>
                  </a:lnTo>
                  <a:cubicBezTo>
                    <a:pt x="2740311" y="0"/>
                    <a:pt x="2744721" y="1827"/>
                    <a:pt x="2747972" y="5078"/>
                  </a:cubicBezTo>
                  <a:cubicBezTo>
                    <a:pt x="2751224" y="8329"/>
                    <a:pt x="2753050" y="12739"/>
                    <a:pt x="2753050" y="17337"/>
                  </a:cubicBezTo>
                  <a:lnTo>
                    <a:pt x="2753050" y="702463"/>
                  </a:lnTo>
                  <a:cubicBezTo>
                    <a:pt x="2753050" y="707061"/>
                    <a:pt x="2751224" y="711471"/>
                    <a:pt x="2747972" y="714722"/>
                  </a:cubicBezTo>
                  <a:cubicBezTo>
                    <a:pt x="2744721" y="717974"/>
                    <a:pt x="2740311" y="719800"/>
                    <a:pt x="2735713" y="719800"/>
                  </a:cubicBezTo>
                  <a:lnTo>
                    <a:pt x="17337" y="719800"/>
                  </a:lnTo>
                  <a:cubicBezTo>
                    <a:pt x="12739" y="719800"/>
                    <a:pt x="8329" y="717974"/>
                    <a:pt x="5078" y="714722"/>
                  </a:cubicBezTo>
                  <a:cubicBezTo>
                    <a:pt x="1827" y="711471"/>
                    <a:pt x="0" y="707061"/>
                    <a:pt x="0" y="702463"/>
                  </a:cubicBezTo>
                  <a:lnTo>
                    <a:pt x="0" y="17337"/>
                  </a:lnTo>
                  <a:cubicBezTo>
                    <a:pt x="0" y="12739"/>
                    <a:pt x="1827" y="8329"/>
                    <a:pt x="5078" y="5078"/>
                  </a:cubicBezTo>
                  <a:cubicBezTo>
                    <a:pt x="8329" y="1827"/>
                    <a:pt x="12739" y="0"/>
                    <a:pt x="17337" y="0"/>
                  </a:cubicBezTo>
                  <a:close/>
                </a:path>
              </a:pathLst>
            </a:custGeom>
            <a:solidFill>
              <a:srgbClr val="FEFEFE"/>
            </a:solidFill>
            <a:ln w="28575" cap="sq">
              <a:solidFill>
                <a:srgbClr val="E1B076"/>
              </a:solidFill>
              <a:prstDash val="solid"/>
              <a:miter/>
            </a:ln>
          </p:spPr>
        </p:sp>
        <p:sp>
          <p:nvSpPr>
            <p:cNvPr name="TextBox 65" id="65"/>
            <p:cNvSpPr txBox="true"/>
            <p:nvPr/>
          </p:nvSpPr>
          <p:spPr>
            <a:xfrm>
              <a:off x="0" y="0"/>
              <a:ext cx="2753050" cy="719800"/>
            </a:xfrm>
            <a:prstGeom prst="rect">
              <a:avLst/>
            </a:prstGeom>
          </p:spPr>
          <p:txBody>
            <a:bodyPr anchor="ctr" rtlCol="false" tIns="38100" lIns="38100" bIns="38100" rIns="38100"/>
            <a:lstStyle/>
            <a:p>
              <a:pPr algn="ctr">
                <a:lnSpc>
                  <a:spcPts val="2303"/>
                </a:lnSpc>
              </a:pPr>
            </a:p>
          </p:txBody>
        </p:sp>
      </p:grpSp>
      <p:sp>
        <p:nvSpPr>
          <p:cNvPr name="TextBox 66" id="66"/>
          <p:cNvSpPr txBox="true"/>
          <p:nvPr/>
        </p:nvSpPr>
        <p:spPr>
          <a:xfrm rot="0">
            <a:off x="4000810" y="6105620"/>
            <a:ext cx="6496487" cy="1576452"/>
          </a:xfrm>
          <a:prstGeom prst="rect">
            <a:avLst/>
          </a:prstGeom>
        </p:spPr>
        <p:txBody>
          <a:bodyPr anchor="t" rtlCol="false" tIns="0" lIns="0" bIns="0" rIns="0">
            <a:spAutoFit/>
          </a:bodyPr>
          <a:lstStyle/>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Fewer dysl</a:t>
            </a:r>
            <a:r>
              <a:rPr lang="en-US" sz="1959" strike="noStrike" u="none">
                <a:solidFill>
                  <a:srgbClr val="231F20"/>
                </a:solidFill>
                <a:latin typeface="TT Firs Neue"/>
                <a:ea typeface="TT Firs Neue"/>
                <a:cs typeface="TT Firs Neue"/>
                <a:sym typeface="TT Firs Neue"/>
              </a:rPr>
              <a:t>exia-specific controls </a:t>
            </a:r>
            <a:r>
              <a:rPr lang="en-US" sz="1959" strike="noStrike" u="none">
                <a:solidFill>
                  <a:srgbClr val="231F20"/>
                </a:solidFill>
                <a:latin typeface="TT Firs Neue"/>
                <a:ea typeface="TT Firs Neue"/>
                <a:cs typeface="TT Firs Neue"/>
                <a:sym typeface="TT Firs Neue"/>
              </a:rPr>
              <a:t>(no b</a:t>
            </a:r>
            <a:r>
              <a:rPr lang="en-US" sz="1959" strike="noStrike" u="none">
                <a:solidFill>
                  <a:srgbClr val="231F20"/>
                </a:solidFill>
                <a:latin typeface="TT Firs Neue"/>
                <a:ea typeface="TT Firs Neue"/>
                <a:cs typeface="TT Firs Neue"/>
                <a:sym typeface="TT Firs Neue"/>
              </a:rPr>
              <a:t>a</a:t>
            </a:r>
            <a:r>
              <a:rPr lang="en-US" sz="1959" strike="noStrike" u="none">
                <a:solidFill>
                  <a:srgbClr val="231F20"/>
                </a:solidFill>
                <a:latin typeface="TT Firs Neue"/>
                <a:ea typeface="TT Firs Neue"/>
                <a:cs typeface="TT Firs Neue"/>
                <a:sym typeface="TT Firs Neue"/>
              </a:rPr>
              <a:t>ckgrou</a:t>
            </a:r>
            <a:r>
              <a:rPr lang="en-US" sz="1959" strike="noStrike" u="none">
                <a:solidFill>
                  <a:srgbClr val="231F20"/>
                </a:solidFill>
                <a:latin typeface="TT Firs Neue"/>
                <a:ea typeface="TT Firs Neue"/>
                <a:cs typeface="TT Firs Neue"/>
                <a:sym typeface="TT Firs Neue"/>
              </a:rPr>
              <a:t>nd colors, line length, or focus mode).</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L</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m</a:t>
            </a:r>
            <a:r>
              <a:rPr lang="en-US" sz="1959" strike="noStrike" u="none">
                <a:solidFill>
                  <a:srgbClr val="231F20"/>
                </a:solidFill>
                <a:latin typeface="TT Firs Neue"/>
                <a:ea typeface="TT Firs Neue"/>
                <a:cs typeface="TT Firs Neue"/>
                <a:sym typeface="TT Firs Neue"/>
              </a:rPr>
              <a:t>ited error</a:t>
            </a:r>
            <a:r>
              <a:rPr lang="en-US" sz="1959" strike="noStrike" u="none">
                <a:solidFill>
                  <a:srgbClr val="231F20"/>
                </a:solidFill>
                <a:latin typeface="TT Firs Neue"/>
                <a:ea typeface="TT Firs Neue"/>
                <a:cs typeface="TT Firs Neue"/>
                <a:sym typeface="TT Firs Neue"/>
              </a:rPr>
              <a:t> h</a:t>
            </a:r>
            <a:r>
              <a:rPr lang="en-US" sz="1959" strike="noStrike" u="none">
                <a:solidFill>
                  <a:srgbClr val="231F20"/>
                </a:solidFill>
                <a:latin typeface="TT Firs Neue"/>
                <a:ea typeface="TT Firs Neue"/>
                <a:cs typeface="TT Firs Neue"/>
                <a:sym typeface="TT Firs Neue"/>
              </a:rPr>
              <a:t>andling (emp</a:t>
            </a:r>
            <a:r>
              <a:rPr lang="en-US" sz="1959" strike="noStrike" u="none">
                <a:solidFill>
                  <a:srgbClr val="231F20"/>
                </a:solidFill>
                <a:latin typeface="TT Firs Neue"/>
                <a:ea typeface="TT Firs Neue"/>
                <a:cs typeface="TT Firs Neue"/>
                <a:sym typeface="TT Firs Neue"/>
              </a:rPr>
              <a:t>ty </a:t>
            </a:r>
            <a:r>
              <a:rPr lang="en-US" sz="1959" strike="noStrike" u="none">
                <a:solidFill>
                  <a:srgbClr val="231F20"/>
                </a:solidFill>
                <a:latin typeface="TT Firs Neue"/>
                <a:ea typeface="TT Firs Neue"/>
                <a:cs typeface="TT Firs Neue"/>
                <a:sym typeface="TT Firs Neue"/>
              </a:rPr>
              <a:t>i</a:t>
            </a:r>
            <a:r>
              <a:rPr lang="en-US" sz="1959" strike="noStrike" u="none">
                <a:solidFill>
                  <a:srgbClr val="231F20"/>
                </a:solidFill>
                <a:latin typeface="TT Firs Neue"/>
                <a:ea typeface="TT Firs Neue"/>
                <a:cs typeface="TT Firs Neue"/>
                <a:sym typeface="TT Firs Neue"/>
              </a:rPr>
              <a:t>nput an</a:t>
            </a:r>
            <a:r>
              <a:rPr lang="en-US" sz="1959" strike="noStrike" u="none">
                <a:solidFill>
                  <a:srgbClr val="231F20"/>
                </a:solidFill>
                <a:latin typeface="TT Firs Neue"/>
                <a:ea typeface="TT Firs Neue"/>
                <a:cs typeface="TT Firs Neue"/>
                <a:sym typeface="TT Firs Neue"/>
              </a:rPr>
              <a:t>d long text</a:t>
            </a:r>
            <a:r>
              <a:rPr lang="en-US" sz="1959" strike="noStrike" u="none">
                <a:solidFill>
                  <a:srgbClr val="231F20"/>
                </a:solidFill>
                <a:latin typeface="TT Firs Neue"/>
                <a:ea typeface="TT Firs Neue"/>
                <a:cs typeface="TT Firs Neue"/>
                <a:sym typeface="TT Firs Neue"/>
              </a:rPr>
              <a:t>)</a:t>
            </a:r>
            <a:r>
              <a:rPr lang="en-US" sz="1959" strike="noStrike" u="none">
                <a:solidFill>
                  <a:srgbClr val="231F20"/>
                </a:solidFill>
                <a:latin typeface="TT Firs Neue"/>
                <a:ea typeface="TT Firs Neue"/>
                <a:cs typeface="TT Firs Neue"/>
                <a:sym typeface="TT Firs Neue"/>
              </a:rPr>
              <a:t>.</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c</a:t>
            </a:r>
            <a:r>
              <a:rPr lang="en-US" sz="1959" strike="noStrike" u="none">
                <a:solidFill>
                  <a:srgbClr val="231F20"/>
                </a:solidFill>
                <a:latin typeface="TT Firs Neue"/>
                <a:ea typeface="TT Firs Neue"/>
                <a:cs typeface="TT Firs Neue"/>
                <a:sym typeface="TT Firs Neue"/>
              </a:rPr>
              <a:t>ores cannot be hi</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den.</a:t>
            </a:r>
          </a:p>
        </p:txBody>
      </p:sp>
      <p:grpSp>
        <p:nvGrpSpPr>
          <p:cNvPr name="Group 67" id="67"/>
          <p:cNvGrpSpPr/>
          <p:nvPr/>
        </p:nvGrpSpPr>
        <p:grpSpPr>
          <a:xfrm rot="0">
            <a:off x="10897397" y="6061057"/>
            <a:ext cx="7200985" cy="1751305"/>
            <a:chOff x="0" y="0"/>
            <a:chExt cx="2959663" cy="719800"/>
          </a:xfrm>
        </p:grpSpPr>
        <p:sp>
          <p:nvSpPr>
            <p:cNvPr name="Freeform 68" id="68"/>
            <p:cNvSpPr/>
            <p:nvPr/>
          </p:nvSpPr>
          <p:spPr>
            <a:xfrm flipH="false" flipV="false" rot="0">
              <a:off x="0" y="0"/>
              <a:ext cx="2959663" cy="719800"/>
            </a:xfrm>
            <a:custGeom>
              <a:avLst/>
              <a:gdLst/>
              <a:ahLst/>
              <a:cxnLst/>
              <a:rect r="r" b="b" t="t" l="l"/>
              <a:pathLst>
                <a:path h="719800" w="2959663">
                  <a:moveTo>
                    <a:pt x="16127" y="0"/>
                  </a:moveTo>
                  <a:lnTo>
                    <a:pt x="2943536" y="0"/>
                  </a:lnTo>
                  <a:cubicBezTo>
                    <a:pt x="2952442" y="0"/>
                    <a:pt x="2959663" y="7220"/>
                    <a:pt x="2959663" y="16127"/>
                  </a:cubicBezTo>
                  <a:lnTo>
                    <a:pt x="2959663" y="703673"/>
                  </a:lnTo>
                  <a:cubicBezTo>
                    <a:pt x="2959663" y="707950"/>
                    <a:pt x="2957964" y="712052"/>
                    <a:pt x="2954939" y="715077"/>
                  </a:cubicBezTo>
                  <a:cubicBezTo>
                    <a:pt x="2951915" y="718101"/>
                    <a:pt x="2947813" y="719800"/>
                    <a:pt x="2943536" y="719800"/>
                  </a:cubicBezTo>
                  <a:lnTo>
                    <a:pt x="16127" y="719800"/>
                  </a:lnTo>
                  <a:cubicBezTo>
                    <a:pt x="11850" y="719800"/>
                    <a:pt x="7748" y="718101"/>
                    <a:pt x="4723" y="715077"/>
                  </a:cubicBezTo>
                  <a:cubicBezTo>
                    <a:pt x="1699" y="712052"/>
                    <a:pt x="0" y="707950"/>
                    <a:pt x="0" y="703673"/>
                  </a:cubicBezTo>
                  <a:lnTo>
                    <a:pt x="0" y="16127"/>
                  </a:lnTo>
                  <a:cubicBezTo>
                    <a:pt x="0" y="11850"/>
                    <a:pt x="1699" y="7748"/>
                    <a:pt x="4723" y="4723"/>
                  </a:cubicBezTo>
                  <a:cubicBezTo>
                    <a:pt x="7748" y="1699"/>
                    <a:pt x="11850" y="0"/>
                    <a:pt x="16127" y="0"/>
                  </a:cubicBezTo>
                  <a:close/>
                </a:path>
              </a:pathLst>
            </a:custGeom>
            <a:solidFill>
              <a:srgbClr val="FEFEFE"/>
            </a:solidFill>
            <a:ln w="28575" cap="sq">
              <a:solidFill>
                <a:srgbClr val="E1B076"/>
              </a:solidFill>
              <a:prstDash val="solid"/>
              <a:miter/>
            </a:ln>
          </p:spPr>
        </p:sp>
        <p:sp>
          <p:nvSpPr>
            <p:cNvPr name="TextBox 69" id="69"/>
            <p:cNvSpPr txBox="true"/>
            <p:nvPr/>
          </p:nvSpPr>
          <p:spPr>
            <a:xfrm>
              <a:off x="0" y="0"/>
              <a:ext cx="2959663" cy="719800"/>
            </a:xfrm>
            <a:prstGeom prst="rect">
              <a:avLst/>
            </a:prstGeom>
          </p:spPr>
          <p:txBody>
            <a:bodyPr anchor="ctr" rtlCol="false" tIns="38100" lIns="38100" bIns="38100" rIns="38100"/>
            <a:lstStyle/>
            <a:p>
              <a:pPr algn="ctr">
                <a:lnSpc>
                  <a:spcPts val="2303"/>
                </a:lnSpc>
              </a:pPr>
            </a:p>
          </p:txBody>
        </p:sp>
      </p:grpSp>
      <p:sp>
        <p:nvSpPr>
          <p:cNvPr name="TextBox 70" id="70"/>
          <p:cNvSpPr txBox="true"/>
          <p:nvPr/>
        </p:nvSpPr>
        <p:spPr>
          <a:xfrm rot="0">
            <a:off x="10897397" y="6105620"/>
            <a:ext cx="6496487" cy="1576452"/>
          </a:xfrm>
          <a:prstGeom prst="rect">
            <a:avLst/>
          </a:prstGeom>
        </p:spPr>
        <p:txBody>
          <a:bodyPr anchor="t" rtlCol="false" tIns="0" lIns="0" bIns="0" rIns="0">
            <a:spAutoFit/>
          </a:bodyPr>
          <a:lstStyle/>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Too many options m</a:t>
            </a:r>
            <a:r>
              <a:rPr lang="en-US" sz="1959" strike="noStrike" u="none">
                <a:solidFill>
                  <a:srgbClr val="231F20"/>
                </a:solidFill>
                <a:latin typeface="TT Firs Neue"/>
                <a:ea typeface="TT Firs Neue"/>
                <a:cs typeface="TT Firs Neue"/>
                <a:sym typeface="TT Firs Neue"/>
              </a:rPr>
              <a:t>ay cause decision fatigue.</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Longer an</a:t>
            </a:r>
            <a:r>
              <a:rPr lang="en-US" sz="1959" strike="noStrike" u="none">
                <a:solidFill>
                  <a:srgbClr val="231F20"/>
                </a:solidFill>
                <a:latin typeface="TT Firs Neue"/>
                <a:ea typeface="TT Firs Neue"/>
                <a:cs typeface="TT Firs Neue"/>
                <a:sym typeface="TT Firs Neue"/>
              </a:rPr>
              <a:t>d</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h</a:t>
            </a:r>
            <a:r>
              <a:rPr lang="en-US" sz="1959" strike="noStrike" u="none">
                <a:solidFill>
                  <a:srgbClr val="231F20"/>
                </a:solidFill>
                <a:latin typeface="TT Firs Neue"/>
                <a:ea typeface="TT Firs Neue"/>
                <a:cs typeface="TT Firs Neue"/>
                <a:sym typeface="TT Firs Neue"/>
              </a:rPr>
              <a:t>arder to present quickly.</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Linked scrolling and highlights are more complex to implement.</a:t>
            </a:r>
          </a:p>
        </p:txBody>
      </p:sp>
      <p:sp>
        <p:nvSpPr>
          <p:cNvPr name="TextBox 71" id="71"/>
          <p:cNvSpPr txBox="true"/>
          <p:nvPr/>
        </p:nvSpPr>
        <p:spPr>
          <a:xfrm rot="0">
            <a:off x="3989559" y="8159941"/>
            <a:ext cx="12850005" cy="1576452"/>
          </a:xfrm>
          <a:prstGeom prst="rect">
            <a:avLst/>
          </a:prstGeom>
        </p:spPr>
        <p:txBody>
          <a:bodyPr anchor="t" rtlCol="false" tIns="0" lIns="0" bIns="0" rIns="0">
            <a:spAutoFit/>
          </a:bodyPr>
          <a:lstStyle/>
          <a:p>
            <a:pPr algn="l" marL="422963" indent="-211481" lvl="1">
              <a:lnSpc>
                <a:spcPts val="3212"/>
              </a:lnSpc>
              <a:spcBef>
                <a:spcPct val="0"/>
              </a:spcBef>
              <a:buFont typeface="Arial"/>
              <a:buChar char="•"/>
            </a:pPr>
            <a:r>
              <a:rPr lang="en-US" sz="1959">
                <a:solidFill>
                  <a:srgbClr val="231F20"/>
                </a:solidFill>
                <a:latin typeface="TT Firs Neue"/>
                <a:ea typeface="TT Firs Neue"/>
                <a:cs typeface="TT Firs Neue"/>
                <a:sym typeface="TT Firs Neue"/>
              </a:rPr>
              <a:t>Added the same UX design</a:t>
            </a:r>
            <a:r>
              <a:rPr lang="en-US" sz="1959" strike="noStrike" u="none">
                <a:solidFill>
                  <a:srgbClr val="231F20"/>
                </a:solidFill>
                <a:latin typeface="TT Firs Neue"/>
                <a:ea typeface="TT Firs Neue"/>
                <a:cs typeface="TT Firs Neue"/>
                <a:sym typeface="TT Firs Neue"/>
              </a:rPr>
              <a:t>er and conversational AI specialist role.</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Focu</a:t>
            </a:r>
            <a:r>
              <a:rPr lang="en-US" sz="1959" strike="noStrike" u="none">
                <a:solidFill>
                  <a:srgbClr val="231F20"/>
                </a:solidFill>
                <a:latin typeface="TT Firs Neue"/>
                <a:ea typeface="TT Firs Neue"/>
                <a:cs typeface="TT Firs Neue"/>
                <a:sym typeface="TT Firs Neue"/>
              </a:rPr>
              <a:t>se</a:t>
            </a:r>
            <a:r>
              <a:rPr lang="en-US" sz="1959" strike="noStrike" u="none">
                <a:solidFill>
                  <a:srgbClr val="231F20"/>
                </a:solidFill>
                <a:latin typeface="TT Firs Neue"/>
                <a:ea typeface="TT Firs Neue"/>
                <a:cs typeface="TT Firs Neue"/>
                <a:sym typeface="TT Firs Neue"/>
              </a:rPr>
              <a:t>d on university students with dyslexia reading dense academic texts.</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Added a rule to preserve </a:t>
            </a:r>
            <a:r>
              <a:rPr lang="en-US" sz="1959" strike="noStrike" u="none">
                <a:solidFill>
                  <a:srgbClr val="231F20"/>
                </a:solidFill>
                <a:latin typeface="TT Firs Neue"/>
                <a:ea typeface="TT Firs Neue"/>
                <a:cs typeface="TT Firs Neue"/>
                <a:sym typeface="TT Firs Neue"/>
              </a:rPr>
              <a:t>key ac</a:t>
            </a:r>
            <a:r>
              <a:rPr lang="en-US" sz="1959" strike="noStrike" u="none">
                <a:solidFill>
                  <a:srgbClr val="231F20"/>
                </a:solidFill>
                <a:latin typeface="TT Firs Neue"/>
                <a:ea typeface="TT Firs Neue"/>
                <a:cs typeface="TT Firs Neue"/>
                <a:sym typeface="TT Firs Neue"/>
              </a:rPr>
              <a:t>ademic terms, explain t</a:t>
            </a:r>
            <a:r>
              <a:rPr lang="en-US" sz="1959" strike="noStrike" u="none">
                <a:solidFill>
                  <a:srgbClr val="231F20"/>
                </a:solidFill>
                <a:latin typeface="TT Firs Neue"/>
                <a:ea typeface="TT Firs Neue"/>
                <a:cs typeface="TT Firs Neue"/>
                <a:sym typeface="TT Firs Neue"/>
              </a:rPr>
              <a:t>hem</a:t>
            </a:r>
            <a:r>
              <a:rPr lang="en-US" sz="1959" strike="noStrike" u="none">
                <a:solidFill>
                  <a:srgbClr val="231F20"/>
                </a:solidFill>
                <a:latin typeface="TT Firs Neue"/>
                <a:ea typeface="TT Firs Neue"/>
                <a:cs typeface="TT Firs Neue"/>
                <a:sym typeface="TT Firs Neue"/>
              </a:rPr>
              <a:t> </a:t>
            </a:r>
            <a:r>
              <a:rPr lang="en-US" sz="1959" strike="noStrike" u="none">
                <a:solidFill>
                  <a:srgbClr val="231F20"/>
                </a:solidFill>
                <a:latin typeface="TT Firs Neue"/>
                <a:ea typeface="TT Firs Neue"/>
                <a:cs typeface="TT Firs Neue"/>
                <a:sym typeface="TT Firs Neue"/>
              </a:rPr>
              <a:t>s</a:t>
            </a:r>
            <a:r>
              <a:rPr lang="en-US" sz="1959" strike="noStrike" u="none">
                <a:solidFill>
                  <a:srgbClr val="231F20"/>
                </a:solidFill>
                <a:latin typeface="TT Firs Neue"/>
                <a:ea typeface="TT Firs Neue"/>
                <a:cs typeface="TT Firs Neue"/>
                <a:sym typeface="TT Firs Neue"/>
              </a:rPr>
              <a:t>imp</a:t>
            </a:r>
            <a:r>
              <a:rPr lang="en-US" sz="1959" strike="noStrike" u="none">
                <a:solidFill>
                  <a:srgbClr val="231F20"/>
                </a:solidFill>
                <a:latin typeface="TT Firs Neue"/>
                <a:ea typeface="TT Firs Neue"/>
                <a:cs typeface="TT Firs Neue"/>
                <a:sym typeface="TT Firs Neue"/>
              </a:rPr>
              <a:t>ly,</a:t>
            </a:r>
            <a:r>
              <a:rPr lang="en-US" sz="1959" strike="noStrike" u="none">
                <a:solidFill>
                  <a:srgbClr val="231F20"/>
                </a:solidFill>
                <a:latin typeface="TT Firs Neue"/>
                <a:ea typeface="TT Firs Neue"/>
                <a:cs typeface="TT Firs Neue"/>
                <a:sym typeface="TT Firs Neue"/>
              </a:rPr>
              <a:t> and offer Keep / Hide / Expand.</a:t>
            </a:r>
          </a:p>
          <a:p>
            <a:pPr algn="l" marL="422963" indent="-211481" lvl="1">
              <a:lnSpc>
                <a:spcPts val="3212"/>
              </a:lnSpc>
              <a:spcBef>
                <a:spcPct val="0"/>
              </a:spcBef>
              <a:buFont typeface="Arial"/>
              <a:buChar char="•"/>
            </a:pPr>
            <a:r>
              <a:rPr lang="en-US" sz="1959" strike="noStrike" u="none">
                <a:solidFill>
                  <a:srgbClr val="231F20"/>
                </a:solidFill>
                <a:latin typeface="TT Firs Neue"/>
                <a:ea typeface="TT Firs Neue"/>
                <a:cs typeface="TT Firs Neue"/>
                <a:sym typeface="TT Firs Neue"/>
              </a:rPr>
              <a:t>Shortened the prompt for focused, comparable outputs.</a:t>
            </a:r>
          </a:p>
        </p:txBody>
      </p:sp>
      <p:sp>
        <p:nvSpPr>
          <p:cNvPr name="Freeform 72" id="72"/>
          <p:cNvSpPr/>
          <p:nvPr/>
        </p:nvSpPr>
        <p:spPr>
          <a:xfrm flipH="false" flipV="false" rot="0">
            <a:off x="-577067" y="1018566"/>
            <a:ext cx="1538737" cy="1377169"/>
          </a:xfrm>
          <a:custGeom>
            <a:avLst/>
            <a:gdLst/>
            <a:ahLst/>
            <a:cxnLst/>
            <a:rect r="r" b="b" t="t" l="l"/>
            <a:pathLst>
              <a:path h="1377169" w="1538737">
                <a:moveTo>
                  <a:pt x="0" y="0"/>
                </a:moveTo>
                <a:lnTo>
                  <a:pt x="1538737" y="0"/>
                </a:lnTo>
                <a:lnTo>
                  <a:pt x="1538737" y="1377170"/>
                </a:lnTo>
                <a:lnTo>
                  <a:pt x="0" y="13771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334360" y="636246"/>
            <a:ext cx="11277342" cy="10093221"/>
          </a:xfrm>
          <a:custGeom>
            <a:avLst/>
            <a:gdLst/>
            <a:ahLst/>
            <a:cxnLst/>
            <a:rect r="r" b="b" t="t" l="l"/>
            <a:pathLst>
              <a:path h="10093221" w="11277342">
                <a:moveTo>
                  <a:pt x="0" y="0"/>
                </a:moveTo>
                <a:lnTo>
                  <a:pt x="11277342" y="0"/>
                </a:lnTo>
                <a:lnTo>
                  <a:pt x="11277342" y="10093221"/>
                </a:lnTo>
                <a:lnTo>
                  <a:pt x="0" y="10093221"/>
                </a:lnTo>
                <a:lnTo>
                  <a:pt x="0" y="0"/>
                </a:lnTo>
                <a:close/>
              </a:path>
            </a:pathLst>
          </a:custGeom>
          <a:blipFill>
            <a:blip r:embed="rId3">
              <a:alphaModFix amt="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856148" y="4243867"/>
            <a:ext cx="2330669" cy="1270214"/>
          </a:xfrm>
          <a:custGeom>
            <a:avLst/>
            <a:gdLst/>
            <a:ahLst/>
            <a:cxnLst/>
            <a:rect r="r" b="b" t="t" l="l"/>
            <a:pathLst>
              <a:path h="1270214" w="2330669">
                <a:moveTo>
                  <a:pt x="0" y="0"/>
                </a:moveTo>
                <a:lnTo>
                  <a:pt x="2330668" y="0"/>
                </a:lnTo>
                <a:lnTo>
                  <a:pt x="2330668" y="1270215"/>
                </a:lnTo>
                <a:lnTo>
                  <a:pt x="0" y="12702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51443" y="824764"/>
            <a:ext cx="954514" cy="954514"/>
          </a:xfrm>
          <a:custGeom>
            <a:avLst/>
            <a:gdLst/>
            <a:ahLst/>
            <a:cxnLst/>
            <a:rect r="r" b="b" t="t" l="l"/>
            <a:pathLst>
              <a:path h="954514" w="954514">
                <a:moveTo>
                  <a:pt x="0" y="0"/>
                </a:moveTo>
                <a:lnTo>
                  <a:pt x="954514" y="0"/>
                </a:lnTo>
                <a:lnTo>
                  <a:pt x="954514" y="954515"/>
                </a:lnTo>
                <a:lnTo>
                  <a:pt x="0" y="9545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3376257">
            <a:off x="573577" y="8450114"/>
            <a:ext cx="741433" cy="1186293"/>
          </a:xfrm>
          <a:custGeom>
            <a:avLst/>
            <a:gdLst/>
            <a:ahLst/>
            <a:cxnLst/>
            <a:rect r="r" b="b" t="t" l="l"/>
            <a:pathLst>
              <a:path h="1186293" w="741433">
                <a:moveTo>
                  <a:pt x="741433" y="0"/>
                </a:moveTo>
                <a:lnTo>
                  <a:pt x="0" y="0"/>
                </a:lnTo>
                <a:lnTo>
                  <a:pt x="0" y="1186293"/>
                </a:lnTo>
                <a:lnTo>
                  <a:pt x="741433" y="1186293"/>
                </a:lnTo>
                <a:lnTo>
                  <a:pt x="741433"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6086170" y="1192714"/>
            <a:ext cx="1173130" cy="1173130"/>
          </a:xfrm>
          <a:custGeom>
            <a:avLst/>
            <a:gdLst/>
            <a:ahLst/>
            <a:cxnLst/>
            <a:rect r="r" b="b" t="t" l="l"/>
            <a:pathLst>
              <a:path h="1173130" w="1173130">
                <a:moveTo>
                  <a:pt x="0" y="0"/>
                </a:moveTo>
                <a:lnTo>
                  <a:pt x="1173130" y="0"/>
                </a:lnTo>
                <a:lnTo>
                  <a:pt x="1173130" y="1173130"/>
                </a:lnTo>
                <a:lnTo>
                  <a:pt x="0" y="11731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9903277" y="9680930"/>
            <a:ext cx="862167" cy="932073"/>
          </a:xfrm>
          <a:custGeom>
            <a:avLst/>
            <a:gdLst/>
            <a:ahLst/>
            <a:cxnLst/>
            <a:rect r="r" b="b" t="t" l="l"/>
            <a:pathLst>
              <a:path h="932073" w="862167">
                <a:moveTo>
                  <a:pt x="0" y="0"/>
                </a:moveTo>
                <a:lnTo>
                  <a:pt x="862167" y="0"/>
                </a:lnTo>
                <a:lnTo>
                  <a:pt x="862167" y="932072"/>
                </a:lnTo>
                <a:lnTo>
                  <a:pt x="0" y="9320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1004546" y="157932"/>
            <a:ext cx="784435" cy="956628"/>
          </a:xfrm>
          <a:custGeom>
            <a:avLst/>
            <a:gdLst/>
            <a:ahLst/>
            <a:cxnLst/>
            <a:rect r="r" b="b" t="t" l="l"/>
            <a:pathLst>
              <a:path h="956628" w="784435">
                <a:moveTo>
                  <a:pt x="0" y="0"/>
                </a:moveTo>
                <a:lnTo>
                  <a:pt x="784435" y="0"/>
                </a:lnTo>
                <a:lnTo>
                  <a:pt x="784435" y="956628"/>
                </a:lnTo>
                <a:lnTo>
                  <a:pt x="0" y="95662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5400000">
            <a:off x="16729073" y="189657"/>
            <a:ext cx="2330669" cy="1270214"/>
          </a:xfrm>
          <a:custGeom>
            <a:avLst/>
            <a:gdLst/>
            <a:ahLst/>
            <a:cxnLst/>
            <a:rect r="r" b="b" t="t" l="l"/>
            <a:pathLst>
              <a:path h="1270214" w="2330669">
                <a:moveTo>
                  <a:pt x="0" y="0"/>
                </a:moveTo>
                <a:lnTo>
                  <a:pt x="2330668" y="0"/>
                </a:lnTo>
                <a:lnTo>
                  <a:pt x="2330668" y="1270215"/>
                </a:lnTo>
                <a:lnTo>
                  <a:pt x="0" y="127021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1505957" y="2060311"/>
            <a:ext cx="9019725" cy="5637328"/>
          </a:xfrm>
          <a:custGeom>
            <a:avLst/>
            <a:gdLst/>
            <a:ahLst/>
            <a:cxnLst/>
            <a:rect r="r" b="b" t="t" l="l"/>
            <a:pathLst>
              <a:path h="5637328" w="9019725">
                <a:moveTo>
                  <a:pt x="0" y="0"/>
                </a:moveTo>
                <a:lnTo>
                  <a:pt x="9019725" y="0"/>
                </a:lnTo>
                <a:lnTo>
                  <a:pt x="9019725" y="5637328"/>
                </a:lnTo>
                <a:lnTo>
                  <a:pt x="0" y="5637328"/>
                </a:lnTo>
                <a:lnTo>
                  <a:pt x="0" y="0"/>
                </a:lnTo>
                <a:close/>
              </a:path>
            </a:pathLst>
          </a:custGeom>
          <a:blipFill>
            <a:blip r:embed="rId19"/>
            <a:stretch>
              <a:fillRect l="0" t="0" r="0" b="0"/>
            </a:stretch>
          </a:blipFill>
        </p:spPr>
      </p:sp>
      <p:sp>
        <p:nvSpPr>
          <p:cNvPr name="TextBox 12" id="12"/>
          <p:cNvSpPr txBox="true"/>
          <p:nvPr/>
        </p:nvSpPr>
        <p:spPr>
          <a:xfrm rot="0">
            <a:off x="10707847" y="4833865"/>
            <a:ext cx="5265184" cy="1089660"/>
          </a:xfrm>
          <a:prstGeom prst="rect">
            <a:avLst/>
          </a:prstGeom>
        </p:spPr>
        <p:txBody>
          <a:bodyPr anchor="t" rtlCol="false" tIns="0" lIns="0" bIns="0" rIns="0">
            <a:spAutoFit/>
          </a:bodyPr>
          <a:lstStyle/>
          <a:p>
            <a:pPr algn="l">
              <a:lnSpc>
                <a:spcPts val="6900"/>
              </a:lnSpc>
            </a:pPr>
            <a:r>
              <a:rPr lang="en-US" sz="6900" spc="-379">
                <a:solidFill>
                  <a:srgbClr val="2E33A8"/>
                </a:solidFill>
                <a:latin typeface="Heading Now 71-78"/>
                <a:ea typeface="Heading Now 71-78"/>
                <a:cs typeface="Heading Now 71-78"/>
                <a:sym typeface="Heading Now 71-78"/>
              </a:rPr>
              <a:t>Thank you ! </a:t>
            </a:r>
          </a:p>
        </p:txBody>
      </p:sp>
      <p:grpSp>
        <p:nvGrpSpPr>
          <p:cNvPr name="Group 13" id="13"/>
          <p:cNvGrpSpPr/>
          <p:nvPr/>
        </p:nvGrpSpPr>
        <p:grpSpPr>
          <a:xfrm rot="0">
            <a:off x="11713750" y="8850813"/>
            <a:ext cx="3803150" cy="493350"/>
            <a:chOff x="0" y="0"/>
            <a:chExt cx="1001653" cy="129936"/>
          </a:xfrm>
        </p:grpSpPr>
        <p:sp>
          <p:nvSpPr>
            <p:cNvPr name="Freeform 14" id="14"/>
            <p:cNvSpPr/>
            <p:nvPr/>
          </p:nvSpPr>
          <p:spPr>
            <a:xfrm flipH="false" flipV="false" rot="0">
              <a:off x="0" y="0"/>
              <a:ext cx="1001653" cy="129936"/>
            </a:xfrm>
            <a:custGeom>
              <a:avLst/>
              <a:gdLst/>
              <a:ahLst/>
              <a:cxnLst/>
              <a:rect r="r" b="b" t="t" l="l"/>
              <a:pathLst>
                <a:path h="129936" w="1001653">
                  <a:moveTo>
                    <a:pt x="64968" y="0"/>
                  </a:moveTo>
                  <a:lnTo>
                    <a:pt x="936685" y="0"/>
                  </a:lnTo>
                  <a:cubicBezTo>
                    <a:pt x="972566" y="0"/>
                    <a:pt x="1001653" y="29087"/>
                    <a:pt x="1001653" y="64968"/>
                  </a:cubicBezTo>
                  <a:lnTo>
                    <a:pt x="1001653" y="64968"/>
                  </a:lnTo>
                  <a:cubicBezTo>
                    <a:pt x="1001653" y="100849"/>
                    <a:pt x="972566" y="129936"/>
                    <a:pt x="936685" y="129936"/>
                  </a:cubicBezTo>
                  <a:lnTo>
                    <a:pt x="64968" y="129936"/>
                  </a:lnTo>
                  <a:cubicBezTo>
                    <a:pt x="29087" y="129936"/>
                    <a:pt x="0" y="100849"/>
                    <a:pt x="0" y="64968"/>
                  </a:cubicBezTo>
                  <a:lnTo>
                    <a:pt x="0" y="64968"/>
                  </a:lnTo>
                  <a:cubicBezTo>
                    <a:pt x="0" y="29087"/>
                    <a:pt x="29087" y="0"/>
                    <a:pt x="64968" y="0"/>
                  </a:cubicBezTo>
                  <a:close/>
                </a:path>
              </a:pathLst>
            </a:custGeom>
            <a:solidFill>
              <a:srgbClr val="E1B076"/>
            </a:solidFill>
          </p:spPr>
        </p:sp>
        <p:sp>
          <p:nvSpPr>
            <p:cNvPr name="TextBox 15" id="15"/>
            <p:cNvSpPr txBox="true"/>
            <p:nvPr/>
          </p:nvSpPr>
          <p:spPr>
            <a:xfrm>
              <a:off x="0" y="-47625"/>
              <a:ext cx="1001653" cy="177561"/>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11934232" y="8909000"/>
            <a:ext cx="2195335" cy="349250"/>
          </a:xfrm>
          <a:prstGeom prst="rect">
            <a:avLst/>
          </a:prstGeom>
        </p:spPr>
        <p:txBody>
          <a:bodyPr anchor="t" rtlCol="false" tIns="0" lIns="0" bIns="0" rIns="0">
            <a:spAutoFit/>
          </a:bodyPr>
          <a:lstStyle/>
          <a:p>
            <a:pPr algn="l">
              <a:lnSpc>
                <a:spcPts val="2800"/>
              </a:lnSpc>
            </a:pPr>
            <a:r>
              <a:rPr lang="en-US" sz="2000">
                <a:solidFill>
                  <a:srgbClr val="FFFFFF"/>
                </a:solidFill>
                <a:latin typeface="TT Firs Neue"/>
                <a:ea typeface="TT Firs Neue"/>
                <a:cs typeface="TT Firs Neue"/>
                <a:sym typeface="TT Firs Neue"/>
              </a:rPr>
              <a:t>Mentored By</a:t>
            </a:r>
          </a:p>
        </p:txBody>
      </p:sp>
      <p:grpSp>
        <p:nvGrpSpPr>
          <p:cNvPr name="Group 17" id="17"/>
          <p:cNvGrpSpPr/>
          <p:nvPr/>
        </p:nvGrpSpPr>
        <p:grpSpPr>
          <a:xfrm rot="0">
            <a:off x="13544438" y="8830863"/>
            <a:ext cx="3222273" cy="513300"/>
            <a:chOff x="0" y="0"/>
            <a:chExt cx="848664" cy="135190"/>
          </a:xfrm>
        </p:grpSpPr>
        <p:sp>
          <p:nvSpPr>
            <p:cNvPr name="Freeform 18" id="18"/>
            <p:cNvSpPr/>
            <p:nvPr/>
          </p:nvSpPr>
          <p:spPr>
            <a:xfrm flipH="false" flipV="false" rot="0">
              <a:off x="0" y="0"/>
              <a:ext cx="848664" cy="135190"/>
            </a:xfrm>
            <a:custGeom>
              <a:avLst/>
              <a:gdLst/>
              <a:ahLst/>
              <a:cxnLst/>
              <a:rect r="r" b="b" t="t" l="l"/>
              <a:pathLst>
                <a:path h="135190" w="848664">
                  <a:moveTo>
                    <a:pt x="67595" y="0"/>
                  </a:moveTo>
                  <a:lnTo>
                    <a:pt x="781069" y="0"/>
                  </a:lnTo>
                  <a:cubicBezTo>
                    <a:pt x="818401" y="0"/>
                    <a:pt x="848664" y="30263"/>
                    <a:pt x="848664" y="67595"/>
                  </a:cubicBezTo>
                  <a:lnTo>
                    <a:pt x="848664" y="67595"/>
                  </a:lnTo>
                  <a:cubicBezTo>
                    <a:pt x="848664" y="104927"/>
                    <a:pt x="818401" y="135190"/>
                    <a:pt x="781069" y="135190"/>
                  </a:cubicBezTo>
                  <a:lnTo>
                    <a:pt x="67595" y="135190"/>
                  </a:lnTo>
                  <a:cubicBezTo>
                    <a:pt x="30263" y="135190"/>
                    <a:pt x="0" y="104927"/>
                    <a:pt x="0" y="67595"/>
                  </a:cubicBezTo>
                  <a:lnTo>
                    <a:pt x="0" y="67595"/>
                  </a:lnTo>
                  <a:cubicBezTo>
                    <a:pt x="0" y="30263"/>
                    <a:pt x="30263" y="0"/>
                    <a:pt x="67595" y="0"/>
                  </a:cubicBezTo>
                  <a:close/>
                </a:path>
              </a:pathLst>
            </a:custGeom>
            <a:solidFill>
              <a:srgbClr val="0007AB"/>
            </a:solidFill>
          </p:spPr>
        </p:sp>
        <p:sp>
          <p:nvSpPr>
            <p:cNvPr name="TextBox 19" id="19"/>
            <p:cNvSpPr txBox="true"/>
            <p:nvPr/>
          </p:nvSpPr>
          <p:spPr>
            <a:xfrm>
              <a:off x="0" y="-47625"/>
              <a:ext cx="848664" cy="182815"/>
            </a:xfrm>
            <a:prstGeom prst="rect">
              <a:avLst/>
            </a:prstGeom>
          </p:spPr>
          <p:txBody>
            <a:bodyPr anchor="ctr" rtlCol="false" tIns="50800" lIns="50800" bIns="50800" rIns="50800"/>
            <a:lstStyle/>
            <a:p>
              <a:pPr algn="ctr">
                <a:lnSpc>
                  <a:spcPts val="3359"/>
                </a:lnSpc>
              </a:pPr>
            </a:p>
          </p:txBody>
        </p:sp>
      </p:grpSp>
      <p:sp>
        <p:nvSpPr>
          <p:cNvPr name="TextBox 20" id="20"/>
          <p:cNvSpPr txBox="true"/>
          <p:nvPr/>
        </p:nvSpPr>
        <p:spPr>
          <a:xfrm rot="0">
            <a:off x="13802007" y="8882091"/>
            <a:ext cx="2964703" cy="372745"/>
          </a:xfrm>
          <a:prstGeom prst="rect">
            <a:avLst/>
          </a:prstGeom>
        </p:spPr>
        <p:txBody>
          <a:bodyPr anchor="t" rtlCol="false" tIns="0" lIns="0" bIns="0" rIns="0">
            <a:spAutoFit/>
          </a:bodyPr>
          <a:lstStyle/>
          <a:p>
            <a:pPr algn="l">
              <a:lnSpc>
                <a:spcPts val="3079"/>
              </a:lnSpc>
            </a:pPr>
            <a:r>
              <a:rPr lang="en-US" sz="2199">
                <a:solidFill>
                  <a:srgbClr val="FFFFFF"/>
                </a:solidFill>
                <a:latin typeface="TT Firs Neue"/>
                <a:ea typeface="TT Firs Neue"/>
                <a:cs typeface="TT Firs Neue"/>
                <a:sym typeface="TT Firs Neue"/>
              </a:rPr>
              <a:t>Mariam Mahmoud</a:t>
            </a:r>
          </a:p>
        </p:txBody>
      </p:sp>
      <p:sp>
        <p:nvSpPr>
          <p:cNvPr name="Freeform 21" id="21"/>
          <p:cNvSpPr/>
          <p:nvPr/>
        </p:nvSpPr>
        <p:spPr>
          <a:xfrm flipH="false" flipV="false" rot="0">
            <a:off x="15718221" y="2365844"/>
            <a:ext cx="954514" cy="954514"/>
          </a:xfrm>
          <a:custGeom>
            <a:avLst/>
            <a:gdLst/>
            <a:ahLst/>
            <a:cxnLst/>
            <a:rect r="r" b="b" t="t" l="l"/>
            <a:pathLst>
              <a:path h="954514" w="954514">
                <a:moveTo>
                  <a:pt x="0" y="0"/>
                </a:moveTo>
                <a:lnTo>
                  <a:pt x="954514" y="0"/>
                </a:lnTo>
                <a:lnTo>
                  <a:pt x="954514" y="954514"/>
                </a:lnTo>
                <a:lnTo>
                  <a:pt x="0" y="9545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DAHXo67Y-lk</dc:identifier>
  <dcterms:modified xsi:type="dcterms:W3CDTF">2011-08-01T06:04:30Z</dcterms:modified>
  <cp:revision>1</cp:revision>
  <dc:title>Blue White and Pink Modern University Presentation</dc:title>
</cp:coreProperties>
</file>